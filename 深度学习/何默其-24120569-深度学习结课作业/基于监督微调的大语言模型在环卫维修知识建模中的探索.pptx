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8.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9.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28"/>
  </p:notesMasterIdLst>
  <p:sldIdLst>
    <p:sldId id="321" r:id="rId2"/>
    <p:sldId id="258" r:id="rId3"/>
    <p:sldId id="259" r:id="rId4"/>
    <p:sldId id="260" r:id="rId5"/>
    <p:sldId id="358" r:id="rId6"/>
    <p:sldId id="359" r:id="rId7"/>
    <p:sldId id="300" r:id="rId8"/>
    <p:sldId id="360" r:id="rId9"/>
    <p:sldId id="355" r:id="rId10"/>
    <p:sldId id="361" r:id="rId11"/>
    <p:sldId id="362" r:id="rId12"/>
    <p:sldId id="356" r:id="rId13"/>
    <p:sldId id="363" r:id="rId14"/>
    <p:sldId id="364" r:id="rId15"/>
    <p:sldId id="365" r:id="rId16"/>
    <p:sldId id="366" r:id="rId17"/>
    <p:sldId id="367" r:id="rId18"/>
    <p:sldId id="368" r:id="rId19"/>
    <p:sldId id="369" r:id="rId20"/>
    <p:sldId id="370" r:id="rId21"/>
    <p:sldId id="371" r:id="rId22"/>
    <p:sldId id="372" r:id="rId23"/>
    <p:sldId id="373" r:id="rId24"/>
    <p:sldId id="374" r:id="rId25"/>
    <p:sldId id="375" r:id="rId26"/>
    <p:sldId id="347" r:id="rId27"/>
  </p:sldIdLst>
  <p:sldSz cx="9144000" cy="5143500" type="screen16x9"/>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4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2E70"/>
    <a:srgbClr val="112F70"/>
    <a:srgbClr val="414455"/>
    <a:srgbClr val="568D11"/>
    <a:srgbClr val="70BA16"/>
    <a:srgbClr val="82D81A"/>
    <a:srgbClr val="61A113"/>
    <a:srgbClr val="1A74CC"/>
    <a:srgbClr val="E09320"/>
    <a:srgbClr val="4A9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469" autoAdjust="0"/>
    <p:restoredTop sz="94579"/>
  </p:normalViewPr>
  <p:slideViewPr>
    <p:cSldViewPr>
      <p:cViewPr varScale="1">
        <p:scale>
          <a:sx n="119" d="100"/>
          <a:sy n="119" d="100"/>
        </p:scale>
        <p:origin x="208" y="424"/>
      </p:cViewPr>
      <p:guideLst>
        <p:guide orient="horz" pos="1648"/>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75C004-A9D4-4858-99EC-F4CCE56E2FEF}" type="datetimeFigureOut">
              <a:rPr lang="zh-CN" altLang="en-US" smtClean="0"/>
              <a:t>2025/6/27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4E2E4E-2FFD-4B0E-BE9C-FA7BDC09154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95D0C05-D1F4-4D23-BDF0-C1C9ABA03E33}"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95D0C05-D1F4-4D23-BDF0-C1C9ABA03E33}" type="slidenum">
              <a:rPr lang="zh-CN" altLang="en-US" smtClean="0"/>
              <a:t>5</a:t>
            </a:fld>
            <a:endParaRPr lang="zh-CN" altLang="en-US"/>
          </a:p>
        </p:txBody>
      </p:sp>
    </p:spTree>
    <p:extLst>
      <p:ext uri="{BB962C8B-B14F-4D97-AF65-F5344CB8AC3E}">
        <p14:creationId xmlns:p14="http://schemas.microsoft.com/office/powerpoint/2010/main" val="1780807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6</a:t>
            </a:fld>
            <a:endParaRPr lang="zh-CN" altLang="en-US"/>
          </a:p>
        </p:txBody>
      </p:sp>
    </p:spTree>
    <p:extLst>
      <p:ext uri="{BB962C8B-B14F-4D97-AF65-F5344CB8AC3E}">
        <p14:creationId xmlns:p14="http://schemas.microsoft.com/office/powerpoint/2010/main" val="2784043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t>7</a:t>
            </a:fld>
            <a:endParaRPr lang="zh-CN" altLang="en-US"/>
          </a:p>
        </p:txBody>
      </p:sp>
    </p:spTree>
    <p:extLst>
      <p:ext uri="{BB962C8B-B14F-4D97-AF65-F5344CB8AC3E}">
        <p14:creationId xmlns:p14="http://schemas.microsoft.com/office/powerpoint/2010/main" val="716800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95D0C05-D1F4-4D23-BDF0-C1C9ABA03E33}" type="slidenum">
              <a:rPr lang="zh-CN" altLang="en-US" smtClean="0"/>
              <a:t>8</a:t>
            </a:fld>
            <a:endParaRPr lang="zh-CN" altLang="en-US"/>
          </a:p>
        </p:txBody>
      </p:sp>
    </p:spTree>
    <p:extLst>
      <p:ext uri="{BB962C8B-B14F-4D97-AF65-F5344CB8AC3E}">
        <p14:creationId xmlns:p14="http://schemas.microsoft.com/office/powerpoint/2010/main" val="885171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9</a:t>
            </a:fld>
            <a:endParaRPr lang="zh-CN" altLang="en-US"/>
          </a:p>
        </p:txBody>
      </p:sp>
    </p:spTree>
    <p:extLst>
      <p:ext uri="{BB962C8B-B14F-4D97-AF65-F5344CB8AC3E}">
        <p14:creationId xmlns:p14="http://schemas.microsoft.com/office/powerpoint/2010/main" val="1672240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10</a:t>
            </a:fld>
            <a:endParaRPr lang="zh-CN" altLang="en-US"/>
          </a:p>
        </p:txBody>
      </p:sp>
    </p:spTree>
    <p:extLst>
      <p:ext uri="{BB962C8B-B14F-4D97-AF65-F5344CB8AC3E}">
        <p14:creationId xmlns:p14="http://schemas.microsoft.com/office/powerpoint/2010/main" val="2685697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95D0C05-D1F4-4D23-BDF0-C1C9ABA03E33}" type="slidenum">
              <a:rPr lang="zh-CN" altLang="en-US" smtClean="0"/>
              <a:t>11</a:t>
            </a:fld>
            <a:endParaRPr lang="zh-CN" altLang="en-US"/>
          </a:p>
        </p:txBody>
      </p:sp>
    </p:spTree>
    <p:extLst>
      <p:ext uri="{BB962C8B-B14F-4D97-AF65-F5344CB8AC3E}">
        <p14:creationId xmlns:p14="http://schemas.microsoft.com/office/powerpoint/2010/main" val="3452604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12</a:t>
            </a:fld>
            <a:endParaRPr lang="zh-CN" altLang="en-US"/>
          </a:p>
        </p:txBody>
      </p:sp>
    </p:spTree>
    <p:extLst>
      <p:ext uri="{BB962C8B-B14F-4D97-AF65-F5344CB8AC3E}">
        <p14:creationId xmlns:p14="http://schemas.microsoft.com/office/powerpoint/2010/main" val="1592220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13</a:t>
            </a:fld>
            <a:endParaRPr lang="zh-CN" altLang="en-US"/>
          </a:p>
        </p:txBody>
      </p:sp>
    </p:spTree>
    <p:extLst>
      <p:ext uri="{BB962C8B-B14F-4D97-AF65-F5344CB8AC3E}">
        <p14:creationId xmlns:p14="http://schemas.microsoft.com/office/powerpoint/2010/main" val="2566613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14</a:t>
            </a:fld>
            <a:endParaRPr lang="zh-CN" altLang="en-US"/>
          </a:p>
        </p:txBody>
      </p:sp>
    </p:spTree>
    <p:extLst>
      <p:ext uri="{BB962C8B-B14F-4D97-AF65-F5344CB8AC3E}">
        <p14:creationId xmlns:p14="http://schemas.microsoft.com/office/powerpoint/2010/main" val="3563185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15</a:t>
            </a:fld>
            <a:endParaRPr lang="zh-CN" altLang="en-US"/>
          </a:p>
        </p:txBody>
      </p:sp>
    </p:spTree>
    <p:extLst>
      <p:ext uri="{BB962C8B-B14F-4D97-AF65-F5344CB8AC3E}">
        <p14:creationId xmlns:p14="http://schemas.microsoft.com/office/powerpoint/2010/main" val="4282065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16</a:t>
            </a:fld>
            <a:endParaRPr lang="zh-CN" altLang="en-US"/>
          </a:p>
        </p:txBody>
      </p:sp>
    </p:spTree>
    <p:extLst>
      <p:ext uri="{BB962C8B-B14F-4D97-AF65-F5344CB8AC3E}">
        <p14:creationId xmlns:p14="http://schemas.microsoft.com/office/powerpoint/2010/main" val="3060300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17</a:t>
            </a:fld>
            <a:endParaRPr lang="zh-CN" altLang="en-US"/>
          </a:p>
        </p:txBody>
      </p:sp>
    </p:spTree>
    <p:extLst>
      <p:ext uri="{BB962C8B-B14F-4D97-AF65-F5344CB8AC3E}">
        <p14:creationId xmlns:p14="http://schemas.microsoft.com/office/powerpoint/2010/main" val="13940623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95D0C05-D1F4-4D23-BDF0-C1C9ABA03E33}" type="slidenum">
              <a:rPr lang="zh-CN" altLang="en-US" smtClean="0"/>
              <a:t>18</a:t>
            </a:fld>
            <a:endParaRPr lang="zh-CN" altLang="en-US"/>
          </a:p>
        </p:txBody>
      </p:sp>
    </p:spTree>
    <p:extLst>
      <p:ext uri="{BB962C8B-B14F-4D97-AF65-F5344CB8AC3E}">
        <p14:creationId xmlns:p14="http://schemas.microsoft.com/office/powerpoint/2010/main" val="648426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19</a:t>
            </a:fld>
            <a:endParaRPr lang="zh-CN" altLang="en-US"/>
          </a:p>
        </p:txBody>
      </p:sp>
    </p:spTree>
    <p:extLst>
      <p:ext uri="{BB962C8B-B14F-4D97-AF65-F5344CB8AC3E}">
        <p14:creationId xmlns:p14="http://schemas.microsoft.com/office/powerpoint/2010/main" val="1049390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20</a:t>
            </a:fld>
            <a:endParaRPr lang="zh-CN" altLang="en-US"/>
          </a:p>
        </p:txBody>
      </p:sp>
    </p:spTree>
    <p:extLst>
      <p:ext uri="{BB962C8B-B14F-4D97-AF65-F5344CB8AC3E}">
        <p14:creationId xmlns:p14="http://schemas.microsoft.com/office/powerpoint/2010/main" val="3751846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21</a:t>
            </a:fld>
            <a:endParaRPr lang="zh-CN" altLang="en-US"/>
          </a:p>
        </p:txBody>
      </p:sp>
    </p:spTree>
    <p:extLst>
      <p:ext uri="{BB962C8B-B14F-4D97-AF65-F5344CB8AC3E}">
        <p14:creationId xmlns:p14="http://schemas.microsoft.com/office/powerpoint/2010/main" val="14637879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95D0C05-D1F4-4D23-BDF0-C1C9ABA03E33}" type="slidenum">
              <a:rPr lang="zh-CN" altLang="en-US" smtClean="0"/>
              <a:t>22</a:t>
            </a:fld>
            <a:endParaRPr lang="zh-CN" altLang="en-US"/>
          </a:p>
        </p:txBody>
      </p:sp>
    </p:spTree>
    <p:extLst>
      <p:ext uri="{BB962C8B-B14F-4D97-AF65-F5344CB8AC3E}">
        <p14:creationId xmlns:p14="http://schemas.microsoft.com/office/powerpoint/2010/main" val="12170652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23</a:t>
            </a:fld>
            <a:endParaRPr lang="zh-CN" altLang="en-US"/>
          </a:p>
        </p:txBody>
      </p:sp>
    </p:spTree>
    <p:extLst>
      <p:ext uri="{BB962C8B-B14F-4D97-AF65-F5344CB8AC3E}">
        <p14:creationId xmlns:p14="http://schemas.microsoft.com/office/powerpoint/2010/main" val="27867912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24</a:t>
            </a:fld>
            <a:endParaRPr lang="zh-CN" altLang="en-US"/>
          </a:p>
        </p:txBody>
      </p:sp>
    </p:spTree>
    <p:extLst>
      <p:ext uri="{BB962C8B-B14F-4D97-AF65-F5344CB8AC3E}">
        <p14:creationId xmlns:p14="http://schemas.microsoft.com/office/powerpoint/2010/main" val="3505545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4E2E4E-2FFD-4B0E-BE9C-FA7BDC09154E}" type="slidenum">
              <a:rPr lang="zh-CN" altLang="en-US" smtClean="0"/>
              <a:t>25</a:t>
            </a:fld>
            <a:endParaRPr lang="zh-CN" altLang="en-US"/>
          </a:p>
        </p:txBody>
      </p:sp>
    </p:spTree>
    <p:extLst>
      <p:ext uri="{BB962C8B-B14F-4D97-AF65-F5344CB8AC3E}">
        <p14:creationId xmlns:p14="http://schemas.microsoft.com/office/powerpoint/2010/main" val="4058882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2025/6/27</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2025/6/27</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2025/6/27</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2025/6/27</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2025/6/27</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2025/6/27</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2025/6/27</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2025/6/27</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2025/6/27</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2025/6/27</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5E137E13-6931-4ECB-BB5B-849FB74182C0}" type="datetimeFigureOut">
              <a:rPr lang="zh-CN" altLang="en-US" smtClean="0"/>
              <a:t>2025/6/27</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23CBF4B4-C160-4F55-AC7D-1C8FF5BA05FA}"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9_标题幻灯片">
    <p:spTree>
      <p:nvGrpSpPr>
        <p:cNvPr id="1" name=""/>
        <p:cNvGrpSpPr/>
        <p:nvPr/>
      </p:nvGrpSpPr>
      <p:grpSpPr>
        <a:xfrm>
          <a:off x="0" y="0"/>
          <a:ext cx="0" cy="0"/>
          <a:chOff x="0" y="0"/>
          <a:chExt cx="0" cy="0"/>
        </a:xfrm>
      </p:grpSpPr>
      <p:sp>
        <p:nvSpPr>
          <p:cNvPr id="7" name="矩形 6"/>
          <p:cNvSpPr/>
          <p:nvPr userDrawn="1"/>
        </p:nvSpPr>
        <p:spPr>
          <a:xfrm>
            <a:off x="0" y="0"/>
            <a:ext cx="9144000" cy="699542"/>
          </a:xfrm>
          <a:prstGeom prst="rect">
            <a:avLst/>
          </a:prstGeom>
          <a:solidFill>
            <a:srgbClr val="568D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1" y="-20538"/>
            <a:ext cx="1704311" cy="720080"/>
          </a:xfrm>
          <a:prstGeom prst="rect">
            <a:avLst/>
          </a:prstGeom>
        </p:spPr>
      </p:pic>
      <p:sp>
        <p:nvSpPr>
          <p:cNvPr id="9" name="矩形 8"/>
          <p:cNvSpPr/>
          <p:nvPr userDrawn="1"/>
        </p:nvSpPr>
        <p:spPr>
          <a:xfrm>
            <a:off x="6477501" y="175741"/>
            <a:ext cx="902811" cy="307777"/>
          </a:xfrm>
          <a:prstGeom prst="rect">
            <a:avLst/>
          </a:prstGeom>
        </p:spPr>
        <p:txBody>
          <a:bodyPr wrap="none">
            <a:spAutoFit/>
          </a:bodyPr>
          <a:lstStyle/>
          <a:p>
            <a:r>
              <a:rPr lang="zh-CN" altLang="en-US" sz="1400" dirty="0">
                <a:solidFill>
                  <a:schemeClr val="bg1"/>
                </a:solidFill>
                <a:latin typeface="微软雅黑" pitchFamily="34" charset="-122"/>
                <a:ea typeface="微软雅黑" pitchFamily="34" charset="-122"/>
              </a:rPr>
              <a:t>课题综述</a:t>
            </a:r>
          </a:p>
        </p:txBody>
      </p:sp>
      <p:sp>
        <p:nvSpPr>
          <p:cNvPr id="10" name="矩形 9"/>
          <p:cNvSpPr/>
          <p:nvPr userDrawn="1"/>
        </p:nvSpPr>
        <p:spPr>
          <a:xfrm>
            <a:off x="8564755"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1" name="矩形 10"/>
          <p:cNvSpPr/>
          <p:nvPr userDrawn="1"/>
        </p:nvSpPr>
        <p:spPr>
          <a:xfrm>
            <a:off x="832900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2" name="矩形 11"/>
          <p:cNvSpPr/>
          <p:nvPr userDrawn="1"/>
        </p:nvSpPr>
        <p:spPr>
          <a:xfrm>
            <a:off x="8097731"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3" name="矩形 12"/>
          <p:cNvSpPr/>
          <p:nvPr userDrawn="1"/>
        </p:nvSpPr>
        <p:spPr>
          <a:xfrm>
            <a:off x="7861977"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4" name="矩形 13"/>
          <p:cNvSpPr/>
          <p:nvPr userDrawn="1"/>
        </p:nvSpPr>
        <p:spPr>
          <a:xfrm>
            <a:off x="762622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5" name="矩形 14"/>
          <p:cNvSpPr/>
          <p:nvPr userDrawn="1"/>
        </p:nvSpPr>
        <p:spPr>
          <a:xfrm>
            <a:off x="7384121"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chemeClr val="bg1">
              <a:lumMod val="95000"/>
            </a:schemeClr>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spd="slow" p14:dur="2000" advTm="0"/>
    </mc:Choice>
    <mc:Fallback xmlns="">
      <p:transition spd="slow" advTm="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3.xml"/><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4.xml"/><Relationship Id="rId5" Type="http://schemas.openxmlformats.org/officeDocument/2006/relationships/image" Target="../media/image3.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 Id="rId5" Type="http://schemas.openxmlformats.org/officeDocument/2006/relationships/image" Target="../media/image3.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6.xml"/><Relationship Id="rId5" Type="http://schemas.openxmlformats.org/officeDocument/2006/relationships/image" Target="../media/image3.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7.xml"/><Relationship Id="rId5" Type="http://schemas.openxmlformats.org/officeDocument/2006/relationships/image" Target="../media/image3.sv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8.xml"/><Relationship Id="rId5" Type="http://schemas.openxmlformats.org/officeDocument/2006/relationships/image" Target="../media/image3.sv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9.xml"/><Relationship Id="rId5" Type="http://schemas.openxmlformats.org/officeDocument/2006/relationships/image" Target="../media/image3.sv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49F46C4-988A-5ABC-92DC-0CFCB8A12FCA}"/>
              </a:ext>
            </a:extLst>
          </p:cNvPr>
          <p:cNvSpPr/>
          <p:nvPr/>
        </p:nvSpPr>
        <p:spPr>
          <a:xfrm>
            <a:off x="-21906" y="1546846"/>
            <a:ext cx="7546234" cy="15289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2" name="图形 38">
            <a:extLst>
              <a:ext uri="{FF2B5EF4-FFF2-40B4-BE49-F238E27FC236}">
                <a16:creationId xmlns:a16="http://schemas.microsoft.com/office/drawing/2014/main" id="{D14196BD-033B-588C-7798-7CB07B73D9F1}"/>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t="30918" b="33627"/>
          <a:stretch>
            <a:fillRect/>
          </a:stretch>
        </p:blipFill>
        <p:spPr>
          <a:xfrm>
            <a:off x="0" y="123478"/>
            <a:ext cx="3092450" cy="822325"/>
          </a:xfrm>
          <a:prstGeom prst="rect">
            <a:avLst/>
          </a:prstGeom>
        </p:spPr>
      </p:pic>
      <p:sp>
        <p:nvSpPr>
          <p:cNvPr id="4" name="文本框 3">
            <a:extLst>
              <a:ext uri="{FF2B5EF4-FFF2-40B4-BE49-F238E27FC236}">
                <a16:creationId xmlns:a16="http://schemas.microsoft.com/office/drawing/2014/main" id="{75D785ED-581B-BB43-FD69-25674BB3F700}"/>
              </a:ext>
            </a:extLst>
          </p:cNvPr>
          <p:cNvSpPr txBox="1"/>
          <p:nvPr/>
        </p:nvSpPr>
        <p:spPr>
          <a:xfrm>
            <a:off x="-21906" y="1753481"/>
            <a:ext cx="7546234" cy="1115690"/>
          </a:xfrm>
          <a:prstGeom prst="rect">
            <a:avLst/>
          </a:prstGeom>
          <a:noFill/>
        </p:spPr>
        <p:txBody>
          <a:bodyPr wrap="square" lIns="68580" tIns="34290" rIns="68580" bIns="34290" rtlCol="0">
            <a:spAutoFit/>
          </a:bodyPr>
          <a:lstStyle/>
          <a:p>
            <a:r>
              <a:rPr lang="zh-CN" altLang="en-US" sz="3600" b="1" dirty="0">
                <a:solidFill>
                  <a:schemeClr val="bg1"/>
                </a:solidFill>
                <a:latin typeface="DengXian Light" panose="02010600030101010101" pitchFamily="2" charset="-122"/>
                <a:ea typeface="DengXian Light" panose="02010600030101010101" pitchFamily="2" charset="-122"/>
              </a:rPr>
              <a:t>环卫企业维修知识的智能化表达</a:t>
            </a:r>
            <a:r>
              <a:rPr lang="zh-CN" altLang="en-US" sz="4000" b="1" dirty="0">
                <a:solidFill>
                  <a:schemeClr val="bg1"/>
                </a:solidFill>
                <a:latin typeface="DengXian Light" panose="02010600030101010101" pitchFamily="2" charset="-122"/>
                <a:ea typeface="DengXian Light" panose="02010600030101010101" pitchFamily="2" charset="-122"/>
              </a:rPr>
              <a:t>：</a:t>
            </a:r>
            <a:endParaRPr lang="en-US" altLang="zh-CN" sz="4000" b="1" dirty="0">
              <a:solidFill>
                <a:schemeClr val="bg1"/>
              </a:solidFill>
              <a:latin typeface="DengXian Light" panose="02010600030101010101" pitchFamily="2" charset="-122"/>
              <a:ea typeface="DengXian Light" panose="02010600030101010101" pitchFamily="2" charset="-122"/>
            </a:endParaRPr>
          </a:p>
          <a:p>
            <a:pPr algn="r"/>
            <a:r>
              <a:rPr lang="zh-CN" altLang="en-US" sz="2800" b="1" dirty="0">
                <a:solidFill>
                  <a:schemeClr val="bg1"/>
                </a:solidFill>
                <a:latin typeface="DengXian Light" panose="02010600030101010101" pitchFamily="2" charset="-122"/>
                <a:ea typeface="DengXian Light" panose="02010600030101010101" pitchFamily="2" charset="-122"/>
              </a:rPr>
              <a:t>基于大语言模型的问答系统设计</a:t>
            </a:r>
            <a:endParaRPr lang="zh-CN" altLang="en-US" sz="3600" b="1" dirty="0">
              <a:solidFill>
                <a:schemeClr val="bg1"/>
              </a:solidFill>
              <a:latin typeface="DengXian Light" panose="02010600030101010101" pitchFamily="2" charset="-122"/>
              <a:ea typeface="DengXian Light" panose="02010600030101010101" pitchFamily="2" charset="-122"/>
            </a:endParaRPr>
          </a:p>
        </p:txBody>
      </p:sp>
      <p:sp>
        <p:nvSpPr>
          <p:cNvPr id="5" name="TextBox 25">
            <a:extLst>
              <a:ext uri="{FF2B5EF4-FFF2-40B4-BE49-F238E27FC236}">
                <a16:creationId xmlns:a16="http://schemas.microsoft.com/office/drawing/2014/main" id="{40EF35CA-7B04-78A4-2C27-7963BCD84D7E}"/>
              </a:ext>
            </a:extLst>
          </p:cNvPr>
          <p:cNvSpPr>
            <a:spLocks noChangeArrowheads="1"/>
          </p:cNvSpPr>
          <p:nvPr/>
        </p:nvSpPr>
        <p:spPr bwMode="auto">
          <a:xfrm>
            <a:off x="5093804" y="3366958"/>
            <a:ext cx="446449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dirty="0">
                <a:solidFill>
                  <a:srgbClr val="112F70"/>
                </a:solidFill>
                <a:latin typeface="DengXian Light" panose="02010600030101010101" pitchFamily="2" charset="-122"/>
                <a:ea typeface="DengXian Light" panose="02010600030101010101" pitchFamily="2" charset="-122"/>
              </a:rPr>
              <a:t>汇报人：何默其</a:t>
            </a:r>
            <a:endParaRPr lang="en-US" altLang="zh-CN" dirty="0">
              <a:solidFill>
                <a:srgbClr val="112F70"/>
              </a:solidFill>
              <a:latin typeface="DengXian Light" panose="02010600030101010101" pitchFamily="2" charset="-122"/>
              <a:ea typeface="DengXian Light" panose="02010600030101010101" pitchFamily="2" charset="-122"/>
            </a:endParaRPr>
          </a:p>
          <a:p>
            <a:r>
              <a:rPr lang="zh-CN" altLang="en-US" dirty="0">
                <a:solidFill>
                  <a:srgbClr val="112F70"/>
                </a:solidFill>
                <a:latin typeface="DengXian Light" panose="02010600030101010101" pitchFamily="2" charset="-122"/>
                <a:ea typeface="DengXian Light" panose="02010600030101010101" pitchFamily="2" charset="-122"/>
              </a:rPr>
              <a:t>学    号：</a:t>
            </a:r>
            <a:r>
              <a:rPr lang="en-US" altLang="zh-CN" dirty="0">
                <a:solidFill>
                  <a:srgbClr val="112F70"/>
                </a:solidFill>
                <a:latin typeface="DengXian Light" panose="02010600030101010101" pitchFamily="2" charset="-122"/>
                <a:ea typeface="DengXian Light" panose="02010600030101010101" pitchFamily="2" charset="-122"/>
              </a:rPr>
              <a:t>24120569</a:t>
            </a:r>
            <a:endParaRPr lang="en-US" altLang="zh-CN" sz="4000" dirty="0">
              <a:solidFill>
                <a:srgbClr val="112F70"/>
              </a:solidFill>
              <a:latin typeface="DengXian Light" panose="02010600030101010101" pitchFamily="2" charset="-122"/>
              <a:ea typeface="DengXian Light" panose="02010600030101010101" pitchFamily="2" charset="-122"/>
            </a:endParaRPr>
          </a:p>
        </p:txBody>
      </p:sp>
      <p:sp>
        <p:nvSpPr>
          <p:cNvPr id="8" name="矩形 7">
            <a:extLst>
              <a:ext uri="{FF2B5EF4-FFF2-40B4-BE49-F238E27FC236}">
                <a16:creationId xmlns:a16="http://schemas.microsoft.com/office/drawing/2014/main" id="{E36DB8A2-1DDC-2B47-D547-7739A041EE10}"/>
              </a:ext>
            </a:extLst>
          </p:cNvPr>
          <p:cNvSpPr/>
          <p:nvPr/>
        </p:nvSpPr>
        <p:spPr>
          <a:xfrm>
            <a:off x="4679504" y="3338513"/>
            <a:ext cx="4464496" cy="623248"/>
          </a:xfrm>
          <a:prstGeom prst="rect">
            <a:avLst/>
          </a:prstGeom>
          <a:solidFill>
            <a:schemeClr val="tx1">
              <a:lumMod val="50000"/>
              <a:lumOff val="50000"/>
              <a:alpha val="229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09557278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
                                        </p:tgtEl>
                                      </p:cBhvr>
                                    </p:animEffect>
                                  </p:childTnLst>
                                </p:cTn>
                              </p:par>
                            </p:childTnLst>
                          </p:cTn>
                        </p:par>
                        <p:par>
                          <p:cTn id="12" fill="hold">
                            <p:stCondLst>
                              <p:cond delay="19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文本框 38"/>
          <p:cNvSpPr txBox="1"/>
          <p:nvPr/>
        </p:nvSpPr>
        <p:spPr>
          <a:xfrm>
            <a:off x="467544" y="2355726"/>
            <a:ext cx="3123394" cy="584775"/>
          </a:xfrm>
          <a:prstGeom prst="rect">
            <a:avLst/>
          </a:prstGeom>
          <a:noFill/>
        </p:spPr>
        <p:txBody>
          <a:bodyPr wrap="square" rtlCol="0">
            <a:spAutoFit/>
          </a:bodyPr>
          <a:lstStyle/>
          <a:p>
            <a:r>
              <a:rPr lang="en-US" altLang="zh-CN" sz="3200" b="1" dirty="0">
                <a:solidFill>
                  <a:srgbClr val="112F70"/>
                </a:solidFill>
                <a:latin typeface="微软雅黑" pitchFamily="34" charset="-122"/>
                <a:ea typeface="微软雅黑" pitchFamily="34" charset="-122"/>
              </a:rPr>
              <a:t>CONTENTS</a:t>
            </a:r>
            <a:endParaRPr lang="zh-CN" altLang="en-US" sz="3200" b="1" dirty="0">
              <a:solidFill>
                <a:srgbClr val="112F70"/>
              </a:solidFill>
              <a:latin typeface="微软雅黑" pitchFamily="34" charset="-122"/>
              <a:ea typeface="微软雅黑" pitchFamily="34" charset="-122"/>
            </a:endParaRPr>
          </a:p>
        </p:txBody>
      </p:sp>
      <p:sp>
        <p:nvSpPr>
          <p:cNvPr id="15" name="文本框 11"/>
          <p:cNvSpPr txBox="1"/>
          <p:nvPr/>
        </p:nvSpPr>
        <p:spPr>
          <a:xfrm>
            <a:off x="1979712" y="1976522"/>
            <a:ext cx="902811" cy="523220"/>
          </a:xfrm>
          <a:prstGeom prst="rect">
            <a:avLst/>
          </a:prstGeom>
          <a:noFill/>
        </p:spPr>
        <p:txBody>
          <a:bodyPr wrap="none" rtlCol="0">
            <a:spAutoFit/>
          </a:bodyPr>
          <a:lstStyle/>
          <a:p>
            <a:r>
              <a:rPr lang="zh-CN" altLang="en-US" sz="2800" b="1" dirty="0">
                <a:solidFill>
                  <a:srgbClr val="112F70"/>
                </a:solidFill>
                <a:latin typeface="微软雅黑" pitchFamily="34" charset="-122"/>
                <a:ea typeface="微软雅黑" pitchFamily="34" charset="-122"/>
              </a:rPr>
              <a:t>目录</a:t>
            </a:r>
          </a:p>
        </p:txBody>
      </p:sp>
      <p:sp>
        <p:nvSpPr>
          <p:cNvPr id="17" name="文本框 18"/>
          <p:cNvSpPr txBox="1"/>
          <p:nvPr/>
        </p:nvSpPr>
        <p:spPr>
          <a:xfrm>
            <a:off x="4867946" y="843558"/>
            <a:ext cx="1127232" cy="369332"/>
          </a:xfrm>
          <a:prstGeom prst="rect">
            <a:avLst/>
          </a:prstGeom>
          <a:noFill/>
        </p:spPr>
        <p:txBody>
          <a:bodyPr wrap="none" rtlCol="0">
            <a:spAutoFit/>
          </a:bodyPr>
          <a:lstStyle/>
          <a:p>
            <a:r>
              <a:rPr lang="zh-CN" altLang="en-US" b="1" dirty="0">
                <a:solidFill>
                  <a:srgbClr val="112F70"/>
                </a:solidFill>
                <a:latin typeface="DengXian Light" panose="02010600030101010101" pitchFamily="2" charset="-122"/>
                <a:ea typeface="DengXian Light" panose="02010600030101010101" pitchFamily="2" charset="-122"/>
              </a:rPr>
              <a:t>选题背景</a:t>
            </a:r>
          </a:p>
        </p:txBody>
      </p:sp>
      <p:grpSp>
        <p:nvGrpSpPr>
          <p:cNvPr id="35" name="组合 34"/>
          <p:cNvGrpSpPr/>
          <p:nvPr/>
        </p:nvGrpSpPr>
        <p:grpSpPr>
          <a:xfrm>
            <a:off x="4367824" y="766614"/>
            <a:ext cx="457487" cy="523220"/>
            <a:chOff x="3525600" y="2047768"/>
            <a:chExt cx="457487" cy="523220"/>
          </a:xfrm>
        </p:grpSpPr>
        <p:sp>
          <p:nvSpPr>
            <p:cNvPr id="16" name="文本框 16"/>
            <p:cNvSpPr txBox="1"/>
            <p:nvPr/>
          </p:nvSpPr>
          <p:spPr>
            <a:xfrm>
              <a:off x="3525600" y="2047768"/>
              <a:ext cx="377026" cy="523220"/>
            </a:xfrm>
            <a:prstGeom prst="rect">
              <a:avLst/>
            </a:prstGeom>
            <a:noFill/>
          </p:spPr>
          <p:txBody>
            <a:bodyPr wrap="none" rtlCol="0">
              <a:spAutoFit/>
            </a:bodyPr>
            <a:lstStyle/>
            <a:p>
              <a:pPr algn="ctr"/>
              <a:r>
                <a:rPr lang="en-US" altLang="zh-CN" sz="2800" b="1" dirty="0">
                  <a:solidFill>
                    <a:srgbClr val="112F70"/>
                  </a:solidFill>
                  <a:latin typeface="DengXian Light" panose="02010600030101010101" pitchFamily="2" charset="-122"/>
                  <a:ea typeface="DengXian Light" panose="02010600030101010101" pitchFamily="2" charset="-122"/>
                </a:rPr>
                <a:t>1</a:t>
              </a:r>
              <a:endParaRPr lang="zh-CN" altLang="en-US" sz="2800" b="1" dirty="0">
                <a:solidFill>
                  <a:srgbClr val="112F70"/>
                </a:solidFill>
                <a:latin typeface="DengXian Light" panose="02010600030101010101" pitchFamily="2" charset="-122"/>
                <a:ea typeface="DengXian Light" panose="02010600030101010101" pitchFamily="2" charset="-122"/>
              </a:endParaRPr>
            </a:p>
          </p:txBody>
        </p:sp>
        <p:cxnSp>
          <p:nvCxnSpPr>
            <p:cNvPr id="18" name="直接连接符 17"/>
            <p:cNvCxnSpPr/>
            <p:nvPr/>
          </p:nvCxnSpPr>
          <p:spPr>
            <a:xfrm flipH="1">
              <a:off x="3736631" y="2227402"/>
              <a:ext cx="246456" cy="246456"/>
            </a:xfrm>
            <a:prstGeom prst="line">
              <a:avLst/>
            </a:prstGeom>
            <a:ln>
              <a:solidFill>
                <a:srgbClr val="112F70"/>
              </a:solidFill>
            </a:ln>
          </p:spPr>
          <p:style>
            <a:lnRef idx="1">
              <a:schemeClr val="accent1"/>
            </a:lnRef>
            <a:fillRef idx="0">
              <a:schemeClr val="accent1"/>
            </a:fillRef>
            <a:effectRef idx="0">
              <a:schemeClr val="accent1"/>
            </a:effectRef>
            <a:fontRef idx="minor">
              <a:schemeClr val="tx1"/>
            </a:fontRef>
          </p:style>
        </p:cxnSp>
      </p:grpSp>
      <p:sp>
        <p:nvSpPr>
          <p:cNvPr id="23" name="文本框 24"/>
          <p:cNvSpPr txBox="1"/>
          <p:nvPr/>
        </p:nvSpPr>
        <p:spPr>
          <a:xfrm>
            <a:off x="4867946" y="1428669"/>
            <a:ext cx="2305439" cy="369332"/>
          </a:xfrm>
          <a:prstGeom prst="rect">
            <a:avLst/>
          </a:prstGeom>
          <a:noFill/>
        </p:spPr>
        <p:txBody>
          <a:bodyPr wrap="none" rtlCol="0">
            <a:spAutoFit/>
          </a:bodyPr>
          <a:lstStyle/>
          <a:p>
            <a:r>
              <a:rPr lang="zh-CN" altLang="en-US" b="1" dirty="0">
                <a:solidFill>
                  <a:srgbClr val="112F70"/>
                </a:solidFill>
                <a:latin typeface="DengXian Light" panose="02010600030101010101" pitchFamily="2" charset="-122"/>
                <a:ea typeface="DengXian Light" panose="02010600030101010101" pitchFamily="2" charset="-122"/>
              </a:rPr>
              <a:t>业务目标与任务拆解</a:t>
            </a:r>
          </a:p>
        </p:txBody>
      </p:sp>
      <p:grpSp>
        <p:nvGrpSpPr>
          <p:cNvPr id="37" name="组合 36"/>
          <p:cNvGrpSpPr/>
          <p:nvPr/>
        </p:nvGrpSpPr>
        <p:grpSpPr>
          <a:xfrm>
            <a:off x="4367824" y="1345996"/>
            <a:ext cx="457487" cy="523220"/>
            <a:chOff x="3525600" y="2627150"/>
            <a:chExt cx="457487" cy="523220"/>
          </a:xfrm>
        </p:grpSpPr>
        <p:sp>
          <p:nvSpPr>
            <p:cNvPr id="22" name="文本框 23"/>
            <p:cNvSpPr txBox="1"/>
            <p:nvPr/>
          </p:nvSpPr>
          <p:spPr>
            <a:xfrm>
              <a:off x="3525600" y="2627150"/>
              <a:ext cx="377026" cy="523220"/>
            </a:xfrm>
            <a:prstGeom prst="rect">
              <a:avLst/>
            </a:prstGeom>
            <a:noFill/>
          </p:spPr>
          <p:txBody>
            <a:bodyPr wrap="none" rtlCol="0">
              <a:spAutoFit/>
            </a:bodyPr>
            <a:lstStyle/>
            <a:p>
              <a:pPr algn="ctr"/>
              <a:r>
                <a:rPr lang="en-US" altLang="zh-CN" sz="2800" b="1" dirty="0">
                  <a:solidFill>
                    <a:srgbClr val="112F70"/>
                  </a:solidFill>
                  <a:latin typeface="DengXian Light" panose="02010600030101010101" pitchFamily="2" charset="-122"/>
                  <a:ea typeface="DengXian Light" panose="02010600030101010101" pitchFamily="2" charset="-122"/>
                </a:rPr>
                <a:t>2</a:t>
              </a:r>
              <a:endParaRPr lang="zh-CN" altLang="en-US" sz="2800" b="1" dirty="0">
                <a:solidFill>
                  <a:srgbClr val="112F70"/>
                </a:solidFill>
                <a:latin typeface="DengXian Light" panose="02010600030101010101" pitchFamily="2" charset="-122"/>
                <a:ea typeface="DengXian Light" panose="02010600030101010101" pitchFamily="2" charset="-122"/>
              </a:endParaRPr>
            </a:p>
          </p:txBody>
        </p:sp>
        <p:cxnSp>
          <p:nvCxnSpPr>
            <p:cNvPr id="24" name="直接连接符 23"/>
            <p:cNvCxnSpPr/>
            <p:nvPr/>
          </p:nvCxnSpPr>
          <p:spPr>
            <a:xfrm flipH="1">
              <a:off x="3736631" y="2806784"/>
              <a:ext cx="246456" cy="246456"/>
            </a:xfrm>
            <a:prstGeom prst="line">
              <a:avLst/>
            </a:prstGeom>
            <a:ln>
              <a:solidFill>
                <a:srgbClr val="112F70"/>
              </a:solidFill>
            </a:ln>
          </p:spPr>
          <p:style>
            <a:lnRef idx="1">
              <a:schemeClr val="accent1"/>
            </a:lnRef>
            <a:fillRef idx="0">
              <a:schemeClr val="accent1"/>
            </a:fillRef>
            <a:effectRef idx="0">
              <a:schemeClr val="accent1"/>
            </a:effectRef>
            <a:fontRef idx="minor">
              <a:schemeClr val="tx1"/>
            </a:fontRef>
          </p:style>
        </p:cxnSp>
      </p:grpSp>
      <p:sp>
        <p:nvSpPr>
          <p:cNvPr id="29" name="文本框 30"/>
          <p:cNvSpPr txBox="1"/>
          <p:nvPr/>
        </p:nvSpPr>
        <p:spPr>
          <a:xfrm>
            <a:off x="4867946" y="1996683"/>
            <a:ext cx="2305439" cy="369332"/>
          </a:xfrm>
          <a:prstGeom prst="rect">
            <a:avLst/>
          </a:prstGeom>
          <a:noFill/>
        </p:spPr>
        <p:txBody>
          <a:bodyPr wrap="none" rtlCol="0">
            <a:spAutoFit/>
          </a:bodyPr>
          <a:lstStyle/>
          <a:p>
            <a:r>
              <a:rPr lang="zh-CN" altLang="en-US" b="1" dirty="0">
                <a:solidFill>
                  <a:srgbClr val="112F70"/>
                </a:solidFill>
                <a:latin typeface="DengXian Light" panose="02010600030101010101" pitchFamily="2" charset="-122"/>
                <a:ea typeface="DengXian Light" panose="02010600030101010101" pitchFamily="2" charset="-122"/>
              </a:rPr>
              <a:t>业务模型与模型需求</a:t>
            </a:r>
          </a:p>
        </p:txBody>
      </p:sp>
      <p:grpSp>
        <p:nvGrpSpPr>
          <p:cNvPr id="39" name="组合 38"/>
          <p:cNvGrpSpPr/>
          <p:nvPr/>
        </p:nvGrpSpPr>
        <p:grpSpPr>
          <a:xfrm>
            <a:off x="4367824" y="1919739"/>
            <a:ext cx="457487" cy="523220"/>
            <a:chOff x="3525600" y="3200893"/>
            <a:chExt cx="457487" cy="523220"/>
          </a:xfrm>
        </p:grpSpPr>
        <p:sp>
          <p:nvSpPr>
            <p:cNvPr id="28" name="文本框 29"/>
            <p:cNvSpPr txBox="1"/>
            <p:nvPr/>
          </p:nvSpPr>
          <p:spPr>
            <a:xfrm>
              <a:off x="3525600" y="3200893"/>
              <a:ext cx="377026" cy="523220"/>
            </a:xfrm>
            <a:prstGeom prst="rect">
              <a:avLst/>
            </a:prstGeom>
            <a:noFill/>
          </p:spPr>
          <p:txBody>
            <a:bodyPr wrap="none" rtlCol="0">
              <a:spAutoFit/>
            </a:bodyPr>
            <a:lstStyle/>
            <a:p>
              <a:pPr algn="ctr"/>
              <a:r>
                <a:rPr lang="en-US" altLang="zh-CN" sz="2800" b="1" dirty="0">
                  <a:solidFill>
                    <a:srgbClr val="112F70"/>
                  </a:solidFill>
                  <a:latin typeface="DengXian Light" panose="02010600030101010101" pitchFamily="2" charset="-122"/>
                  <a:ea typeface="DengXian Light" panose="02010600030101010101" pitchFamily="2" charset="-122"/>
                </a:rPr>
                <a:t>3</a:t>
              </a:r>
              <a:endParaRPr lang="zh-CN" altLang="en-US" sz="2800" b="1" dirty="0">
                <a:solidFill>
                  <a:srgbClr val="112F70"/>
                </a:solidFill>
                <a:latin typeface="DengXian Light" panose="02010600030101010101" pitchFamily="2" charset="-122"/>
                <a:ea typeface="DengXian Light" panose="02010600030101010101" pitchFamily="2" charset="-122"/>
              </a:endParaRPr>
            </a:p>
          </p:txBody>
        </p:sp>
        <p:cxnSp>
          <p:nvCxnSpPr>
            <p:cNvPr id="30" name="直接连接符 29"/>
            <p:cNvCxnSpPr/>
            <p:nvPr/>
          </p:nvCxnSpPr>
          <p:spPr>
            <a:xfrm flipH="1">
              <a:off x="3736631" y="3380527"/>
              <a:ext cx="246456" cy="246456"/>
            </a:xfrm>
            <a:prstGeom prst="line">
              <a:avLst/>
            </a:prstGeom>
            <a:ln>
              <a:solidFill>
                <a:srgbClr val="112F70"/>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p:cNvCxnSpPr/>
          <p:nvPr/>
        </p:nvCxnSpPr>
        <p:spPr>
          <a:xfrm>
            <a:off x="3563888" y="1347614"/>
            <a:ext cx="0" cy="2194875"/>
          </a:xfrm>
          <a:prstGeom prst="line">
            <a:avLst/>
          </a:prstGeom>
          <a:ln>
            <a:solidFill>
              <a:srgbClr val="112F70"/>
            </a:solidFill>
          </a:ln>
        </p:spPr>
        <p:style>
          <a:lnRef idx="1">
            <a:schemeClr val="accent1"/>
          </a:lnRef>
          <a:fillRef idx="0">
            <a:schemeClr val="accent1"/>
          </a:fillRef>
          <a:effectRef idx="0">
            <a:schemeClr val="accent1"/>
          </a:effectRef>
          <a:fontRef idx="minor">
            <a:schemeClr val="tx1"/>
          </a:fontRef>
        </p:style>
      </p:cxnSp>
      <p:pic>
        <p:nvPicPr>
          <p:cNvPr id="2" name="图形 38">
            <a:extLst>
              <a:ext uri="{FF2B5EF4-FFF2-40B4-BE49-F238E27FC236}">
                <a16:creationId xmlns:a16="http://schemas.microsoft.com/office/drawing/2014/main" id="{E92E6447-B55E-4A76-444B-73CBFDEF7EF3}"/>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t="30918" b="33627"/>
          <a:stretch>
            <a:fillRect/>
          </a:stretch>
        </p:blipFill>
        <p:spPr>
          <a:xfrm>
            <a:off x="0" y="123478"/>
            <a:ext cx="3092450" cy="822325"/>
          </a:xfrm>
          <a:prstGeom prst="rect">
            <a:avLst/>
          </a:prstGeom>
        </p:spPr>
      </p:pic>
      <p:sp>
        <p:nvSpPr>
          <p:cNvPr id="3" name="文本框 30">
            <a:extLst>
              <a:ext uri="{FF2B5EF4-FFF2-40B4-BE49-F238E27FC236}">
                <a16:creationId xmlns:a16="http://schemas.microsoft.com/office/drawing/2014/main" id="{56F75B5B-B741-C463-4505-DE0FE5FA2EE9}"/>
              </a:ext>
            </a:extLst>
          </p:cNvPr>
          <p:cNvSpPr txBox="1"/>
          <p:nvPr/>
        </p:nvSpPr>
        <p:spPr>
          <a:xfrm>
            <a:off x="4867946" y="2564697"/>
            <a:ext cx="1891865" cy="369332"/>
          </a:xfrm>
          <a:prstGeom prst="rect">
            <a:avLst/>
          </a:prstGeom>
          <a:noFill/>
        </p:spPr>
        <p:txBody>
          <a:bodyPr wrap="none" rtlCol="0">
            <a:spAutoFit/>
          </a:bodyPr>
          <a:lstStyle/>
          <a:p>
            <a:r>
              <a:rPr lang="zh-CN" altLang="en-US" b="1" dirty="0">
                <a:solidFill>
                  <a:srgbClr val="112F70"/>
                </a:solidFill>
                <a:latin typeface="DengXian Light" panose="02010600030101010101" pitchFamily="2" charset="-122"/>
                <a:ea typeface="DengXian Light" panose="02010600030101010101" pitchFamily="2" charset="-122"/>
              </a:rPr>
              <a:t>数据与数据处理</a:t>
            </a:r>
          </a:p>
        </p:txBody>
      </p:sp>
      <p:grpSp>
        <p:nvGrpSpPr>
          <p:cNvPr id="4" name="组合 3">
            <a:extLst>
              <a:ext uri="{FF2B5EF4-FFF2-40B4-BE49-F238E27FC236}">
                <a16:creationId xmlns:a16="http://schemas.microsoft.com/office/drawing/2014/main" id="{23AABD03-219C-7774-FF28-7172A75ED8D3}"/>
              </a:ext>
            </a:extLst>
          </p:cNvPr>
          <p:cNvGrpSpPr/>
          <p:nvPr/>
        </p:nvGrpSpPr>
        <p:grpSpPr>
          <a:xfrm>
            <a:off x="4367824" y="2487753"/>
            <a:ext cx="457487" cy="523220"/>
            <a:chOff x="3525600" y="3200893"/>
            <a:chExt cx="457487" cy="523220"/>
          </a:xfrm>
        </p:grpSpPr>
        <p:sp>
          <p:nvSpPr>
            <p:cNvPr id="5" name="文本框 29">
              <a:extLst>
                <a:ext uri="{FF2B5EF4-FFF2-40B4-BE49-F238E27FC236}">
                  <a16:creationId xmlns:a16="http://schemas.microsoft.com/office/drawing/2014/main" id="{95CEB587-4104-2396-693C-223883BA2805}"/>
                </a:ext>
              </a:extLst>
            </p:cNvPr>
            <p:cNvSpPr txBox="1"/>
            <p:nvPr/>
          </p:nvSpPr>
          <p:spPr>
            <a:xfrm>
              <a:off x="3525600" y="3200893"/>
              <a:ext cx="377026" cy="523220"/>
            </a:xfrm>
            <a:prstGeom prst="rect">
              <a:avLst/>
            </a:prstGeom>
            <a:noFill/>
          </p:spPr>
          <p:txBody>
            <a:bodyPr wrap="none" rtlCol="0">
              <a:spAutoFit/>
            </a:bodyPr>
            <a:lstStyle/>
            <a:p>
              <a:pPr algn="ctr"/>
              <a:r>
                <a:rPr lang="en-US" altLang="zh-CN" sz="2800" b="1" dirty="0">
                  <a:solidFill>
                    <a:srgbClr val="112F70"/>
                  </a:solidFill>
                  <a:latin typeface="DengXian Light" panose="02010600030101010101" pitchFamily="2" charset="-122"/>
                  <a:ea typeface="DengXian Light" panose="02010600030101010101" pitchFamily="2" charset="-122"/>
                </a:rPr>
                <a:t>4</a:t>
              </a:r>
              <a:endParaRPr lang="zh-CN" altLang="en-US" sz="2800" b="1" dirty="0">
                <a:solidFill>
                  <a:srgbClr val="112F70"/>
                </a:solidFill>
                <a:latin typeface="DengXian Light" panose="02010600030101010101" pitchFamily="2" charset="-122"/>
                <a:ea typeface="DengXian Light" panose="02010600030101010101" pitchFamily="2" charset="-122"/>
              </a:endParaRPr>
            </a:p>
          </p:txBody>
        </p:sp>
        <p:cxnSp>
          <p:nvCxnSpPr>
            <p:cNvPr id="6" name="直接连接符 29">
              <a:extLst>
                <a:ext uri="{FF2B5EF4-FFF2-40B4-BE49-F238E27FC236}">
                  <a16:creationId xmlns:a16="http://schemas.microsoft.com/office/drawing/2014/main" id="{1F2B6905-078B-92C5-F852-3AFE383DA466}"/>
                </a:ext>
              </a:extLst>
            </p:cNvPr>
            <p:cNvCxnSpPr/>
            <p:nvPr/>
          </p:nvCxnSpPr>
          <p:spPr>
            <a:xfrm flipH="1">
              <a:off x="3736631" y="3380527"/>
              <a:ext cx="246456" cy="246456"/>
            </a:xfrm>
            <a:prstGeom prst="line">
              <a:avLst/>
            </a:prstGeom>
            <a:ln>
              <a:solidFill>
                <a:srgbClr val="112F70"/>
              </a:solidFill>
            </a:ln>
          </p:spPr>
          <p:style>
            <a:lnRef idx="1">
              <a:schemeClr val="accent1"/>
            </a:lnRef>
            <a:fillRef idx="0">
              <a:schemeClr val="accent1"/>
            </a:fillRef>
            <a:effectRef idx="0">
              <a:schemeClr val="accent1"/>
            </a:effectRef>
            <a:fontRef idx="minor">
              <a:schemeClr val="tx1"/>
            </a:fontRef>
          </p:style>
        </p:cxnSp>
      </p:grpSp>
      <p:sp>
        <p:nvSpPr>
          <p:cNvPr id="7" name="文本框 30">
            <a:extLst>
              <a:ext uri="{FF2B5EF4-FFF2-40B4-BE49-F238E27FC236}">
                <a16:creationId xmlns:a16="http://schemas.microsoft.com/office/drawing/2014/main" id="{1E8D4664-2C0D-5282-17DE-9AA33516C10F}"/>
              </a:ext>
            </a:extLst>
          </p:cNvPr>
          <p:cNvSpPr txBox="1"/>
          <p:nvPr/>
        </p:nvSpPr>
        <p:spPr>
          <a:xfrm>
            <a:off x="4867946" y="3118717"/>
            <a:ext cx="1834156" cy="369332"/>
          </a:xfrm>
          <a:prstGeom prst="rect">
            <a:avLst/>
          </a:prstGeom>
          <a:noFill/>
        </p:spPr>
        <p:txBody>
          <a:bodyPr wrap="none" rtlCol="0">
            <a:spAutoFit/>
          </a:bodyPr>
          <a:lstStyle/>
          <a:p>
            <a:r>
              <a:rPr lang="zh-CN" altLang="en-US" b="1" dirty="0">
                <a:solidFill>
                  <a:srgbClr val="112F70"/>
                </a:solidFill>
                <a:latin typeface="DengXian Light" panose="02010600030101010101" pitchFamily="2" charset="-122"/>
                <a:ea typeface="DengXian Light" panose="02010600030101010101" pitchFamily="2" charset="-122"/>
              </a:rPr>
              <a:t>系统模块与实现</a:t>
            </a:r>
          </a:p>
        </p:txBody>
      </p:sp>
      <p:grpSp>
        <p:nvGrpSpPr>
          <p:cNvPr id="8" name="组合 7">
            <a:extLst>
              <a:ext uri="{FF2B5EF4-FFF2-40B4-BE49-F238E27FC236}">
                <a16:creationId xmlns:a16="http://schemas.microsoft.com/office/drawing/2014/main" id="{C3BE6AD3-C670-82FD-EE2F-D010B595D9C4}"/>
              </a:ext>
            </a:extLst>
          </p:cNvPr>
          <p:cNvGrpSpPr/>
          <p:nvPr/>
        </p:nvGrpSpPr>
        <p:grpSpPr>
          <a:xfrm>
            <a:off x="4367824" y="3041773"/>
            <a:ext cx="457487" cy="523220"/>
            <a:chOff x="3525600" y="3200893"/>
            <a:chExt cx="457487" cy="523220"/>
          </a:xfrm>
        </p:grpSpPr>
        <p:sp>
          <p:nvSpPr>
            <p:cNvPr id="9" name="文本框 29">
              <a:extLst>
                <a:ext uri="{FF2B5EF4-FFF2-40B4-BE49-F238E27FC236}">
                  <a16:creationId xmlns:a16="http://schemas.microsoft.com/office/drawing/2014/main" id="{7ADB875E-DF61-E855-0F0D-3514D6D83B3C}"/>
                </a:ext>
              </a:extLst>
            </p:cNvPr>
            <p:cNvSpPr txBox="1"/>
            <p:nvPr/>
          </p:nvSpPr>
          <p:spPr>
            <a:xfrm>
              <a:off x="3525600" y="3200893"/>
              <a:ext cx="377027" cy="523220"/>
            </a:xfrm>
            <a:prstGeom prst="rect">
              <a:avLst/>
            </a:prstGeom>
            <a:noFill/>
          </p:spPr>
          <p:txBody>
            <a:bodyPr wrap="none" rtlCol="0">
              <a:spAutoFit/>
            </a:bodyPr>
            <a:lstStyle/>
            <a:p>
              <a:pPr algn="ctr"/>
              <a:r>
                <a:rPr lang="en-US" altLang="zh-CN" sz="2800" b="1" dirty="0">
                  <a:solidFill>
                    <a:srgbClr val="112F70"/>
                  </a:solidFill>
                  <a:latin typeface="DengXian Light" panose="02010600030101010101" pitchFamily="2" charset="-122"/>
                  <a:ea typeface="DengXian Light" panose="02010600030101010101" pitchFamily="2" charset="-122"/>
                </a:rPr>
                <a:t>5</a:t>
              </a:r>
              <a:endParaRPr lang="zh-CN" altLang="en-US" sz="2800" b="1" dirty="0">
                <a:solidFill>
                  <a:srgbClr val="112F70"/>
                </a:solidFill>
                <a:latin typeface="DengXian Light" panose="02010600030101010101" pitchFamily="2" charset="-122"/>
                <a:ea typeface="DengXian Light" panose="02010600030101010101" pitchFamily="2" charset="-122"/>
              </a:endParaRPr>
            </a:p>
          </p:txBody>
        </p:sp>
        <p:cxnSp>
          <p:nvCxnSpPr>
            <p:cNvPr id="10" name="直接连接符 29">
              <a:extLst>
                <a:ext uri="{FF2B5EF4-FFF2-40B4-BE49-F238E27FC236}">
                  <a16:creationId xmlns:a16="http://schemas.microsoft.com/office/drawing/2014/main" id="{65937120-2DC4-071C-A3E3-CA6391133037}"/>
                </a:ext>
              </a:extLst>
            </p:cNvPr>
            <p:cNvCxnSpPr/>
            <p:nvPr/>
          </p:nvCxnSpPr>
          <p:spPr>
            <a:xfrm flipH="1">
              <a:off x="3736631" y="3380527"/>
              <a:ext cx="246456" cy="246456"/>
            </a:xfrm>
            <a:prstGeom prst="line">
              <a:avLst/>
            </a:prstGeom>
            <a:ln>
              <a:solidFill>
                <a:srgbClr val="112F70"/>
              </a:solidFill>
            </a:ln>
          </p:spPr>
          <p:style>
            <a:lnRef idx="1">
              <a:schemeClr val="accent1"/>
            </a:lnRef>
            <a:fillRef idx="0">
              <a:schemeClr val="accent1"/>
            </a:fillRef>
            <a:effectRef idx="0">
              <a:schemeClr val="accent1"/>
            </a:effectRef>
            <a:fontRef idx="minor">
              <a:schemeClr val="tx1"/>
            </a:fontRef>
          </p:style>
        </p:cxnSp>
      </p:grpSp>
      <p:sp>
        <p:nvSpPr>
          <p:cNvPr id="20" name="文本框 30">
            <a:extLst>
              <a:ext uri="{FF2B5EF4-FFF2-40B4-BE49-F238E27FC236}">
                <a16:creationId xmlns:a16="http://schemas.microsoft.com/office/drawing/2014/main" id="{1515E461-E8B9-7A67-913D-EAA7FEEA3067}"/>
              </a:ext>
            </a:extLst>
          </p:cNvPr>
          <p:cNvSpPr txBox="1"/>
          <p:nvPr/>
        </p:nvSpPr>
        <p:spPr>
          <a:xfrm>
            <a:off x="4867946" y="3763675"/>
            <a:ext cx="1127232" cy="369332"/>
          </a:xfrm>
          <a:prstGeom prst="rect">
            <a:avLst/>
          </a:prstGeom>
          <a:noFill/>
        </p:spPr>
        <p:txBody>
          <a:bodyPr wrap="none" rtlCol="0">
            <a:spAutoFit/>
          </a:bodyPr>
          <a:lstStyle/>
          <a:p>
            <a:r>
              <a:rPr lang="zh-CN" altLang="en-US" b="1" dirty="0">
                <a:solidFill>
                  <a:srgbClr val="112F70"/>
                </a:solidFill>
                <a:latin typeface="DengXian Light" panose="02010600030101010101" pitchFamily="2" charset="-122"/>
                <a:ea typeface="DengXian Light" panose="02010600030101010101" pitchFamily="2" charset="-122"/>
              </a:rPr>
              <a:t>模型展示</a:t>
            </a:r>
          </a:p>
        </p:txBody>
      </p:sp>
      <p:grpSp>
        <p:nvGrpSpPr>
          <p:cNvPr id="21" name="组合 20">
            <a:extLst>
              <a:ext uri="{FF2B5EF4-FFF2-40B4-BE49-F238E27FC236}">
                <a16:creationId xmlns:a16="http://schemas.microsoft.com/office/drawing/2014/main" id="{5826EB6E-0852-F860-AAB9-626A83855803}"/>
              </a:ext>
            </a:extLst>
          </p:cNvPr>
          <p:cNvGrpSpPr/>
          <p:nvPr/>
        </p:nvGrpSpPr>
        <p:grpSpPr>
          <a:xfrm>
            <a:off x="4367824" y="3686731"/>
            <a:ext cx="457487" cy="523220"/>
            <a:chOff x="3525600" y="3200893"/>
            <a:chExt cx="457487" cy="523220"/>
          </a:xfrm>
        </p:grpSpPr>
        <p:sp>
          <p:nvSpPr>
            <p:cNvPr id="25" name="文本框 29">
              <a:extLst>
                <a:ext uri="{FF2B5EF4-FFF2-40B4-BE49-F238E27FC236}">
                  <a16:creationId xmlns:a16="http://schemas.microsoft.com/office/drawing/2014/main" id="{9174899D-C0DA-7AA5-E527-D08463CAB694}"/>
                </a:ext>
              </a:extLst>
            </p:cNvPr>
            <p:cNvSpPr txBox="1"/>
            <p:nvPr/>
          </p:nvSpPr>
          <p:spPr>
            <a:xfrm>
              <a:off x="3525600" y="3200893"/>
              <a:ext cx="377027" cy="523220"/>
            </a:xfrm>
            <a:prstGeom prst="rect">
              <a:avLst/>
            </a:prstGeom>
            <a:noFill/>
          </p:spPr>
          <p:txBody>
            <a:bodyPr wrap="none" rtlCol="0">
              <a:spAutoFit/>
            </a:bodyPr>
            <a:lstStyle/>
            <a:p>
              <a:pPr algn="ctr"/>
              <a:r>
                <a:rPr lang="en-US" altLang="zh-CN" sz="2800" b="1" dirty="0">
                  <a:solidFill>
                    <a:srgbClr val="112F70"/>
                  </a:solidFill>
                  <a:latin typeface="DengXian Light" panose="02010600030101010101" pitchFamily="2" charset="-122"/>
                  <a:ea typeface="DengXian Light" panose="02010600030101010101" pitchFamily="2" charset="-122"/>
                </a:rPr>
                <a:t>6</a:t>
              </a:r>
              <a:endParaRPr lang="zh-CN" altLang="en-US" sz="2800" b="1" dirty="0">
                <a:solidFill>
                  <a:srgbClr val="112F70"/>
                </a:solidFill>
                <a:latin typeface="DengXian Light" panose="02010600030101010101" pitchFamily="2" charset="-122"/>
                <a:ea typeface="DengXian Light" panose="02010600030101010101" pitchFamily="2" charset="-122"/>
              </a:endParaRPr>
            </a:p>
          </p:txBody>
        </p:sp>
        <p:cxnSp>
          <p:nvCxnSpPr>
            <p:cNvPr id="26" name="直接连接符 29">
              <a:extLst>
                <a:ext uri="{FF2B5EF4-FFF2-40B4-BE49-F238E27FC236}">
                  <a16:creationId xmlns:a16="http://schemas.microsoft.com/office/drawing/2014/main" id="{138075C6-0867-4CCF-E62D-1668D79C2076}"/>
                </a:ext>
              </a:extLst>
            </p:cNvPr>
            <p:cNvCxnSpPr/>
            <p:nvPr/>
          </p:nvCxnSpPr>
          <p:spPr>
            <a:xfrm flipH="1">
              <a:off x="3736631" y="3380527"/>
              <a:ext cx="246456" cy="246456"/>
            </a:xfrm>
            <a:prstGeom prst="line">
              <a:avLst/>
            </a:prstGeom>
            <a:ln>
              <a:solidFill>
                <a:srgbClr val="112F7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750"/>
                                        <p:tgtEl>
                                          <p:spTgt spid="1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randombar(horizontal)">
                                      <p:cBhvr>
                                        <p:cTn id="10" dur="750"/>
                                        <p:tgtEl>
                                          <p:spTgt spid="14"/>
                                        </p:tgtEl>
                                      </p:cBhvr>
                                    </p:animEffect>
                                  </p:childTnLst>
                                </p:cTn>
                              </p:par>
                            </p:childTnLst>
                          </p:cTn>
                        </p:par>
                        <p:par>
                          <p:cTn id="11" fill="hold">
                            <p:stCondLst>
                              <p:cond delay="1000"/>
                            </p:stCondLst>
                            <p:childTnLst>
                              <p:par>
                                <p:cTn id="12" presetID="2" presetClass="entr" presetSubtype="1" fill="hold" nodeType="afterEffect">
                                  <p:stCondLst>
                                    <p:cond delay="0"/>
                                  </p:stCondLst>
                                  <p:childTnLst>
                                    <p:set>
                                      <p:cBhvr>
                                        <p:cTn id="13" dur="1" fill="hold">
                                          <p:stCondLst>
                                            <p:cond delay="0"/>
                                          </p:stCondLst>
                                        </p:cTn>
                                        <p:tgtEl>
                                          <p:spTgt spid="34"/>
                                        </p:tgtEl>
                                        <p:attrNameLst>
                                          <p:attrName>style.visibility</p:attrName>
                                        </p:attrNameLst>
                                      </p:cBhvr>
                                      <p:to>
                                        <p:strVal val="visible"/>
                                      </p:to>
                                    </p:set>
                                    <p:anim calcmode="lin" valueType="num">
                                      <p:cBhvr additive="base">
                                        <p:cTn id="14" dur="500" fill="hold"/>
                                        <p:tgtEl>
                                          <p:spTgt spid="34"/>
                                        </p:tgtEl>
                                        <p:attrNameLst>
                                          <p:attrName>ppt_x</p:attrName>
                                        </p:attrNameLst>
                                      </p:cBhvr>
                                      <p:tavLst>
                                        <p:tav tm="0">
                                          <p:val>
                                            <p:strVal val="#ppt_x"/>
                                          </p:val>
                                        </p:tav>
                                        <p:tav tm="100000">
                                          <p:val>
                                            <p:strVal val="#ppt_x"/>
                                          </p:val>
                                        </p:tav>
                                      </p:tavLst>
                                    </p:anim>
                                    <p:anim calcmode="lin" valueType="num">
                                      <p:cBhvr additive="base">
                                        <p:cTn id="15" dur="500" fill="hold"/>
                                        <p:tgtEl>
                                          <p:spTgt spid="34"/>
                                        </p:tgtEl>
                                        <p:attrNameLst>
                                          <p:attrName>ppt_y</p:attrName>
                                        </p:attrNameLst>
                                      </p:cBhvr>
                                      <p:tavLst>
                                        <p:tav tm="0">
                                          <p:val>
                                            <p:strVal val="0-#ppt_h/2"/>
                                          </p:val>
                                        </p:tav>
                                        <p:tav tm="100000">
                                          <p:val>
                                            <p:strVal val="#ppt_y"/>
                                          </p:val>
                                        </p:tav>
                                      </p:tavLst>
                                    </p:anim>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1000"/>
                                        <p:tgtEl>
                                          <p:spTgt spid="35"/>
                                        </p:tgtEl>
                                      </p:cBhvr>
                                    </p:animEffect>
                                  </p:childTnLst>
                                </p:cTn>
                              </p:par>
                              <p:par>
                                <p:cTn id="20" presetID="56" presetClass="path" presetSubtype="0" accel="50000" decel="50000" fill="hold" nodeType="withEffect">
                                  <p:stCondLst>
                                    <p:cond delay="0"/>
                                  </p:stCondLst>
                                  <p:childTnLst>
                                    <p:animMotion origin="layout" path="M -0.03733 0.04136 L 2.77778E-6 -2.46914E-7 " pathEditMode="relative" rAng="0" ptsTypes="AA">
                                      <p:cBhvr>
                                        <p:cTn id="21" dur="700" fill="hold"/>
                                        <p:tgtEl>
                                          <p:spTgt spid="35"/>
                                        </p:tgtEl>
                                        <p:attrNameLst>
                                          <p:attrName>ppt_x</p:attrName>
                                          <p:attrName>ppt_y</p:attrName>
                                        </p:attrNameLst>
                                      </p:cBhvr>
                                      <p:rCtr x="1858" y="-2068"/>
                                    </p:animMotion>
                                  </p:childTnLst>
                                </p:cTn>
                              </p:par>
                              <p:par>
                                <p:cTn id="22" presetID="22" presetClass="entr" presetSubtype="8" fill="hold" grpId="0" nodeType="withEffect">
                                  <p:stCondLst>
                                    <p:cond delay="25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5" presetID="10" presetClass="entr" presetSubtype="0" fill="hold" nodeType="withEffect">
                                  <p:stCondLst>
                                    <p:cond delay="25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childTnLst>
                                </p:cTn>
                              </p:par>
                              <p:par>
                                <p:cTn id="28" presetID="56" presetClass="path" presetSubtype="0" accel="50000" decel="50000" fill="hold" nodeType="withEffect">
                                  <p:stCondLst>
                                    <p:cond delay="250"/>
                                  </p:stCondLst>
                                  <p:childTnLst>
                                    <p:animMotion origin="layout" path="M -0.03733 0.04105 L 2.77778E-6 -4.5679E-6 " pathEditMode="relative" rAng="0" ptsTypes="AA">
                                      <p:cBhvr>
                                        <p:cTn id="29" dur="700" fill="hold"/>
                                        <p:tgtEl>
                                          <p:spTgt spid="37"/>
                                        </p:tgtEl>
                                        <p:attrNameLst>
                                          <p:attrName>ppt_x</p:attrName>
                                          <p:attrName>ppt_y</p:attrName>
                                        </p:attrNameLst>
                                      </p:cBhvr>
                                      <p:rCtr x="1858" y="-2068"/>
                                    </p:animMotion>
                                  </p:childTnLst>
                                </p:cTn>
                              </p:par>
                              <p:par>
                                <p:cTn id="30" presetID="22" presetClass="entr" presetSubtype="8" fill="hold" grpId="0" nodeType="withEffect">
                                  <p:stCondLst>
                                    <p:cond delay="50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par>
                                <p:cTn id="33" presetID="10" presetClass="entr" presetSubtype="0" fill="hold" nodeType="withEffect">
                                  <p:stCondLst>
                                    <p:cond delay="50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1000"/>
                                        <p:tgtEl>
                                          <p:spTgt spid="39"/>
                                        </p:tgtEl>
                                      </p:cBhvr>
                                    </p:animEffect>
                                  </p:childTnLst>
                                </p:cTn>
                              </p:par>
                              <p:par>
                                <p:cTn id="36" presetID="56" presetClass="path" presetSubtype="0" accel="50000" decel="50000" fill="hold" nodeType="withEffect">
                                  <p:stCondLst>
                                    <p:cond delay="500"/>
                                  </p:stCondLst>
                                  <p:childTnLst>
                                    <p:animMotion origin="layout" path="M -0.03733 0.04105 L 2.77778E-6 -2.96296E-6 " pathEditMode="relative" rAng="0" ptsTypes="AA">
                                      <p:cBhvr>
                                        <p:cTn id="37" dur="700" fill="hold"/>
                                        <p:tgtEl>
                                          <p:spTgt spid="39"/>
                                        </p:tgtEl>
                                        <p:attrNameLst>
                                          <p:attrName>ppt_x</p:attrName>
                                          <p:attrName>ppt_y</p:attrName>
                                        </p:attrNameLst>
                                      </p:cBhvr>
                                      <p:rCtr x="1858" y="-2068"/>
                                    </p:animMotion>
                                  </p:childTnLst>
                                </p:cTn>
                              </p:par>
                              <p:par>
                                <p:cTn id="38" presetID="22" presetClass="entr" presetSubtype="8" fill="hold" grpId="0" nodeType="withEffect">
                                  <p:stCondLst>
                                    <p:cond delay="750"/>
                                  </p:stCondLst>
                                  <p:childTnLst>
                                    <p:set>
                                      <p:cBhvr>
                                        <p:cTn id="39" dur="1" fill="hold">
                                          <p:stCondLst>
                                            <p:cond delay="0"/>
                                          </p:stCondLst>
                                        </p:cTn>
                                        <p:tgtEl>
                                          <p:spTgt spid="29"/>
                                        </p:tgtEl>
                                        <p:attrNameLst>
                                          <p:attrName>style.visibility</p:attrName>
                                        </p:attrNameLst>
                                      </p:cBhvr>
                                      <p:to>
                                        <p:strVal val="visible"/>
                                      </p:to>
                                    </p:set>
                                    <p:animEffect transition="in" filter="wipe(left)">
                                      <p:cBhvr>
                                        <p:cTn id="40" dur="500"/>
                                        <p:tgtEl>
                                          <p:spTgt spid="29"/>
                                        </p:tgtEl>
                                      </p:cBhvr>
                                    </p:animEffect>
                                  </p:childTnLst>
                                </p:cTn>
                              </p:par>
                              <p:par>
                                <p:cTn id="41" presetID="10" presetClass="entr" presetSubtype="0" fill="hold" nodeType="withEffect">
                                  <p:stCondLst>
                                    <p:cond delay="50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1000"/>
                                        <p:tgtEl>
                                          <p:spTgt spid="4"/>
                                        </p:tgtEl>
                                      </p:cBhvr>
                                    </p:animEffect>
                                  </p:childTnLst>
                                </p:cTn>
                              </p:par>
                              <p:par>
                                <p:cTn id="44" presetID="56" presetClass="path" presetSubtype="0" accel="50000" decel="50000" fill="hold" nodeType="withEffect">
                                  <p:stCondLst>
                                    <p:cond delay="500"/>
                                  </p:stCondLst>
                                  <p:childTnLst>
                                    <p:animMotion origin="layout" path="M -0.03733 0.04105 L 2.77778E-6 -2.96296E-6 " pathEditMode="relative" rAng="0" ptsTypes="AA">
                                      <p:cBhvr>
                                        <p:cTn id="45" dur="700" fill="hold"/>
                                        <p:tgtEl>
                                          <p:spTgt spid="4"/>
                                        </p:tgtEl>
                                        <p:attrNameLst>
                                          <p:attrName>ppt_x</p:attrName>
                                          <p:attrName>ppt_y</p:attrName>
                                        </p:attrNameLst>
                                      </p:cBhvr>
                                      <p:rCtr x="1858" y="-2068"/>
                                    </p:animMotion>
                                  </p:childTnLst>
                                </p:cTn>
                              </p:par>
                              <p:par>
                                <p:cTn id="46" presetID="22" presetClass="entr" presetSubtype="8" fill="hold" grpId="0" nodeType="withEffect">
                                  <p:stCondLst>
                                    <p:cond delay="750"/>
                                  </p:stCondLst>
                                  <p:childTnLst>
                                    <p:set>
                                      <p:cBhvr>
                                        <p:cTn id="47" dur="1" fill="hold">
                                          <p:stCondLst>
                                            <p:cond delay="0"/>
                                          </p:stCondLst>
                                        </p:cTn>
                                        <p:tgtEl>
                                          <p:spTgt spid="3"/>
                                        </p:tgtEl>
                                        <p:attrNameLst>
                                          <p:attrName>style.visibility</p:attrName>
                                        </p:attrNameLst>
                                      </p:cBhvr>
                                      <p:to>
                                        <p:strVal val="visible"/>
                                      </p:to>
                                    </p:set>
                                    <p:animEffect transition="in" filter="wipe(left)">
                                      <p:cBhvr>
                                        <p:cTn id="48" dur="500"/>
                                        <p:tgtEl>
                                          <p:spTgt spid="3"/>
                                        </p:tgtEl>
                                      </p:cBhvr>
                                    </p:animEffect>
                                  </p:childTnLst>
                                </p:cTn>
                              </p:par>
                              <p:par>
                                <p:cTn id="49" presetID="10" presetClass="entr" presetSubtype="0" fill="hold" nodeType="withEffect">
                                  <p:stCondLst>
                                    <p:cond delay="50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1000"/>
                                        <p:tgtEl>
                                          <p:spTgt spid="8"/>
                                        </p:tgtEl>
                                      </p:cBhvr>
                                    </p:animEffect>
                                  </p:childTnLst>
                                </p:cTn>
                              </p:par>
                              <p:par>
                                <p:cTn id="52" presetID="56" presetClass="path" presetSubtype="0" accel="50000" decel="50000" fill="hold" nodeType="withEffect">
                                  <p:stCondLst>
                                    <p:cond delay="500"/>
                                  </p:stCondLst>
                                  <p:childTnLst>
                                    <p:animMotion origin="layout" path="M -0.03733 0.04105 L 2.77778E-6 -2.96296E-6 " pathEditMode="relative" rAng="0" ptsTypes="AA">
                                      <p:cBhvr>
                                        <p:cTn id="53" dur="700" fill="hold"/>
                                        <p:tgtEl>
                                          <p:spTgt spid="8"/>
                                        </p:tgtEl>
                                        <p:attrNameLst>
                                          <p:attrName>ppt_x</p:attrName>
                                          <p:attrName>ppt_y</p:attrName>
                                        </p:attrNameLst>
                                      </p:cBhvr>
                                      <p:rCtr x="1858" y="-2068"/>
                                    </p:animMotion>
                                  </p:childTnLst>
                                </p:cTn>
                              </p:par>
                              <p:par>
                                <p:cTn id="54" presetID="22" presetClass="entr" presetSubtype="8" fill="hold" grpId="0" nodeType="withEffect">
                                  <p:stCondLst>
                                    <p:cond delay="75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500"/>
                                        <p:tgtEl>
                                          <p:spTgt spid="7"/>
                                        </p:tgtEl>
                                      </p:cBhvr>
                                    </p:animEffect>
                                  </p:childTnLst>
                                </p:cTn>
                              </p:par>
                              <p:par>
                                <p:cTn id="57" presetID="10" presetClass="entr" presetSubtype="0" fill="hold" nodeType="withEffect">
                                  <p:stCondLst>
                                    <p:cond delay="50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1000"/>
                                        <p:tgtEl>
                                          <p:spTgt spid="21"/>
                                        </p:tgtEl>
                                      </p:cBhvr>
                                    </p:animEffect>
                                  </p:childTnLst>
                                </p:cTn>
                              </p:par>
                              <p:par>
                                <p:cTn id="60" presetID="56" presetClass="path" presetSubtype="0" accel="50000" decel="50000" fill="hold" nodeType="withEffect">
                                  <p:stCondLst>
                                    <p:cond delay="500"/>
                                  </p:stCondLst>
                                  <p:childTnLst>
                                    <p:animMotion origin="layout" path="M -0.03733 0.04105 L 2.77778E-6 -2.96296E-6 " pathEditMode="relative" rAng="0" ptsTypes="AA">
                                      <p:cBhvr>
                                        <p:cTn id="61" dur="700" fill="hold"/>
                                        <p:tgtEl>
                                          <p:spTgt spid="21"/>
                                        </p:tgtEl>
                                        <p:attrNameLst>
                                          <p:attrName>ppt_x</p:attrName>
                                          <p:attrName>ppt_y</p:attrName>
                                        </p:attrNameLst>
                                      </p:cBhvr>
                                      <p:rCtr x="1858" y="-2068"/>
                                    </p:animMotion>
                                  </p:childTnLst>
                                </p:cTn>
                              </p:par>
                              <p:par>
                                <p:cTn id="62" presetID="22" presetClass="entr" presetSubtype="8" fill="hold" grpId="0" nodeType="withEffect">
                                  <p:stCondLst>
                                    <p:cond delay="75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7" grpId="0"/>
      <p:bldP spid="23" grpId="0"/>
      <p:bldP spid="29" grpId="0"/>
      <p:bldP spid="3" grpId="0"/>
      <p:bldP spid="7"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851670"/>
            <a:ext cx="3228536"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p>
        </p:txBody>
      </p:sp>
      <p:sp>
        <p:nvSpPr>
          <p:cNvPr id="3" name="文本框 2"/>
          <p:cNvSpPr txBox="1"/>
          <p:nvPr/>
        </p:nvSpPr>
        <p:spPr>
          <a:xfrm>
            <a:off x="1352697" y="2164797"/>
            <a:ext cx="1677382" cy="530915"/>
          </a:xfrm>
          <a:prstGeom prst="rect">
            <a:avLst/>
          </a:prstGeom>
          <a:noFill/>
        </p:spPr>
        <p:txBody>
          <a:bodyPr wrap="none" lIns="68580" tIns="34290" rIns="68580" bIns="34290" rtlCol="0">
            <a:spAutoFit/>
          </a:bodyPr>
          <a:lstStyle/>
          <a:p>
            <a:r>
              <a:rPr lang="zh-CN" altLang="en-US" sz="3000" b="1" dirty="0">
                <a:solidFill>
                  <a:schemeClr val="bg1"/>
                </a:solidFill>
                <a:latin typeface="DengXian" panose="02010600030101010101" pitchFamily="2" charset="-122"/>
                <a:ea typeface="DengXian" panose="02010600030101010101" pitchFamily="2" charset="-122"/>
              </a:rPr>
              <a:t>第一部分</a:t>
            </a:r>
          </a:p>
        </p:txBody>
      </p:sp>
      <p:sp>
        <p:nvSpPr>
          <p:cNvPr id="11" name="矩形 10"/>
          <p:cNvSpPr/>
          <p:nvPr/>
        </p:nvSpPr>
        <p:spPr>
          <a:xfrm>
            <a:off x="3302392" y="1851670"/>
            <a:ext cx="305972"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dirty="0"/>
          </a:p>
        </p:txBody>
      </p:sp>
      <p:sp>
        <p:nvSpPr>
          <p:cNvPr id="13" name="文本框 12"/>
          <p:cNvSpPr txBox="1"/>
          <p:nvPr/>
        </p:nvSpPr>
        <p:spPr>
          <a:xfrm>
            <a:off x="4358608" y="2087852"/>
            <a:ext cx="2228815" cy="684803"/>
          </a:xfrm>
          <a:prstGeom prst="rect">
            <a:avLst/>
          </a:prstGeom>
          <a:noFill/>
        </p:spPr>
        <p:txBody>
          <a:bodyPr wrap="none" lIns="68580" tIns="34290" rIns="68580" bIns="34290" rtlCol="0">
            <a:spAutoFit/>
          </a:bodyPr>
          <a:lstStyle/>
          <a:p>
            <a:r>
              <a:rPr lang="zh-CN" altLang="en-US" sz="4000" b="1" dirty="0">
                <a:solidFill>
                  <a:srgbClr val="112F70"/>
                </a:solidFill>
                <a:latin typeface="DengXian Light" panose="02010600030101010101" pitchFamily="2" charset="-122"/>
                <a:ea typeface="DengXian Light" panose="02010600030101010101" pitchFamily="2" charset="-122"/>
              </a:rPr>
              <a:t>选题背景</a:t>
            </a:r>
            <a:endParaRPr lang="zh-CN" altLang="en-US" sz="4000" dirty="0">
              <a:solidFill>
                <a:srgbClr val="112F70"/>
              </a:solidFill>
              <a:latin typeface="微软雅黑" pitchFamily="34" charset="-122"/>
              <a:ea typeface="微软雅黑" pitchFamily="34" charset="-122"/>
            </a:endParaRPr>
          </a:p>
        </p:txBody>
      </p:sp>
      <p:pic>
        <p:nvPicPr>
          <p:cNvPr id="4" name="图形 38">
            <a:extLst>
              <a:ext uri="{FF2B5EF4-FFF2-40B4-BE49-F238E27FC236}">
                <a16:creationId xmlns:a16="http://schemas.microsoft.com/office/drawing/2014/main" id="{2D76D2FC-3260-5514-FEB3-792503370882}"/>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t="30918" b="33627"/>
          <a:stretch>
            <a:fillRect/>
          </a:stretch>
        </p:blipFill>
        <p:spPr>
          <a:xfrm>
            <a:off x="0" y="123478"/>
            <a:ext cx="3092450" cy="822325"/>
          </a:xfrm>
          <a:prstGeom prst="rect">
            <a:avLst/>
          </a:prstGeom>
        </p:spPr>
      </p:pic>
      <p:sp>
        <p:nvSpPr>
          <p:cNvPr id="7" name="矩形 6">
            <a:extLst>
              <a:ext uri="{FF2B5EF4-FFF2-40B4-BE49-F238E27FC236}">
                <a16:creationId xmlns:a16="http://schemas.microsoft.com/office/drawing/2014/main" id="{5ABB84EB-EEE1-0E03-D93D-196D864637C7}"/>
              </a:ext>
            </a:extLst>
          </p:cNvPr>
          <p:cNvSpPr/>
          <p:nvPr/>
        </p:nvSpPr>
        <p:spPr>
          <a:xfrm>
            <a:off x="3554104" y="1851670"/>
            <a:ext cx="5589896" cy="1188000"/>
          </a:xfrm>
          <a:prstGeom prst="rect">
            <a:avLst/>
          </a:prstGeom>
          <a:solidFill>
            <a:schemeClr val="tx1">
              <a:lumMod val="50000"/>
              <a:lumOff val="50000"/>
              <a:alpha val="229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 presetClass="entr" presetSubtype="1" fill="hold" grpId="0" nodeType="withEffect">
                                  <p:stCondLst>
                                    <p:cond delay="30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400" fill="hold"/>
                                        <p:tgtEl>
                                          <p:spTgt spid="11"/>
                                        </p:tgtEl>
                                        <p:attrNameLst>
                                          <p:attrName>ppt_x</p:attrName>
                                        </p:attrNameLst>
                                      </p:cBhvr>
                                      <p:tavLst>
                                        <p:tav tm="0">
                                          <p:val>
                                            <p:strVal val="#ppt_x"/>
                                          </p:val>
                                        </p:tav>
                                        <p:tav tm="100000">
                                          <p:val>
                                            <p:strVal val="#ppt_x"/>
                                          </p:val>
                                        </p:tav>
                                      </p:tavLst>
                                    </p:anim>
                                    <p:anim calcmode="lin" valueType="num">
                                      <p:cBhvr additive="base">
                                        <p:cTn id="11" dur="4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选题背景</a:t>
            </a:r>
          </a:p>
        </p:txBody>
      </p:sp>
      <p:sp>
        <p:nvSpPr>
          <p:cNvPr id="72" name="矩形 71"/>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b="1"/>
          </a:p>
        </p:txBody>
      </p:sp>
      <p:sp>
        <p:nvSpPr>
          <p:cNvPr id="73" name="矩形 72"/>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b="1"/>
          </a:p>
        </p:txBody>
      </p:sp>
      <p:grpSp>
        <p:nvGrpSpPr>
          <p:cNvPr id="74" name="组合 73"/>
          <p:cNvGrpSpPr/>
          <p:nvPr/>
        </p:nvGrpSpPr>
        <p:grpSpPr>
          <a:xfrm>
            <a:off x="980799" y="610352"/>
            <a:ext cx="4982927" cy="1347853"/>
            <a:chOff x="544923" y="2418093"/>
            <a:chExt cx="4750103" cy="2270923"/>
          </a:xfrm>
        </p:grpSpPr>
        <p:sp>
          <p:nvSpPr>
            <p:cNvPr id="75" name="矩形 74"/>
            <p:cNvSpPr/>
            <p:nvPr/>
          </p:nvSpPr>
          <p:spPr>
            <a:xfrm>
              <a:off x="544923" y="2787425"/>
              <a:ext cx="4750103" cy="1901591"/>
            </a:xfrm>
            <a:prstGeom prst="rect">
              <a:avLst/>
            </a:prstGeom>
            <a:noFill/>
          </p:spPr>
          <p:txBody>
            <a:bodyPr wrap="square">
              <a:spAutoFit/>
            </a:bodyPr>
            <a:lstStyle/>
            <a:p>
              <a:pPr>
                <a:lnSpc>
                  <a:spcPct val="150000"/>
                </a:lnSpc>
              </a:pPr>
              <a:r>
                <a:rPr lang="zh-CN" altLang="en-US" sz="1200" dirty="0">
                  <a:solidFill>
                    <a:sysClr val="windowText" lastClr="000000"/>
                  </a:solidFill>
                  <a:latin typeface="微软雅黑" pitchFamily="34" charset="-122"/>
                  <a:ea typeface="微软雅黑" pitchFamily="34" charset="-122"/>
                  <a:cs typeface="Arial" panose="020B0604020202020204" pitchFamily="34" charset="0"/>
                </a:rPr>
                <a:t>选题来源导师的环卫企业横向合作项目。该企业主要负责城市道路的清扫保洁、垃圾转运等环卫服务，其运营车辆包含新能源环卫专用车，包含纯电动清扫车、高压清洗车、压缩式垃圾车等多种类型。</a:t>
              </a:r>
            </a:p>
            <a:p>
              <a:pPr>
                <a:lnSpc>
                  <a:spcPct val="150000"/>
                </a:lnSpc>
              </a:pPr>
              <a:endPar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endParaRPr>
            </a:p>
          </p:txBody>
        </p:sp>
        <p:sp>
          <p:nvSpPr>
            <p:cNvPr id="76" name="文本框 26"/>
            <p:cNvSpPr txBox="1"/>
            <p:nvPr/>
          </p:nvSpPr>
          <p:spPr>
            <a:xfrm>
              <a:off x="544923" y="2418093"/>
              <a:ext cx="860628" cy="410369"/>
            </a:xfrm>
            <a:prstGeom prst="rect">
              <a:avLst/>
            </a:prstGeom>
            <a:noFill/>
          </p:spPr>
          <p:txBody>
            <a:bodyPr wrap="none" rtlCol="0">
              <a:spAutoFit/>
            </a:bodyPr>
            <a:lstStyle/>
            <a:p>
              <a:r>
                <a:rPr lang="zh-CN" altLang="en-US" sz="1400" b="1" dirty="0">
                  <a:solidFill>
                    <a:srgbClr val="112F70"/>
                  </a:solidFill>
                  <a:latin typeface="微软雅黑" pitchFamily="34" charset="-122"/>
                  <a:ea typeface="微软雅黑" pitchFamily="34" charset="-122"/>
                </a:rPr>
                <a:t>项目介绍</a:t>
              </a:r>
            </a:p>
          </p:txBody>
        </p:sp>
      </p:grpSp>
      <p:grpSp>
        <p:nvGrpSpPr>
          <p:cNvPr id="77" name="组合 76"/>
          <p:cNvGrpSpPr/>
          <p:nvPr/>
        </p:nvGrpSpPr>
        <p:grpSpPr>
          <a:xfrm>
            <a:off x="986615" y="1929627"/>
            <a:ext cx="4977111" cy="3660682"/>
            <a:chOff x="544923" y="2418093"/>
            <a:chExt cx="5299917" cy="4880910"/>
          </a:xfrm>
        </p:grpSpPr>
        <p:sp>
          <p:nvSpPr>
            <p:cNvPr id="78" name="矩形 77"/>
            <p:cNvSpPr/>
            <p:nvPr/>
          </p:nvSpPr>
          <p:spPr>
            <a:xfrm>
              <a:off x="544923" y="2787425"/>
              <a:ext cx="5299917" cy="4511578"/>
            </a:xfrm>
            <a:prstGeom prst="rect">
              <a:avLst/>
            </a:prstGeom>
            <a:noFill/>
          </p:spPr>
          <p:txBody>
            <a:bodyPr wrap="square">
              <a:spAutoFit/>
            </a:bodyPr>
            <a:lstStyle/>
            <a:p>
              <a:pPr>
                <a:lnSpc>
                  <a:spcPct val="150000"/>
                </a:lnSpc>
              </a:pPr>
              <a:r>
                <a:rPr lang="en-US" altLang="zh-CN" sz="1200" dirty="0">
                  <a:solidFill>
                    <a:schemeClr val="tx1">
                      <a:lumMod val="95000"/>
                      <a:lumOff val="5000"/>
                    </a:schemeClr>
                  </a:solidFill>
                  <a:latin typeface="微软雅黑" pitchFamily="34" charset="-122"/>
                  <a:ea typeface="微软雅黑" pitchFamily="34" charset="-122"/>
                  <a:cs typeface="Arial" panose="020B0604020202020204" pitchFamily="34" charset="0"/>
                </a:rPr>
                <a:t>1.</a:t>
              </a:r>
              <a:r>
                <a:rPr lang="zh-CN" altLang="en-US" sz="1200" dirty="0">
                  <a:solidFill>
                    <a:schemeClr val="tx2"/>
                  </a:solidFill>
                  <a:latin typeface="微软雅黑" pitchFamily="34" charset="-122"/>
                  <a:ea typeface="微软雅黑" pitchFamily="34" charset="-122"/>
                  <a:cs typeface="Arial" panose="020B0604020202020204" pitchFamily="34" charset="0"/>
                </a:rPr>
                <a:t>车辆维修成本高：</a:t>
              </a:r>
              <a:r>
                <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rPr>
                <a:t>每辆车的年均维修成本超一万元，某项目年度车辆维修成本约</a:t>
              </a:r>
              <a:r>
                <a:rPr lang="en-US" altLang="zh-CN" sz="1200" dirty="0">
                  <a:solidFill>
                    <a:schemeClr val="tx1">
                      <a:lumMod val="95000"/>
                      <a:lumOff val="5000"/>
                    </a:schemeClr>
                  </a:solidFill>
                  <a:latin typeface="微软雅黑" pitchFamily="34" charset="-122"/>
                  <a:ea typeface="微软雅黑" pitchFamily="34" charset="-122"/>
                  <a:cs typeface="Arial" panose="020B0604020202020204" pitchFamily="34" charset="0"/>
                </a:rPr>
                <a:t>250</a:t>
              </a:r>
              <a:r>
                <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rPr>
                <a:t>万元。其中很多由于是</a:t>
              </a:r>
              <a:r>
                <a:rPr lang="zh-CN" altLang="en-US" sz="1200" dirty="0">
                  <a:solidFill>
                    <a:schemeClr val="tx2"/>
                  </a:solidFill>
                  <a:latin typeface="微软雅黑" pitchFamily="34" charset="-122"/>
                  <a:ea typeface="微软雅黑" pitchFamily="34" charset="-122"/>
                  <a:cs typeface="Arial" panose="020B0604020202020204" pitchFamily="34" charset="0"/>
                </a:rPr>
                <a:t>频繁的故障处理</a:t>
              </a:r>
              <a:r>
                <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rPr>
                <a:t>与</a:t>
              </a:r>
              <a:r>
                <a:rPr lang="zh-CN" altLang="en-US" sz="1200" dirty="0">
                  <a:solidFill>
                    <a:schemeClr val="tx2"/>
                  </a:solidFill>
                  <a:latin typeface="微软雅黑" pitchFamily="34" charset="-122"/>
                  <a:ea typeface="微软雅黑" pitchFamily="34" charset="-122"/>
                  <a:cs typeface="Arial" panose="020B0604020202020204" pitchFamily="34" charset="0"/>
                </a:rPr>
                <a:t>重复性</a:t>
              </a:r>
              <a:r>
                <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rPr>
                <a:t>问题。</a:t>
              </a:r>
              <a:endParaRPr lang="en-US" altLang="zh-CN" sz="1200" dirty="0">
                <a:solidFill>
                  <a:schemeClr val="tx1">
                    <a:lumMod val="95000"/>
                    <a:lumOff val="5000"/>
                  </a:schemeClr>
                </a:solidFill>
                <a:latin typeface="微软雅黑" pitchFamily="34" charset="-122"/>
                <a:ea typeface="微软雅黑" pitchFamily="34" charset="-122"/>
                <a:cs typeface="Arial" panose="020B0604020202020204" pitchFamily="34" charset="0"/>
              </a:endParaRPr>
            </a:p>
            <a:p>
              <a:pPr>
                <a:lnSpc>
                  <a:spcPct val="150000"/>
                </a:lnSpc>
              </a:pPr>
              <a:endParaRPr lang="en-US" altLang="zh-CN" sz="1200" dirty="0">
                <a:solidFill>
                  <a:schemeClr val="tx1">
                    <a:lumMod val="95000"/>
                    <a:lumOff val="5000"/>
                  </a:schemeClr>
                </a:solidFill>
                <a:latin typeface="微软雅黑" pitchFamily="34" charset="-122"/>
                <a:ea typeface="微软雅黑" pitchFamily="34" charset="-122"/>
                <a:cs typeface="Arial" panose="020B0604020202020204" pitchFamily="34" charset="0"/>
              </a:endParaRPr>
            </a:p>
            <a:p>
              <a:pPr>
                <a:lnSpc>
                  <a:spcPct val="150000"/>
                </a:lnSpc>
              </a:pPr>
              <a:r>
                <a:rPr lang="en-US" altLang="zh-CN" sz="1200" dirty="0">
                  <a:solidFill>
                    <a:schemeClr val="tx1">
                      <a:lumMod val="95000"/>
                      <a:lumOff val="5000"/>
                    </a:schemeClr>
                  </a:solidFill>
                  <a:latin typeface="微软雅黑" pitchFamily="34" charset="-122"/>
                  <a:ea typeface="微软雅黑" pitchFamily="34" charset="-122"/>
                  <a:cs typeface="Arial" panose="020B0604020202020204" pitchFamily="34" charset="0"/>
                </a:rPr>
                <a:t>2.</a:t>
              </a:r>
              <a:r>
                <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rPr>
                <a:t>维修工培训周期长，技能掌握慢，容易造成</a:t>
              </a:r>
              <a:r>
                <a:rPr lang="zh-CN" altLang="en-US" sz="1200" dirty="0">
                  <a:solidFill>
                    <a:schemeClr val="tx2"/>
                  </a:solidFill>
                  <a:latin typeface="微软雅黑" pitchFamily="34" charset="-122"/>
                  <a:ea typeface="微软雅黑" pitchFamily="34" charset="-122"/>
                  <a:cs typeface="Arial" panose="020B0604020202020204" pitchFamily="34" charset="0"/>
                </a:rPr>
                <a:t>误判与配件浪费</a:t>
              </a:r>
              <a:r>
                <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rPr>
                <a:t>。经验型员工离职后知识难以传承，新员工面对车辆故障</a:t>
              </a:r>
              <a:r>
                <a:rPr lang="zh-CN" altLang="en-US" sz="1200" dirty="0">
                  <a:solidFill>
                    <a:schemeClr val="tx2"/>
                  </a:solidFill>
                  <a:latin typeface="微软雅黑" pitchFamily="34" charset="-122"/>
                  <a:ea typeface="微软雅黑" pitchFamily="34" charset="-122"/>
                  <a:cs typeface="Arial" panose="020B0604020202020204" pitchFamily="34" charset="0"/>
                </a:rPr>
                <a:t>缺乏指导</a:t>
              </a:r>
              <a:r>
                <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rPr>
                <a:t>，学习曲线陡峭。</a:t>
              </a:r>
              <a:endParaRPr lang="en-US" altLang="zh-CN" sz="1200" dirty="0">
                <a:solidFill>
                  <a:schemeClr val="tx1">
                    <a:lumMod val="95000"/>
                    <a:lumOff val="5000"/>
                  </a:schemeClr>
                </a:solidFill>
                <a:latin typeface="微软雅黑" pitchFamily="34" charset="-122"/>
                <a:ea typeface="微软雅黑" pitchFamily="34" charset="-122"/>
                <a:cs typeface="Arial" panose="020B0604020202020204" pitchFamily="34" charset="0"/>
              </a:endParaRPr>
            </a:p>
            <a:p>
              <a:pPr>
                <a:lnSpc>
                  <a:spcPct val="150000"/>
                </a:lnSpc>
              </a:pPr>
              <a:endParaRPr lang="en-US" altLang="zh-CN" sz="1200" dirty="0">
                <a:solidFill>
                  <a:schemeClr val="tx1">
                    <a:lumMod val="95000"/>
                    <a:lumOff val="5000"/>
                  </a:schemeClr>
                </a:solidFill>
                <a:latin typeface="微软雅黑" pitchFamily="34" charset="-122"/>
                <a:ea typeface="微软雅黑" pitchFamily="34" charset="-122"/>
                <a:cs typeface="Arial" panose="020B0604020202020204" pitchFamily="34" charset="0"/>
              </a:endParaRPr>
            </a:p>
            <a:p>
              <a:pPr>
                <a:lnSpc>
                  <a:spcPct val="150000"/>
                </a:lnSpc>
              </a:pPr>
              <a:r>
                <a:rPr lang="en-US" altLang="zh-CN" sz="1200" dirty="0">
                  <a:solidFill>
                    <a:schemeClr val="tx1">
                      <a:lumMod val="95000"/>
                      <a:lumOff val="5000"/>
                    </a:schemeClr>
                  </a:solidFill>
                  <a:latin typeface="微软雅黑" pitchFamily="34" charset="-122"/>
                  <a:ea typeface="微软雅黑" pitchFamily="34" charset="-122"/>
                  <a:cs typeface="Arial" panose="020B0604020202020204" pitchFamily="34" charset="0"/>
                </a:rPr>
                <a:t>3.</a:t>
              </a:r>
              <a:r>
                <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rPr>
                <a:t>多数一线维修人员依赖经验，</a:t>
              </a:r>
              <a:r>
                <a:rPr lang="zh-CN" altLang="en-US" sz="1200" dirty="0">
                  <a:solidFill>
                    <a:schemeClr val="tx2"/>
                  </a:solidFill>
                  <a:latin typeface="微软雅黑" pitchFamily="34" charset="-122"/>
                  <a:ea typeface="微软雅黑" pitchFamily="34" charset="-122"/>
                  <a:cs typeface="Arial" panose="020B0604020202020204" pitchFamily="34" charset="0"/>
                </a:rPr>
                <a:t>缺乏系统化、易获取的知识支持工具。</a:t>
              </a:r>
              <a:r>
                <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rPr>
                <a:t>手册资料分散、查阅不便，无法满足实际维修场景中的</a:t>
              </a:r>
              <a:r>
                <a:rPr lang="zh-CN" altLang="en-US" sz="1200" dirty="0">
                  <a:solidFill>
                    <a:schemeClr val="tx2"/>
                  </a:solidFill>
                  <a:latin typeface="微软雅黑" pitchFamily="34" charset="-122"/>
                  <a:ea typeface="微软雅黑" pitchFamily="34" charset="-122"/>
                  <a:cs typeface="Arial" panose="020B0604020202020204" pitchFamily="34" charset="0"/>
                </a:rPr>
                <a:t>即时知识需求</a:t>
              </a:r>
              <a:r>
                <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rPr>
                <a:t>。</a:t>
              </a:r>
            </a:p>
            <a:p>
              <a:pPr>
                <a:lnSpc>
                  <a:spcPct val="150000"/>
                </a:lnSpc>
              </a:pPr>
              <a:endPar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endParaRPr>
            </a:p>
            <a:p>
              <a:pPr>
                <a:lnSpc>
                  <a:spcPct val="150000"/>
                </a:lnSpc>
              </a:pPr>
              <a:endPar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endParaRPr>
            </a:p>
            <a:p>
              <a:pPr>
                <a:lnSpc>
                  <a:spcPct val="150000"/>
                </a:lnSpc>
              </a:pPr>
              <a:endParaRPr lang="zh-CN" altLang="en-US" sz="1200" dirty="0">
                <a:solidFill>
                  <a:schemeClr val="tx1">
                    <a:lumMod val="95000"/>
                    <a:lumOff val="5000"/>
                  </a:schemeClr>
                </a:solidFill>
                <a:latin typeface="微软雅黑" pitchFamily="34" charset="-122"/>
                <a:ea typeface="微软雅黑" pitchFamily="34" charset="-122"/>
                <a:cs typeface="Arial" panose="020B0604020202020204" pitchFamily="34" charset="0"/>
              </a:endParaRPr>
            </a:p>
          </p:txBody>
        </p:sp>
        <p:sp>
          <p:nvSpPr>
            <p:cNvPr id="79" name="文本框 30"/>
            <p:cNvSpPr txBox="1"/>
            <p:nvPr/>
          </p:nvSpPr>
          <p:spPr>
            <a:xfrm>
              <a:off x="544923" y="2418093"/>
              <a:ext cx="1203748" cy="410369"/>
            </a:xfrm>
            <a:prstGeom prst="rect">
              <a:avLst/>
            </a:prstGeom>
            <a:noFill/>
          </p:spPr>
          <p:txBody>
            <a:bodyPr wrap="none" rtlCol="0">
              <a:spAutoFit/>
            </a:bodyPr>
            <a:lstStyle/>
            <a:p>
              <a:r>
                <a:rPr lang="zh-CN" altLang="en-US" sz="1400" b="1" dirty="0">
                  <a:solidFill>
                    <a:srgbClr val="112F70"/>
                  </a:solidFill>
                  <a:latin typeface="微软雅黑" pitchFamily="34" charset="-122"/>
                  <a:ea typeface="微软雅黑" pitchFamily="34" charset="-122"/>
                </a:rPr>
                <a:t>企业痛点</a:t>
              </a:r>
            </a:p>
          </p:txBody>
        </p:sp>
      </p:grpSp>
      <p:sp>
        <p:nvSpPr>
          <p:cNvPr id="83" name="环形箭头 5"/>
          <p:cNvSpPr/>
          <p:nvPr/>
        </p:nvSpPr>
        <p:spPr>
          <a:xfrm>
            <a:off x="6893999" y="2335505"/>
            <a:ext cx="2039323" cy="2039322"/>
          </a:xfrm>
          <a:prstGeom prst="circularArrow">
            <a:avLst>
              <a:gd name="adj1" fmla="val 4688"/>
              <a:gd name="adj2" fmla="val 299029"/>
              <a:gd name="adj3" fmla="val 2539295"/>
              <a:gd name="adj4" fmla="val 15812321"/>
              <a:gd name="adj5" fmla="val 5469"/>
            </a:avLst>
          </a:prstGeom>
          <a:solidFill>
            <a:srgbClr val="112F70"/>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p>
        </p:txBody>
      </p:sp>
      <p:sp>
        <p:nvSpPr>
          <p:cNvPr id="84" name="形状 83"/>
          <p:cNvSpPr/>
          <p:nvPr/>
        </p:nvSpPr>
        <p:spPr>
          <a:xfrm>
            <a:off x="5877028" y="1944333"/>
            <a:ext cx="1481695" cy="1481695"/>
          </a:xfrm>
          <a:prstGeom prst="leftCircularArrow">
            <a:avLst>
              <a:gd name="adj1" fmla="val 6452"/>
              <a:gd name="adj2" fmla="val 429999"/>
              <a:gd name="adj3" fmla="val 10489124"/>
              <a:gd name="adj4" fmla="val 14837806"/>
              <a:gd name="adj5" fmla="val 7527"/>
            </a:avLst>
          </a:prstGeom>
          <a:solidFill>
            <a:srgbClr val="112F70"/>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p>
        </p:txBody>
      </p:sp>
      <p:sp>
        <p:nvSpPr>
          <p:cNvPr id="85" name="环形箭头 7"/>
          <p:cNvSpPr/>
          <p:nvPr/>
        </p:nvSpPr>
        <p:spPr>
          <a:xfrm>
            <a:off x="6468621" y="1152650"/>
            <a:ext cx="1597566" cy="1597565"/>
          </a:xfrm>
          <a:prstGeom prst="circularArrow">
            <a:avLst>
              <a:gd name="adj1" fmla="val 5984"/>
              <a:gd name="adj2" fmla="val 394124"/>
              <a:gd name="adj3" fmla="val 13313824"/>
              <a:gd name="adj4" fmla="val 10508221"/>
              <a:gd name="adj5" fmla="val 6981"/>
            </a:avLst>
          </a:prstGeom>
          <a:solidFill>
            <a:srgbClr val="112F70"/>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p>
        </p:txBody>
      </p:sp>
      <p:sp>
        <p:nvSpPr>
          <p:cNvPr id="86" name="Freeform 12"/>
          <p:cNvSpPr/>
          <p:nvPr/>
        </p:nvSpPr>
        <p:spPr bwMode="auto">
          <a:xfrm>
            <a:off x="6672331" y="2477069"/>
            <a:ext cx="264779" cy="264778"/>
          </a:xfrm>
          <a:custGeom>
            <a:avLst/>
            <a:gdLst>
              <a:gd name="T0" fmla="*/ 0 w 47"/>
              <a:gd name="T1" fmla="*/ 0 h 47"/>
              <a:gd name="T2" fmla="*/ 0 w 47"/>
              <a:gd name="T3" fmla="*/ 47 h 47"/>
              <a:gd name="T4" fmla="*/ 47 w 47"/>
              <a:gd name="T5" fmla="*/ 47 h 47"/>
              <a:gd name="T6" fmla="*/ 0 w 47"/>
              <a:gd name="T7" fmla="*/ 0 h 47"/>
            </a:gdLst>
            <a:ahLst/>
            <a:cxnLst>
              <a:cxn ang="0">
                <a:pos x="T0" y="T1"/>
              </a:cxn>
              <a:cxn ang="0">
                <a:pos x="T2" y="T3"/>
              </a:cxn>
              <a:cxn ang="0">
                <a:pos x="T4" y="T5"/>
              </a:cxn>
              <a:cxn ang="0">
                <a:pos x="T6" y="T7"/>
              </a:cxn>
            </a:cxnLst>
            <a:rect l="0" t="0" r="r" b="b"/>
            <a:pathLst>
              <a:path w="47" h="47">
                <a:moveTo>
                  <a:pt x="0" y="0"/>
                </a:moveTo>
                <a:cubicBezTo>
                  <a:pt x="0" y="47"/>
                  <a:pt x="0" y="47"/>
                  <a:pt x="0" y="47"/>
                </a:cubicBezTo>
                <a:cubicBezTo>
                  <a:pt x="47" y="47"/>
                  <a:pt x="47" y="47"/>
                  <a:pt x="47" y="47"/>
                </a:cubicBezTo>
                <a:cubicBezTo>
                  <a:pt x="47" y="21"/>
                  <a:pt x="26" y="0"/>
                  <a:pt x="0" y="0"/>
                </a:cubicBezTo>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7" name="Freeform 10"/>
          <p:cNvSpPr/>
          <p:nvPr/>
        </p:nvSpPr>
        <p:spPr bwMode="auto">
          <a:xfrm>
            <a:off x="7138593" y="1657233"/>
            <a:ext cx="232276" cy="106619"/>
          </a:xfrm>
          <a:custGeom>
            <a:avLst/>
            <a:gdLst>
              <a:gd name="T0" fmla="*/ 43 w 50"/>
              <a:gd name="T1" fmla="*/ 22 h 23"/>
              <a:gd name="T2" fmla="*/ 50 w 50"/>
              <a:gd name="T3" fmla="*/ 0 h 23"/>
              <a:gd name="T4" fmla="*/ 15 w 50"/>
              <a:gd name="T5" fmla="*/ 0 h 23"/>
              <a:gd name="T6" fmla="*/ 20 w 50"/>
              <a:gd name="T7" fmla="*/ 21 h 23"/>
              <a:gd name="T8" fmla="*/ 0 w 50"/>
              <a:gd name="T9" fmla="*/ 11 h 23"/>
              <a:gd name="T10" fmla="*/ 1 w 50"/>
              <a:gd name="T11" fmla="*/ 14 h 23"/>
              <a:gd name="T12" fmla="*/ 19 w 50"/>
              <a:gd name="T13" fmla="*/ 23 h 23"/>
              <a:gd name="T14" fmla="*/ 20 w 50"/>
              <a:gd name="T15" fmla="*/ 22 h 23"/>
              <a:gd name="T16" fmla="*/ 43 w 50"/>
              <a:gd name="T17"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23">
                <a:moveTo>
                  <a:pt x="43" y="22"/>
                </a:moveTo>
                <a:cubicBezTo>
                  <a:pt x="50" y="0"/>
                  <a:pt x="50" y="0"/>
                  <a:pt x="50" y="0"/>
                </a:cubicBezTo>
                <a:cubicBezTo>
                  <a:pt x="15" y="0"/>
                  <a:pt x="15" y="0"/>
                  <a:pt x="15" y="0"/>
                </a:cubicBezTo>
                <a:cubicBezTo>
                  <a:pt x="20" y="21"/>
                  <a:pt x="20" y="21"/>
                  <a:pt x="20" y="21"/>
                </a:cubicBezTo>
                <a:cubicBezTo>
                  <a:pt x="17" y="17"/>
                  <a:pt x="8" y="8"/>
                  <a:pt x="0" y="11"/>
                </a:cubicBezTo>
                <a:cubicBezTo>
                  <a:pt x="1" y="14"/>
                  <a:pt x="1" y="14"/>
                  <a:pt x="1" y="14"/>
                </a:cubicBezTo>
                <a:cubicBezTo>
                  <a:pt x="8" y="11"/>
                  <a:pt x="16" y="20"/>
                  <a:pt x="19" y="23"/>
                </a:cubicBezTo>
                <a:cubicBezTo>
                  <a:pt x="20" y="22"/>
                  <a:pt x="20" y="22"/>
                  <a:pt x="20" y="22"/>
                </a:cubicBezTo>
                <a:lnTo>
                  <a:pt x="43" y="2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95000"/>
                  <a:lumOff val="5000"/>
                </a:schemeClr>
              </a:solidFill>
            </a:endParaRPr>
          </a:p>
        </p:txBody>
      </p:sp>
      <p:grpSp>
        <p:nvGrpSpPr>
          <p:cNvPr id="88" name="组合 87"/>
          <p:cNvGrpSpPr/>
          <p:nvPr/>
        </p:nvGrpSpPr>
        <p:grpSpPr>
          <a:xfrm>
            <a:off x="6113615" y="1266430"/>
            <a:ext cx="2520186" cy="2896764"/>
            <a:chOff x="5548730" y="1501755"/>
            <a:chExt cx="2520186" cy="2896764"/>
          </a:xfrm>
        </p:grpSpPr>
        <p:sp>
          <p:nvSpPr>
            <p:cNvPr id="89" name="任意多边形 2"/>
            <p:cNvSpPr/>
            <p:nvPr/>
          </p:nvSpPr>
          <p:spPr>
            <a:xfrm>
              <a:off x="6475695" y="2805299"/>
              <a:ext cx="1593221" cy="1593220"/>
            </a:xfrm>
            <a:custGeom>
              <a:avLst/>
              <a:gdLst>
                <a:gd name="connsiteX0" fmla="*/ 2115406 w 2980266"/>
                <a:gd name="connsiteY0" fmla="*/ 475169 h 2980266"/>
                <a:gd name="connsiteX1" fmla="*/ 2347223 w 2980266"/>
                <a:gd name="connsiteY1" fmla="*/ 280641 h 2980266"/>
                <a:gd name="connsiteX2" fmla="*/ 2532418 w 2980266"/>
                <a:gd name="connsiteY2" fmla="*/ 436038 h 2980266"/>
                <a:gd name="connsiteX3" fmla="*/ 2381100 w 2980266"/>
                <a:gd name="connsiteY3" fmla="*/ 698113 h 2980266"/>
                <a:gd name="connsiteX4" fmla="*/ 2621526 w 2980266"/>
                <a:gd name="connsiteY4" fmla="*/ 1114543 h 2980266"/>
                <a:gd name="connsiteX5" fmla="*/ 2924149 w 2980266"/>
                <a:gd name="connsiteY5" fmla="*/ 1114535 h 2980266"/>
                <a:gd name="connsiteX6" fmla="*/ 2966129 w 2980266"/>
                <a:gd name="connsiteY6" fmla="*/ 1352617 h 2980266"/>
                <a:gd name="connsiteX7" fmla="*/ 2681754 w 2980266"/>
                <a:gd name="connsiteY7" fmla="*/ 1456113 h 2980266"/>
                <a:gd name="connsiteX8" fmla="*/ 2598255 w 2980266"/>
                <a:gd name="connsiteY8" fmla="*/ 1929659 h 2980266"/>
                <a:gd name="connsiteX9" fmla="*/ 2830082 w 2980266"/>
                <a:gd name="connsiteY9" fmla="*/ 2124176 h 2980266"/>
                <a:gd name="connsiteX10" fmla="*/ 2709205 w 2980266"/>
                <a:gd name="connsiteY10" fmla="*/ 2333542 h 2980266"/>
                <a:gd name="connsiteX11" fmla="*/ 2424835 w 2980266"/>
                <a:gd name="connsiteY11" fmla="*/ 2230031 h 2980266"/>
                <a:gd name="connsiteX12" fmla="*/ 2056481 w 2980266"/>
                <a:gd name="connsiteY12" fmla="*/ 2539116 h 2980266"/>
                <a:gd name="connsiteX13" fmla="*/ 2109039 w 2980266"/>
                <a:gd name="connsiteY13" fmla="*/ 2837141 h 2980266"/>
                <a:gd name="connsiteX14" fmla="*/ 1881863 w 2980266"/>
                <a:gd name="connsiteY14" fmla="*/ 2919826 h 2980266"/>
                <a:gd name="connsiteX15" fmla="*/ 1730559 w 2980266"/>
                <a:gd name="connsiteY15" fmla="*/ 2657743 h 2980266"/>
                <a:gd name="connsiteX16" fmla="*/ 1249707 w 2980266"/>
                <a:gd name="connsiteY16" fmla="*/ 2657743 h 2980266"/>
                <a:gd name="connsiteX17" fmla="*/ 1098403 w 2980266"/>
                <a:gd name="connsiteY17" fmla="*/ 2919826 h 2980266"/>
                <a:gd name="connsiteX18" fmla="*/ 871227 w 2980266"/>
                <a:gd name="connsiteY18" fmla="*/ 2837141 h 2980266"/>
                <a:gd name="connsiteX19" fmla="*/ 923785 w 2980266"/>
                <a:gd name="connsiteY19" fmla="*/ 2539117 h 2980266"/>
                <a:gd name="connsiteX20" fmla="*/ 555431 w 2980266"/>
                <a:gd name="connsiteY20" fmla="*/ 2230032 h 2980266"/>
                <a:gd name="connsiteX21" fmla="*/ 271061 w 2980266"/>
                <a:gd name="connsiteY21" fmla="*/ 2333542 h 2980266"/>
                <a:gd name="connsiteX22" fmla="*/ 150184 w 2980266"/>
                <a:gd name="connsiteY22" fmla="*/ 2124176 h 2980266"/>
                <a:gd name="connsiteX23" fmla="*/ 382011 w 2980266"/>
                <a:gd name="connsiteY23" fmla="*/ 1929660 h 2980266"/>
                <a:gd name="connsiteX24" fmla="*/ 298512 w 2980266"/>
                <a:gd name="connsiteY24" fmla="*/ 1456114 h 2980266"/>
                <a:gd name="connsiteX25" fmla="*/ 14137 w 2980266"/>
                <a:gd name="connsiteY25" fmla="*/ 1352617 h 2980266"/>
                <a:gd name="connsiteX26" fmla="*/ 56117 w 2980266"/>
                <a:gd name="connsiteY26" fmla="*/ 1114535 h 2980266"/>
                <a:gd name="connsiteX27" fmla="*/ 358740 w 2980266"/>
                <a:gd name="connsiteY27" fmla="*/ 1114543 h 2980266"/>
                <a:gd name="connsiteX28" fmla="*/ 599166 w 2980266"/>
                <a:gd name="connsiteY28" fmla="*/ 698113 h 2980266"/>
                <a:gd name="connsiteX29" fmla="*/ 447848 w 2980266"/>
                <a:gd name="connsiteY29" fmla="*/ 436038 h 2980266"/>
                <a:gd name="connsiteX30" fmla="*/ 633043 w 2980266"/>
                <a:gd name="connsiteY30" fmla="*/ 280641 h 2980266"/>
                <a:gd name="connsiteX31" fmla="*/ 864860 w 2980266"/>
                <a:gd name="connsiteY31" fmla="*/ 475169 h 2980266"/>
                <a:gd name="connsiteX32" fmla="*/ 1316713 w 2980266"/>
                <a:gd name="connsiteY32" fmla="*/ 310708 h 2980266"/>
                <a:gd name="connsiteX33" fmla="*/ 1369255 w 2980266"/>
                <a:gd name="connsiteY33" fmla="*/ 12681 h 2980266"/>
                <a:gd name="connsiteX34" fmla="*/ 1611011 w 2980266"/>
                <a:gd name="connsiteY34" fmla="*/ 12681 h 2980266"/>
                <a:gd name="connsiteX35" fmla="*/ 1663553 w 2980266"/>
                <a:gd name="connsiteY35" fmla="*/ 310708 h 2980266"/>
                <a:gd name="connsiteX36" fmla="*/ 2115406 w 2980266"/>
                <a:gd name="connsiteY36" fmla="*/ 475169 h 2980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80266" h="2980266">
                  <a:moveTo>
                    <a:pt x="2115406" y="475169"/>
                  </a:moveTo>
                  <a:lnTo>
                    <a:pt x="2347223" y="280641"/>
                  </a:lnTo>
                  <a:lnTo>
                    <a:pt x="2532418" y="436038"/>
                  </a:lnTo>
                  <a:lnTo>
                    <a:pt x="2381100" y="698113"/>
                  </a:lnTo>
                  <a:cubicBezTo>
                    <a:pt x="2488696" y="819151"/>
                    <a:pt x="2570502" y="960843"/>
                    <a:pt x="2621526" y="1114543"/>
                  </a:cubicBezTo>
                  <a:lnTo>
                    <a:pt x="2924149" y="1114535"/>
                  </a:lnTo>
                  <a:lnTo>
                    <a:pt x="2966129" y="1352617"/>
                  </a:lnTo>
                  <a:lnTo>
                    <a:pt x="2681754" y="1456113"/>
                  </a:lnTo>
                  <a:cubicBezTo>
                    <a:pt x="2686376" y="1617995"/>
                    <a:pt x="2657965" y="1779121"/>
                    <a:pt x="2598255" y="1929659"/>
                  </a:cubicBezTo>
                  <a:lnTo>
                    <a:pt x="2830082" y="2124176"/>
                  </a:lnTo>
                  <a:lnTo>
                    <a:pt x="2709205" y="2333542"/>
                  </a:lnTo>
                  <a:lnTo>
                    <a:pt x="2424835" y="2230031"/>
                  </a:lnTo>
                  <a:cubicBezTo>
                    <a:pt x="2324320" y="2357010"/>
                    <a:pt x="2198986" y="2462178"/>
                    <a:pt x="2056481" y="2539116"/>
                  </a:cubicBezTo>
                  <a:lnTo>
                    <a:pt x="2109039" y="2837141"/>
                  </a:lnTo>
                  <a:lnTo>
                    <a:pt x="1881863" y="2919826"/>
                  </a:lnTo>
                  <a:lnTo>
                    <a:pt x="1730559" y="2657743"/>
                  </a:lnTo>
                  <a:cubicBezTo>
                    <a:pt x="1571939" y="2690405"/>
                    <a:pt x="1408327" y="2690405"/>
                    <a:pt x="1249707" y="2657743"/>
                  </a:cubicBezTo>
                  <a:lnTo>
                    <a:pt x="1098403" y="2919826"/>
                  </a:lnTo>
                  <a:lnTo>
                    <a:pt x="871227" y="2837141"/>
                  </a:lnTo>
                  <a:lnTo>
                    <a:pt x="923785" y="2539117"/>
                  </a:lnTo>
                  <a:cubicBezTo>
                    <a:pt x="781280" y="2462179"/>
                    <a:pt x="655947" y="2357011"/>
                    <a:pt x="555431" y="2230032"/>
                  </a:cubicBezTo>
                  <a:lnTo>
                    <a:pt x="271061" y="2333542"/>
                  </a:lnTo>
                  <a:lnTo>
                    <a:pt x="150184" y="2124176"/>
                  </a:lnTo>
                  <a:lnTo>
                    <a:pt x="382011" y="1929660"/>
                  </a:lnTo>
                  <a:cubicBezTo>
                    <a:pt x="322301" y="1779122"/>
                    <a:pt x="293890" y="1617995"/>
                    <a:pt x="298512" y="1456114"/>
                  </a:cubicBezTo>
                  <a:lnTo>
                    <a:pt x="14137" y="1352617"/>
                  </a:lnTo>
                  <a:lnTo>
                    <a:pt x="56117" y="1114535"/>
                  </a:lnTo>
                  <a:lnTo>
                    <a:pt x="358740" y="1114543"/>
                  </a:lnTo>
                  <a:cubicBezTo>
                    <a:pt x="409764" y="960843"/>
                    <a:pt x="491570" y="819151"/>
                    <a:pt x="599166" y="698113"/>
                  </a:cubicBezTo>
                  <a:lnTo>
                    <a:pt x="447848" y="436038"/>
                  </a:lnTo>
                  <a:lnTo>
                    <a:pt x="633043" y="280641"/>
                  </a:lnTo>
                  <a:lnTo>
                    <a:pt x="864860" y="475169"/>
                  </a:lnTo>
                  <a:cubicBezTo>
                    <a:pt x="1002743" y="390226"/>
                    <a:pt x="1156488" y="334267"/>
                    <a:pt x="1316713" y="310708"/>
                  </a:cubicBezTo>
                  <a:lnTo>
                    <a:pt x="1369255" y="12681"/>
                  </a:lnTo>
                  <a:lnTo>
                    <a:pt x="1611011" y="12681"/>
                  </a:lnTo>
                  <a:lnTo>
                    <a:pt x="1663553" y="310708"/>
                  </a:lnTo>
                  <a:cubicBezTo>
                    <a:pt x="1823778" y="334267"/>
                    <a:pt x="1977523" y="390226"/>
                    <a:pt x="2115406" y="475169"/>
                  </a:cubicBezTo>
                  <a:close/>
                </a:path>
              </a:pathLst>
            </a:custGeom>
            <a:solidFill>
              <a:srgbClr val="112F7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61396" tIns="760343" rIns="661396" bIns="812465" numCol="1" spcCol="1270" anchor="ctr" anchorCtr="0">
              <a:noAutofit/>
            </a:bodyPr>
            <a:lstStyle/>
            <a:p>
              <a:pPr algn="ctr" defTabSz="1633855">
                <a:lnSpc>
                  <a:spcPct val="90000"/>
                </a:lnSpc>
                <a:spcBef>
                  <a:spcPct val="0"/>
                </a:spcBef>
                <a:spcAft>
                  <a:spcPct val="35000"/>
                </a:spcAft>
              </a:pPr>
              <a:endParaRPr lang="zh-CN" altLang="en-US" sz="3700"/>
            </a:p>
          </p:txBody>
        </p:sp>
        <p:sp>
          <p:nvSpPr>
            <p:cNvPr id="90" name="任意多边形 3"/>
            <p:cNvSpPr/>
            <p:nvPr/>
          </p:nvSpPr>
          <p:spPr>
            <a:xfrm>
              <a:off x="5548730" y="2428720"/>
              <a:ext cx="1158706" cy="1158705"/>
            </a:xfrm>
            <a:custGeom>
              <a:avLst/>
              <a:gdLst>
                <a:gd name="connsiteX0" fmla="*/ 1621800 w 2167466"/>
                <a:gd name="connsiteY0" fmla="*/ 548964 h 2167466"/>
                <a:gd name="connsiteX1" fmla="*/ 1941574 w 2167466"/>
                <a:gd name="connsiteY1" fmla="*/ 452590 h 2167466"/>
                <a:gd name="connsiteX2" fmla="*/ 2059240 w 2167466"/>
                <a:gd name="connsiteY2" fmla="*/ 656392 h 2167466"/>
                <a:gd name="connsiteX3" fmla="*/ 1815890 w 2167466"/>
                <a:gd name="connsiteY3" fmla="*/ 885138 h 2167466"/>
                <a:gd name="connsiteX4" fmla="*/ 1815890 w 2167466"/>
                <a:gd name="connsiteY4" fmla="*/ 1282328 h 2167466"/>
                <a:gd name="connsiteX5" fmla="*/ 2059240 w 2167466"/>
                <a:gd name="connsiteY5" fmla="*/ 1511074 h 2167466"/>
                <a:gd name="connsiteX6" fmla="*/ 1941574 w 2167466"/>
                <a:gd name="connsiteY6" fmla="*/ 1714876 h 2167466"/>
                <a:gd name="connsiteX7" fmla="*/ 1621800 w 2167466"/>
                <a:gd name="connsiteY7" fmla="*/ 1618502 h 2167466"/>
                <a:gd name="connsiteX8" fmla="*/ 1277823 w 2167466"/>
                <a:gd name="connsiteY8" fmla="*/ 1817097 h 2167466"/>
                <a:gd name="connsiteX9" fmla="*/ 1201398 w 2167466"/>
                <a:gd name="connsiteY9" fmla="*/ 2142217 h 2167466"/>
                <a:gd name="connsiteX10" fmla="*/ 966068 w 2167466"/>
                <a:gd name="connsiteY10" fmla="*/ 2142217 h 2167466"/>
                <a:gd name="connsiteX11" fmla="*/ 889643 w 2167466"/>
                <a:gd name="connsiteY11" fmla="*/ 1817097 h 2167466"/>
                <a:gd name="connsiteX12" fmla="*/ 545666 w 2167466"/>
                <a:gd name="connsiteY12" fmla="*/ 1618502 h 2167466"/>
                <a:gd name="connsiteX13" fmla="*/ 225892 w 2167466"/>
                <a:gd name="connsiteY13" fmla="*/ 1714876 h 2167466"/>
                <a:gd name="connsiteX14" fmla="*/ 108226 w 2167466"/>
                <a:gd name="connsiteY14" fmla="*/ 1511074 h 2167466"/>
                <a:gd name="connsiteX15" fmla="*/ 351576 w 2167466"/>
                <a:gd name="connsiteY15" fmla="*/ 1282328 h 2167466"/>
                <a:gd name="connsiteX16" fmla="*/ 351576 w 2167466"/>
                <a:gd name="connsiteY16" fmla="*/ 885138 h 2167466"/>
                <a:gd name="connsiteX17" fmla="*/ 108226 w 2167466"/>
                <a:gd name="connsiteY17" fmla="*/ 656392 h 2167466"/>
                <a:gd name="connsiteX18" fmla="*/ 225892 w 2167466"/>
                <a:gd name="connsiteY18" fmla="*/ 452590 h 2167466"/>
                <a:gd name="connsiteX19" fmla="*/ 545666 w 2167466"/>
                <a:gd name="connsiteY19" fmla="*/ 548964 h 2167466"/>
                <a:gd name="connsiteX20" fmla="*/ 889643 w 2167466"/>
                <a:gd name="connsiteY20" fmla="*/ 350369 h 2167466"/>
                <a:gd name="connsiteX21" fmla="*/ 966068 w 2167466"/>
                <a:gd name="connsiteY21" fmla="*/ 25249 h 2167466"/>
                <a:gd name="connsiteX22" fmla="*/ 1201398 w 2167466"/>
                <a:gd name="connsiteY22" fmla="*/ 25249 h 2167466"/>
                <a:gd name="connsiteX23" fmla="*/ 1277823 w 2167466"/>
                <a:gd name="connsiteY23" fmla="*/ 350369 h 2167466"/>
                <a:gd name="connsiteX24" fmla="*/ 1621800 w 2167466"/>
                <a:gd name="connsiteY24" fmla="*/ 548964 h 21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67466" h="2167466">
                  <a:moveTo>
                    <a:pt x="1621800" y="548964"/>
                  </a:moveTo>
                  <a:lnTo>
                    <a:pt x="1941574" y="452590"/>
                  </a:lnTo>
                  <a:lnTo>
                    <a:pt x="2059240" y="656392"/>
                  </a:lnTo>
                  <a:lnTo>
                    <a:pt x="1815890" y="885138"/>
                  </a:lnTo>
                  <a:cubicBezTo>
                    <a:pt x="1851165" y="1015185"/>
                    <a:pt x="1851165" y="1152281"/>
                    <a:pt x="1815890" y="1282328"/>
                  </a:cubicBezTo>
                  <a:lnTo>
                    <a:pt x="2059240" y="1511074"/>
                  </a:lnTo>
                  <a:lnTo>
                    <a:pt x="1941574" y="1714876"/>
                  </a:lnTo>
                  <a:lnTo>
                    <a:pt x="1621800" y="1618502"/>
                  </a:lnTo>
                  <a:cubicBezTo>
                    <a:pt x="1526813" y="1714075"/>
                    <a:pt x="1408085" y="1782623"/>
                    <a:pt x="1277823" y="1817097"/>
                  </a:cubicBezTo>
                  <a:lnTo>
                    <a:pt x="1201398" y="2142217"/>
                  </a:lnTo>
                  <a:lnTo>
                    <a:pt x="966068" y="2142217"/>
                  </a:lnTo>
                  <a:lnTo>
                    <a:pt x="889643" y="1817097"/>
                  </a:lnTo>
                  <a:cubicBezTo>
                    <a:pt x="759381" y="1782622"/>
                    <a:pt x="640653" y="1714074"/>
                    <a:pt x="545666" y="1618502"/>
                  </a:cubicBezTo>
                  <a:lnTo>
                    <a:pt x="225892" y="1714876"/>
                  </a:lnTo>
                  <a:lnTo>
                    <a:pt x="108226" y="1511074"/>
                  </a:lnTo>
                  <a:lnTo>
                    <a:pt x="351576" y="1282328"/>
                  </a:lnTo>
                  <a:cubicBezTo>
                    <a:pt x="316301" y="1152281"/>
                    <a:pt x="316301" y="1015185"/>
                    <a:pt x="351576" y="885138"/>
                  </a:cubicBezTo>
                  <a:lnTo>
                    <a:pt x="108226" y="656392"/>
                  </a:lnTo>
                  <a:lnTo>
                    <a:pt x="225892" y="452590"/>
                  </a:lnTo>
                  <a:lnTo>
                    <a:pt x="545666" y="548964"/>
                  </a:lnTo>
                  <a:cubicBezTo>
                    <a:pt x="640653" y="453391"/>
                    <a:pt x="759381" y="384843"/>
                    <a:pt x="889643" y="350369"/>
                  </a:cubicBezTo>
                  <a:lnTo>
                    <a:pt x="966068" y="25249"/>
                  </a:lnTo>
                  <a:lnTo>
                    <a:pt x="1201398" y="25249"/>
                  </a:lnTo>
                  <a:lnTo>
                    <a:pt x="1277823" y="350369"/>
                  </a:lnTo>
                  <a:cubicBezTo>
                    <a:pt x="1408085" y="384844"/>
                    <a:pt x="1526813" y="453392"/>
                    <a:pt x="1621800" y="548964"/>
                  </a:cubicBezTo>
                  <a:close/>
                </a:path>
              </a:pathLst>
            </a:custGeom>
            <a:solidFill>
              <a:srgbClr val="112F7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86306" tIns="589604" rIns="586306" bIns="589604" numCol="1" spcCol="1270" anchor="ctr" anchorCtr="0">
              <a:noAutofit/>
            </a:bodyPr>
            <a:lstStyle/>
            <a:p>
              <a:pPr algn="ctr" defTabSz="1066800">
                <a:lnSpc>
                  <a:spcPct val="90000"/>
                </a:lnSpc>
                <a:spcBef>
                  <a:spcPct val="0"/>
                </a:spcBef>
                <a:spcAft>
                  <a:spcPct val="35000"/>
                </a:spcAft>
              </a:pPr>
              <a:endParaRPr lang="zh-CN" altLang="en-US" sz="2400"/>
            </a:p>
          </p:txBody>
        </p:sp>
        <p:sp>
          <p:nvSpPr>
            <p:cNvPr id="91" name="任意多边形 4"/>
            <p:cNvSpPr/>
            <p:nvPr/>
          </p:nvSpPr>
          <p:spPr>
            <a:xfrm>
              <a:off x="6070147" y="1501755"/>
              <a:ext cx="1390448" cy="1390447"/>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rgbClr val="112F7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6337" tIns="746337" rIns="746338" bIns="746338" numCol="1" spcCol="1270" anchor="ctr" anchorCtr="0">
              <a:noAutofit/>
            </a:bodyPr>
            <a:lstStyle/>
            <a:p>
              <a:pPr algn="ctr" defTabSz="1100455">
                <a:lnSpc>
                  <a:spcPct val="90000"/>
                </a:lnSpc>
                <a:spcBef>
                  <a:spcPct val="0"/>
                </a:spcBef>
                <a:spcAft>
                  <a:spcPct val="35000"/>
                </a:spcAft>
              </a:pPr>
              <a:endParaRPr lang="zh-CN" altLang="en-US" sz="2500"/>
            </a:p>
          </p:txBody>
        </p:sp>
        <p:sp>
          <p:nvSpPr>
            <p:cNvPr id="92" name="Freeform 7"/>
            <p:cNvSpPr>
              <a:spLocks noChangeAspect="1" noEditPoints="1"/>
            </p:cNvSpPr>
            <p:nvPr/>
          </p:nvSpPr>
          <p:spPr bwMode="auto">
            <a:xfrm>
              <a:off x="6960821" y="3363904"/>
              <a:ext cx="579557" cy="432923"/>
            </a:xfrm>
            <a:custGeom>
              <a:avLst/>
              <a:gdLst>
                <a:gd name="T0" fmla="*/ 485 w 527"/>
                <a:gd name="T1" fmla="*/ 294 h 394"/>
                <a:gd name="T2" fmla="*/ 42 w 527"/>
                <a:gd name="T3" fmla="*/ 294 h 394"/>
                <a:gd name="T4" fmla="*/ 9 w 527"/>
                <a:gd name="T5" fmla="*/ 359 h 394"/>
                <a:gd name="T6" fmla="*/ 518 w 527"/>
                <a:gd name="T7" fmla="*/ 359 h 394"/>
                <a:gd name="T8" fmla="*/ 485 w 527"/>
                <a:gd name="T9" fmla="*/ 294 h 394"/>
                <a:gd name="T10" fmla="*/ 208 w 527"/>
                <a:gd name="T11" fmla="*/ 343 h 394"/>
                <a:gd name="T12" fmla="*/ 222 w 527"/>
                <a:gd name="T13" fmla="*/ 317 h 394"/>
                <a:gd name="T14" fmla="*/ 307 w 527"/>
                <a:gd name="T15" fmla="*/ 317 h 394"/>
                <a:gd name="T16" fmla="*/ 319 w 527"/>
                <a:gd name="T17" fmla="*/ 343 h 394"/>
                <a:gd name="T18" fmla="*/ 208 w 527"/>
                <a:gd name="T19" fmla="*/ 343 h 394"/>
                <a:gd name="T20" fmla="*/ 478 w 527"/>
                <a:gd name="T21" fmla="*/ 280 h 394"/>
                <a:gd name="T22" fmla="*/ 478 w 527"/>
                <a:gd name="T23" fmla="*/ 278 h 394"/>
                <a:gd name="T24" fmla="*/ 478 w 527"/>
                <a:gd name="T25" fmla="*/ 277 h 394"/>
                <a:gd name="T26" fmla="*/ 478 w 527"/>
                <a:gd name="T27" fmla="*/ 12 h 394"/>
                <a:gd name="T28" fmla="*/ 465 w 527"/>
                <a:gd name="T29" fmla="*/ 0 h 394"/>
                <a:gd name="T30" fmla="*/ 62 w 527"/>
                <a:gd name="T31" fmla="*/ 0 h 394"/>
                <a:gd name="T32" fmla="*/ 49 w 527"/>
                <a:gd name="T33" fmla="*/ 12 h 394"/>
                <a:gd name="T34" fmla="*/ 49 w 527"/>
                <a:gd name="T35" fmla="*/ 277 h 394"/>
                <a:gd name="T36" fmla="*/ 50 w 527"/>
                <a:gd name="T37" fmla="*/ 278 h 394"/>
                <a:gd name="T38" fmla="*/ 49 w 527"/>
                <a:gd name="T39" fmla="*/ 280 h 394"/>
                <a:gd name="T40" fmla="*/ 49 w 527"/>
                <a:gd name="T41" fmla="*/ 280 h 394"/>
                <a:gd name="T42" fmla="*/ 478 w 527"/>
                <a:gd name="T43" fmla="*/ 280 h 394"/>
                <a:gd name="T44" fmla="*/ 447 w 527"/>
                <a:gd name="T45" fmla="*/ 259 h 394"/>
                <a:gd name="T46" fmla="*/ 80 w 527"/>
                <a:gd name="T47" fmla="*/ 259 h 394"/>
                <a:gd name="T48" fmla="*/ 80 w 527"/>
                <a:gd name="T49" fmla="*/ 30 h 394"/>
                <a:gd name="T50" fmla="*/ 447 w 527"/>
                <a:gd name="T51" fmla="*/ 30 h 394"/>
                <a:gd name="T52" fmla="*/ 447 w 527"/>
                <a:gd name="T53" fmla="*/ 259 h 394"/>
                <a:gd name="T54" fmla="*/ 526 w 527"/>
                <a:gd name="T55" fmla="*/ 373 h 394"/>
                <a:gd name="T56" fmla="*/ 1 w 527"/>
                <a:gd name="T57" fmla="*/ 373 h 394"/>
                <a:gd name="T58" fmla="*/ 0 w 527"/>
                <a:gd name="T59" fmla="*/ 376 h 394"/>
                <a:gd name="T60" fmla="*/ 12 w 527"/>
                <a:gd name="T61" fmla="*/ 394 h 394"/>
                <a:gd name="T62" fmla="*/ 515 w 527"/>
                <a:gd name="T63" fmla="*/ 394 h 394"/>
                <a:gd name="T64" fmla="*/ 527 w 527"/>
                <a:gd name="T65" fmla="*/ 376 h 394"/>
                <a:gd name="T66" fmla="*/ 526 w 527"/>
                <a:gd name="T67" fmla="*/ 373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7" h="394">
                  <a:moveTo>
                    <a:pt x="485" y="294"/>
                  </a:moveTo>
                  <a:cubicBezTo>
                    <a:pt x="42" y="294"/>
                    <a:pt x="42" y="294"/>
                    <a:pt x="42" y="294"/>
                  </a:cubicBezTo>
                  <a:cubicBezTo>
                    <a:pt x="9" y="359"/>
                    <a:pt x="9" y="359"/>
                    <a:pt x="9" y="359"/>
                  </a:cubicBezTo>
                  <a:cubicBezTo>
                    <a:pt x="518" y="359"/>
                    <a:pt x="518" y="359"/>
                    <a:pt x="518" y="359"/>
                  </a:cubicBezTo>
                  <a:lnTo>
                    <a:pt x="485" y="294"/>
                  </a:lnTo>
                  <a:close/>
                  <a:moveTo>
                    <a:pt x="208" y="343"/>
                  </a:moveTo>
                  <a:cubicBezTo>
                    <a:pt x="222" y="317"/>
                    <a:pt x="222" y="317"/>
                    <a:pt x="222" y="317"/>
                  </a:cubicBezTo>
                  <a:cubicBezTo>
                    <a:pt x="307" y="317"/>
                    <a:pt x="307" y="317"/>
                    <a:pt x="307" y="317"/>
                  </a:cubicBezTo>
                  <a:cubicBezTo>
                    <a:pt x="319" y="343"/>
                    <a:pt x="319" y="343"/>
                    <a:pt x="319" y="343"/>
                  </a:cubicBezTo>
                  <a:lnTo>
                    <a:pt x="208" y="343"/>
                  </a:lnTo>
                  <a:close/>
                  <a:moveTo>
                    <a:pt x="478" y="280"/>
                  </a:moveTo>
                  <a:cubicBezTo>
                    <a:pt x="478" y="279"/>
                    <a:pt x="478" y="279"/>
                    <a:pt x="478" y="278"/>
                  </a:cubicBezTo>
                  <a:cubicBezTo>
                    <a:pt x="478" y="278"/>
                    <a:pt x="478" y="278"/>
                    <a:pt x="478" y="277"/>
                  </a:cubicBezTo>
                  <a:cubicBezTo>
                    <a:pt x="478" y="12"/>
                    <a:pt x="478" y="12"/>
                    <a:pt x="478" y="12"/>
                  </a:cubicBezTo>
                  <a:cubicBezTo>
                    <a:pt x="478" y="5"/>
                    <a:pt x="472" y="0"/>
                    <a:pt x="465" y="0"/>
                  </a:cubicBezTo>
                  <a:cubicBezTo>
                    <a:pt x="62" y="0"/>
                    <a:pt x="62" y="0"/>
                    <a:pt x="62" y="0"/>
                  </a:cubicBezTo>
                  <a:cubicBezTo>
                    <a:pt x="55" y="0"/>
                    <a:pt x="49" y="5"/>
                    <a:pt x="49" y="12"/>
                  </a:cubicBezTo>
                  <a:cubicBezTo>
                    <a:pt x="49" y="277"/>
                    <a:pt x="49" y="277"/>
                    <a:pt x="49" y="277"/>
                  </a:cubicBezTo>
                  <a:cubicBezTo>
                    <a:pt x="49" y="278"/>
                    <a:pt x="50" y="278"/>
                    <a:pt x="50" y="278"/>
                  </a:cubicBezTo>
                  <a:cubicBezTo>
                    <a:pt x="50" y="279"/>
                    <a:pt x="49" y="279"/>
                    <a:pt x="49" y="280"/>
                  </a:cubicBezTo>
                  <a:cubicBezTo>
                    <a:pt x="49" y="280"/>
                    <a:pt x="49" y="280"/>
                    <a:pt x="49" y="280"/>
                  </a:cubicBezTo>
                  <a:cubicBezTo>
                    <a:pt x="478" y="280"/>
                    <a:pt x="478" y="280"/>
                    <a:pt x="478" y="280"/>
                  </a:cubicBezTo>
                  <a:close/>
                  <a:moveTo>
                    <a:pt x="447" y="259"/>
                  </a:moveTo>
                  <a:cubicBezTo>
                    <a:pt x="80" y="259"/>
                    <a:pt x="80" y="259"/>
                    <a:pt x="80" y="259"/>
                  </a:cubicBezTo>
                  <a:cubicBezTo>
                    <a:pt x="80" y="30"/>
                    <a:pt x="80" y="30"/>
                    <a:pt x="80" y="30"/>
                  </a:cubicBezTo>
                  <a:cubicBezTo>
                    <a:pt x="447" y="30"/>
                    <a:pt x="447" y="30"/>
                    <a:pt x="447" y="30"/>
                  </a:cubicBezTo>
                  <a:lnTo>
                    <a:pt x="447" y="259"/>
                  </a:lnTo>
                  <a:close/>
                  <a:moveTo>
                    <a:pt x="526" y="373"/>
                  </a:moveTo>
                  <a:cubicBezTo>
                    <a:pt x="1" y="373"/>
                    <a:pt x="1" y="373"/>
                    <a:pt x="1" y="373"/>
                  </a:cubicBezTo>
                  <a:cubicBezTo>
                    <a:pt x="0" y="376"/>
                    <a:pt x="0" y="376"/>
                    <a:pt x="0" y="376"/>
                  </a:cubicBezTo>
                  <a:cubicBezTo>
                    <a:pt x="0" y="382"/>
                    <a:pt x="6" y="394"/>
                    <a:pt x="12" y="394"/>
                  </a:cubicBezTo>
                  <a:cubicBezTo>
                    <a:pt x="515" y="394"/>
                    <a:pt x="515" y="394"/>
                    <a:pt x="515" y="394"/>
                  </a:cubicBezTo>
                  <a:cubicBezTo>
                    <a:pt x="521" y="394"/>
                    <a:pt x="527" y="382"/>
                    <a:pt x="527" y="376"/>
                  </a:cubicBezTo>
                  <a:lnTo>
                    <a:pt x="526" y="373"/>
                  </a:lnTo>
                  <a:close/>
                </a:path>
              </a:pathLst>
            </a:custGeom>
            <a:solidFill>
              <a:schemeClr val="bg1"/>
            </a:solidFill>
            <a:ln>
              <a:noFill/>
            </a:ln>
          </p:spPr>
          <p:txBody>
            <a:bodyPr vert="horz" wrap="square" lIns="68580" tIns="34290" rIns="68580" bIns="34290" numCol="1" anchor="t" anchorCtr="0" compatLnSpc="1"/>
            <a:lstStyle/>
            <a:p>
              <a:pPr defTabSz="783590">
                <a:defRPr/>
              </a:pPr>
              <a:endParaRPr lang="zh-CN" altLang="en-US" sz="1800" kern="0">
                <a:solidFill>
                  <a:srgbClr val="464646"/>
                </a:solidFill>
                <a:latin typeface="Segoe UI"/>
                <a:ea typeface="微软雅黑"/>
              </a:endParaRPr>
            </a:p>
          </p:txBody>
        </p:sp>
        <p:sp>
          <p:nvSpPr>
            <p:cNvPr id="93" name="Freeform 11"/>
            <p:cNvSpPr/>
            <p:nvPr/>
          </p:nvSpPr>
          <p:spPr bwMode="auto">
            <a:xfrm>
              <a:off x="5840028" y="2736291"/>
              <a:ext cx="535474" cy="529556"/>
            </a:xfrm>
            <a:custGeom>
              <a:avLst/>
              <a:gdLst>
                <a:gd name="T0" fmla="*/ 47 w 95"/>
                <a:gd name="T1" fmla="*/ 0 h 94"/>
                <a:gd name="T2" fmla="*/ 0 w 95"/>
                <a:gd name="T3" fmla="*/ 47 h 94"/>
                <a:gd name="T4" fmla="*/ 47 w 95"/>
                <a:gd name="T5" fmla="*/ 94 h 94"/>
                <a:gd name="T6" fmla="*/ 95 w 95"/>
                <a:gd name="T7" fmla="*/ 47 h 94"/>
                <a:gd name="T8" fmla="*/ 47 w 95"/>
                <a:gd name="T9" fmla="*/ 47 h 94"/>
                <a:gd name="T10" fmla="*/ 47 w 95"/>
                <a:gd name="T11" fmla="*/ 0 h 94"/>
              </a:gdLst>
              <a:ahLst/>
              <a:cxnLst>
                <a:cxn ang="0">
                  <a:pos x="T0" y="T1"/>
                </a:cxn>
                <a:cxn ang="0">
                  <a:pos x="T2" y="T3"/>
                </a:cxn>
                <a:cxn ang="0">
                  <a:pos x="T4" y="T5"/>
                </a:cxn>
                <a:cxn ang="0">
                  <a:pos x="T6" y="T7"/>
                </a:cxn>
                <a:cxn ang="0">
                  <a:pos x="T8" y="T9"/>
                </a:cxn>
                <a:cxn ang="0">
                  <a:pos x="T10" y="T11"/>
                </a:cxn>
              </a:cxnLst>
              <a:rect l="0" t="0" r="r" b="b"/>
              <a:pathLst>
                <a:path w="95" h="94">
                  <a:moveTo>
                    <a:pt x="47" y="0"/>
                  </a:moveTo>
                  <a:cubicBezTo>
                    <a:pt x="21" y="0"/>
                    <a:pt x="0" y="21"/>
                    <a:pt x="0" y="47"/>
                  </a:cubicBezTo>
                  <a:cubicBezTo>
                    <a:pt x="0" y="73"/>
                    <a:pt x="21" y="94"/>
                    <a:pt x="47" y="94"/>
                  </a:cubicBezTo>
                  <a:cubicBezTo>
                    <a:pt x="73" y="94"/>
                    <a:pt x="95" y="73"/>
                    <a:pt x="95" y="47"/>
                  </a:cubicBezTo>
                  <a:cubicBezTo>
                    <a:pt x="47" y="47"/>
                    <a:pt x="47" y="47"/>
                    <a:pt x="47" y="47"/>
                  </a:cubicBezTo>
                  <a:lnTo>
                    <a:pt x="47"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94" name="Freeform 11"/>
            <p:cNvSpPr>
              <a:spLocks noEditPoints="1"/>
            </p:cNvSpPr>
            <p:nvPr/>
          </p:nvSpPr>
          <p:spPr bwMode="auto">
            <a:xfrm>
              <a:off x="6547973" y="1989052"/>
              <a:ext cx="415050" cy="474071"/>
            </a:xfrm>
            <a:custGeom>
              <a:avLst/>
              <a:gdLst>
                <a:gd name="T0" fmla="*/ 58 w 89"/>
                <a:gd name="T1" fmla="*/ 2 h 103"/>
                <a:gd name="T2" fmla="*/ 58 w 89"/>
                <a:gd name="T3" fmla="*/ 2 h 103"/>
                <a:gd name="T4" fmla="*/ 30 w 89"/>
                <a:gd name="T5" fmla="*/ 2 h 103"/>
                <a:gd name="T6" fmla="*/ 31 w 89"/>
                <a:gd name="T7" fmla="*/ 0 h 103"/>
                <a:gd name="T8" fmla="*/ 16 w 89"/>
                <a:gd name="T9" fmla="*/ 0 h 103"/>
                <a:gd name="T10" fmla="*/ 14 w 89"/>
                <a:gd name="T11" fmla="*/ 2 h 103"/>
                <a:gd name="T12" fmla="*/ 22 w 89"/>
                <a:gd name="T13" fmla="*/ 5 h 103"/>
                <a:gd name="T14" fmla="*/ 27 w 89"/>
                <a:gd name="T15" fmla="*/ 4 h 103"/>
                <a:gd name="T16" fmla="*/ 0 w 89"/>
                <a:gd name="T17" fmla="*/ 58 h 103"/>
                <a:gd name="T18" fmla="*/ 45 w 89"/>
                <a:gd name="T19" fmla="*/ 103 h 103"/>
                <a:gd name="T20" fmla="*/ 89 w 89"/>
                <a:gd name="T21" fmla="*/ 58 h 103"/>
                <a:gd name="T22" fmla="*/ 58 w 89"/>
                <a:gd name="T23" fmla="*/ 2 h 103"/>
                <a:gd name="T24" fmla="*/ 57 w 89"/>
                <a:gd name="T25" fmla="*/ 73 h 103"/>
                <a:gd name="T26" fmla="*/ 49 w 89"/>
                <a:gd name="T27" fmla="*/ 77 h 103"/>
                <a:gd name="T28" fmla="*/ 49 w 89"/>
                <a:gd name="T29" fmla="*/ 84 h 103"/>
                <a:gd name="T30" fmla="*/ 41 w 89"/>
                <a:gd name="T31" fmla="*/ 84 h 103"/>
                <a:gd name="T32" fmla="*/ 41 w 89"/>
                <a:gd name="T33" fmla="*/ 77 h 103"/>
                <a:gd name="T34" fmla="*/ 32 w 89"/>
                <a:gd name="T35" fmla="*/ 73 h 103"/>
                <a:gd name="T36" fmla="*/ 27 w 89"/>
                <a:gd name="T37" fmla="*/ 63 h 103"/>
                <a:gd name="T38" fmla="*/ 27 w 89"/>
                <a:gd name="T39" fmla="*/ 61 h 103"/>
                <a:gd name="T40" fmla="*/ 34 w 89"/>
                <a:gd name="T41" fmla="*/ 61 h 103"/>
                <a:gd name="T42" fmla="*/ 34 w 89"/>
                <a:gd name="T43" fmla="*/ 62 h 103"/>
                <a:gd name="T44" fmla="*/ 37 w 89"/>
                <a:gd name="T45" fmla="*/ 69 h 103"/>
                <a:gd name="T46" fmla="*/ 45 w 89"/>
                <a:gd name="T47" fmla="*/ 71 h 103"/>
                <a:gd name="T48" fmla="*/ 52 w 89"/>
                <a:gd name="T49" fmla="*/ 69 h 103"/>
                <a:gd name="T50" fmla="*/ 55 w 89"/>
                <a:gd name="T51" fmla="*/ 62 h 103"/>
                <a:gd name="T52" fmla="*/ 52 w 89"/>
                <a:gd name="T53" fmla="*/ 56 h 103"/>
                <a:gd name="T54" fmla="*/ 43 w 89"/>
                <a:gd name="T55" fmla="*/ 53 h 103"/>
                <a:gd name="T56" fmla="*/ 32 w 89"/>
                <a:gd name="T57" fmla="*/ 48 h 103"/>
                <a:gd name="T58" fmla="*/ 29 w 89"/>
                <a:gd name="T59" fmla="*/ 39 h 103"/>
                <a:gd name="T60" fmla="*/ 33 w 89"/>
                <a:gd name="T61" fmla="*/ 29 h 103"/>
                <a:gd name="T62" fmla="*/ 41 w 89"/>
                <a:gd name="T63" fmla="*/ 25 h 103"/>
                <a:gd name="T64" fmla="*/ 41 w 89"/>
                <a:gd name="T65" fmla="*/ 19 h 103"/>
                <a:gd name="T66" fmla="*/ 49 w 89"/>
                <a:gd name="T67" fmla="*/ 19 h 103"/>
                <a:gd name="T68" fmla="*/ 49 w 89"/>
                <a:gd name="T69" fmla="*/ 25 h 103"/>
                <a:gd name="T70" fmla="*/ 57 w 89"/>
                <a:gd name="T71" fmla="*/ 29 h 103"/>
                <a:gd name="T72" fmla="*/ 62 w 89"/>
                <a:gd name="T73" fmla="*/ 39 h 103"/>
                <a:gd name="T74" fmla="*/ 62 w 89"/>
                <a:gd name="T75" fmla="*/ 40 h 103"/>
                <a:gd name="T76" fmla="*/ 54 w 89"/>
                <a:gd name="T77" fmla="*/ 40 h 103"/>
                <a:gd name="T78" fmla="*/ 54 w 89"/>
                <a:gd name="T79" fmla="*/ 39 h 103"/>
                <a:gd name="T80" fmla="*/ 52 w 89"/>
                <a:gd name="T81" fmla="*/ 33 h 103"/>
                <a:gd name="T82" fmla="*/ 45 w 89"/>
                <a:gd name="T83" fmla="*/ 31 h 103"/>
                <a:gd name="T84" fmla="*/ 38 w 89"/>
                <a:gd name="T85" fmla="*/ 33 h 103"/>
                <a:gd name="T86" fmla="*/ 36 w 89"/>
                <a:gd name="T87" fmla="*/ 39 h 103"/>
                <a:gd name="T88" fmla="*/ 38 w 89"/>
                <a:gd name="T89" fmla="*/ 43 h 103"/>
                <a:gd name="T90" fmla="*/ 46 w 89"/>
                <a:gd name="T91" fmla="*/ 47 h 103"/>
                <a:gd name="T92" fmla="*/ 58 w 89"/>
                <a:gd name="T93" fmla="*/ 52 h 103"/>
                <a:gd name="T94" fmla="*/ 63 w 89"/>
                <a:gd name="T95" fmla="*/ 62 h 103"/>
                <a:gd name="T96" fmla="*/ 57 w 89"/>
                <a:gd name="T97" fmla="*/ 7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9" h="103">
                  <a:moveTo>
                    <a:pt x="58" y="2"/>
                  </a:moveTo>
                  <a:cubicBezTo>
                    <a:pt x="58" y="2"/>
                    <a:pt x="58" y="2"/>
                    <a:pt x="58" y="2"/>
                  </a:cubicBezTo>
                  <a:cubicBezTo>
                    <a:pt x="30" y="2"/>
                    <a:pt x="30" y="2"/>
                    <a:pt x="30" y="2"/>
                  </a:cubicBezTo>
                  <a:cubicBezTo>
                    <a:pt x="31" y="0"/>
                    <a:pt x="31" y="0"/>
                    <a:pt x="31" y="0"/>
                  </a:cubicBezTo>
                  <a:cubicBezTo>
                    <a:pt x="26" y="2"/>
                    <a:pt x="20" y="3"/>
                    <a:pt x="16" y="0"/>
                  </a:cubicBezTo>
                  <a:cubicBezTo>
                    <a:pt x="14" y="2"/>
                    <a:pt x="14" y="2"/>
                    <a:pt x="14" y="2"/>
                  </a:cubicBezTo>
                  <a:cubicBezTo>
                    <a:pt x="16" y="4"/>
                    <a:pt x="19" y="5"/>
                    <a:pt x="22" y="5"/>
                  </a:cubicBezTo>
                  <a:cubicBezTo>
                    <a:pt x="24" y="5"/>
                    <a:pt x="26" y="4"/>
                    <a:pt x="27" y="4"/>
                  </a:cubicBezTo>
                  <a:cubicBezTo>
                    <a:pt x="11" y="15"/>
                    <a:pt x="0" y="40"/>
                    <a:pt x="0" y="58"/>
                  </a:cubicBezTo>
                  <a:cubicBezTo>
                    <a:pt x="0" y="83"/>
                    <a:pt x="20" y="103"/>
                    <a:pt x="45" y="103"/>
                  </a:cubicBezTo>
                  <a:cubicBezTo>
                    <a:pt x="69" y="103"/>
                    <a:pt x="89" y="83"/>
                    <a:pt x="89" y="58"/>
                  </a:cubicBezTo>
                  <a:cubicBezTo>
                    <a:pt x="89" y="38"/>
                    <a:pt x="76" y="11"/>
                    <a:pt x="58" y="2"/>
                  </a:cubicBezTo>
                  <a:close/>
                  <a:moveTo>
                    <a:pt x="57" y="73"/>
                  </a:moveTo>
                  <a:cubicBezTo>
                    <a:pt x="55" y="75"/>
                    <a:pt x="52" y="76"/>
                    <a:pt x="49" y="77"/>
                  </a:cubicBezTo>
                  <a:cubicBezTo>
                    <a:pt x="49" y="84"/>
                    <a:pt x="49" y="84"/>
                    <a:pt x="49" y="84"/>
                  </a:cubicBezTo>
                  <a:cubicBezTo>
                    <a:pt x="41" y="84"/>
                    <a:pt x="41" y="84"/>
                    <a:pt x="41" y="84"/>
                  </a:cubicBezTo>
                  <a:cubicBezTo>
                    <a:pt x="41" y="77"/>
                    <a:pt x="41" y="77"/>
                    <a:pt x="41" y="77"/>
                  </a:cubicBezTo>
                  <a:cubicBezTo>
                    <a:pt x="37" y="76"/>
                    <a:pt x="34" y="75"/>
                    <a:pt x="32" y="73"/>
                  </a:cubicBezTo>
                  <a:cubicBezTo>
                    <a:pt x="28" y="70"/>
                    <a:pt x="27" y="67"/>
                    <a:pt x="27" y="63"/>
                  </a:cubicBezTo>
                  <a:cubicBezTo>
                    <a:pt x="27" y="61"/>
                    <a:pt x="27" y="61"/>
                    <a:pt x="27" y="61"/>
                  </a:cubicBezTo>
                  <a:cubicBezTo>
                    <a:pt x="34" y="61"/>
                    <a:pt x="34" y="61"/>
                    <a:pt x="34" y="61"/>
                  </a:cubicBezTo>
                  <a:cubicBezTo>
                    <a:pt x="34" y="62"/>
                    <a:pt x="34" y="62"/>
                    <a:pt x="34" y="62"/>
                  </a:cubicBezTo>
                  <a:cubicBezTo>
                    <a:pt x="34" y="65"/>
                    <a:pt x="35" y="67"/>
                    <a:pt x="37" y="69"/>
                  </a:cubicBezTo>
                  <a:cubicBezTo>
                    <a:pt x="39" y="70"/>
                    <a:pt x="41" y="71"/>
                    <a:pt x="45" y="71"/>
                  </a:cubicBezTo>
                  <a:cubicBezTo>
                    <a:pt x="48" y="71"/>
                    <a:pt x="50" y="70"/>
                    <a:pt x="52" y="69"/>
                  </a:cubicBezTo>
                  <a:cubicBezTo>
                    <a:pt x="54" y="67"/>
                    <a:pt x="55" y="65"/>
                    <a:pt x="55" y="62"/>
                  </a:cubicBezTo>
                  <a:cubicBezTo>
                    <a:pt x="55" y="60"/>
                    <a:pt x="54" y="58"/>
                    <a:pt x="52" y="56"/>
                  </a:cubicBezTo>
                  <a:cubicBezTo>
                    <a:pt x="51" y="55"/>
                    <a:pt x="48" y="54"/>
                    <a:pt x="43" y="53"/>
                  </a:cubicBezTo>
                  <a:cubicBezTo>
                    <a:pt x="38" y="52"/>
                    <a:pt x="35" y="50"/>
                    <a:pt x="32" y="48"/>
                  </a:cubicBezTo>
                  <a:cubicBezTo>
                    <a:pt x="30" y="45"/>
                    <a:pt x="29" y="42"/>
                    <a:pt x="29" y="39"/>
                  </a:cubicBezTo>
                  <a:cubicBezTo>
                    <a:pt x="29" y="35"/>
                    <a:pt x="30" y="31"/>
                    <a:pt x="33" y="29"/>
                  </a:cubicBezTo>
                  <a:cubicBezTo>
                    <a:pt x="35" y="27"/>
                    <a:pt x="38" y="26"/>
                    <a:pt x="41" y="25"/>
                  </a:cubicBezTo>
                  <a:cubicBezTo>
                    <a:pt x="41" y="19"/>
                    <a:pt x="41" y="19"/>
                    <a:pt x="41" y="19"/>
                  </a:cubicBezTo>
                  <a:cubicBezTo>
                    <a:pt x="49" y="19"/>
                    <a:pt x="49" y="19"/>
                    <a:pt x="49" y="19"/>
                  </a:cubicBezTo>
                  <a:cubicBezTo>
                    <a:pt x="49" y="25"/>
                    <a:pt x="49" y="25"/>
                    <a:pt x="49" y="25"/>
                  </a:cubicBezTo>
                  <a:cubicBezTo>
                    <a:pt x="52" y="25"/>
                    <a:pt x="55" y="27"/>
                    <a:pt x="57" y="29"/>
                  </a:cubicBezTo>
                  <a:cubicBezTo>
                    <a:pt x="60" y="31"/>
                    <a:pt x="62" y="35"/>
                    <a:pt x="62" y="39"/>
                  </a:cubicBezTo>
                  <a:cubicBezTo>
                    <a:pt x="62" y="40"/>
                    <a:pt x="62" y="40"/>
                    <a:pt x="62" y="40"/>
                  </a:cubicBezTo>
                  <a:cubicBezTo>
                    <a:pt x="54" y="40"/>
                    <a:pt x="54" y="40"/>
                    <a:pt x="54" y="40"/>
                  </a:cubicBezTo>
                  <a:cubicBezTo>
                    <a:pt x="54" y="39"/>
                    <a:pt x="54" y="39"/>
                    <a:pt x="54" y="39"/>
                  </a:cubicBezTo>
                  <a:cubicBezTo>
                    <a:pt x="54" y="36"/>
                    <a:pt x="53" y="34"/>
                    <a:pt x="52" y="33"/>
                  </a:cubicBezTo>
                  <a:cubicBezTo>
                    <a:pt x="50" y="32"/>
                    <a:pt x="48" y="31"/>
                    <a:pt x="45" y="31"/>
                  </a:cubicBezTo>
                  <a:cubicBezTo>
                    <a:pt x="42" y="31"/>
                    <a:pt x="40" y="32"/>
                    <a:pt x="38" y="33"/>
                  </a:cubicBezTo>
                  <a:cubicBezTo>
                    <a:pt x="37" y="34"/>
                    <a:pt x="36" y="36"/>
                    <a:pt x="36" y="39"/>
                  </a:cubicBezTo>
                  <a:cubicBezTo>
                    <a:pt x="36" y="41"/>
                    <a:pt x="37" y="42"/>
                    <a:pt x="38" y="43"/>
                  </a:cubicBezTo>
                  <a:cubicBezTo>
                    <a:pt x="40" y="45"/>
                    <a:pt x="42" y="46"/>
                    <a:pt x="46" y="47"/>
                  </a:cubicBezTo>
                  <a:cubicBezTo>
                    <a:pt x="52" y="48"/>
                    <a:pt x="56" y="50"/>
                    <a:pt x="58" y="52"/>
                  </a:cubicBezTo>
                  <a:cubicBezTo>
                    <a:pt x="61" y="55"/>
                    <a:pt x="63" y="58"/>
                    <a:pt x="63" y="62"/>
                  </a:cubicBezTo>
                  <a:cubicBezTo>
                    <a:pt x="63" y="66"/>
                    <a:pt x="61" y="70"/>
                    <a:pt x="57" y="73"/>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95000"/>
                    <a:lumOff val="5000"/>
                  </a:schemeClr>
                </a:solidFill>
              </a:endParaRPr>
            </a:p>
          </p:txBody>
        </p:sp>
      </p:gr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2"/>
                                        </p:tgtEl>
                                        <p:attrNameLst>
                                          <p:attrName>style.visibility</p:attrName>
                                        </p:attrNameLst>
                                      </p:cBhvr>
                                      <p:to>
                                        <p:strVal val="visible"/>
                                      </p:to>
                                    </p:set>
                                    <p:anim calcmode="lin" valueType="num">
                                      <p:cBhvr additive="base">
                                        <p:cTn id="7" dur="200" fill="hold"/>
                                        <p:tgtEl>
                                          <p:spTgt spid="72"/>
                                        </p:tgtEl>
                                        <p:attrNameLst>
                                          <p:attrName>ppt_x</p:attrName>
                                        </p:attrNameLst>
                                      </p:cBhvr>
                                      <p:tavLst>
                                        <p:tav tm="0">
                                          <p:val>
                                            <p:strVal val="0-#ppt_w/2"/>
                                          </p:val>
                                        </p:tav>
                                        <p:tav tm="100000">
                                          <p:val>
                                            <p:strVal val="#ppt_x"/>
                                          </p:val>
                                        </p:tav>
                                      </p:tavLst>
                                    </p:anim>
                                    <p:anim calcmode="lin" valueType="num">
                                      <p:cBhvr additive="base">
                                        <p:cTn id="8" dur="200" fill="hold"/>
                                        <p:tgtEl>
                                          <p:spTgt spid="7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3"/>
                                        </p:tgtEl>
                                        <p:attrNameLst>
                                          <p:attrName>style.visibility</p:attrName>
                                        </p:attrNameLst>
                                      </p:cBhvr>
                                      <p:to>
                                        <p:strVal val="visible"/>
                                      </p:to>
                                    </p:set>
                                    <p:anim calcmode="lin" valueType="num">
                                      <p:cBhvr additive="base">
                                        <p:cTn id="12" dur="200" fill="hold"/>
                                        <p:tgtEl>
                                          <p:spTgt spid="73"/>
                                        </p:tgtEl>
                                        <p:attrNameLst>
                                          <p:attrName>ppt_x</p:attrName>
                                        </p:attrNameLst>
                                      </p:cBhvr>
                                      <p:tavLst>
                                        <p:tav tm="0">
                                          <p:val>
                                            <p:strVal val="0-#ppt_w/2"/>
                                          </p:val>
                                        </p:tav>
                                        <p:tav tm="100000">
                                          <p:val>
                                            <p:strVal val="#ppt_x"/>
                                          </p:val>
                                        </p:tav>
                                      </p:tavLst>
                                    </p:anim>
                                    <p:anim calcmode="lin" valueType="num">
                                      <p:cBhvr additive="base">
                                        <p:cTn id="13" dur="200" fill="hold"/>
                                        <p:tgtEl>
                                          <p:spTgt spid="7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fade">
                                      <p:cBhvr>
                                        <p:cTn id="17" dur="500"/>
                                        <p:tgtEl>
                                          <p:spTgt spid="71"/>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88"/>
                                        </p:tgtEl>
                                        <p:attrNameLst>
                                          <p:attrName>style.visibility</p:attrName>
                                        </p:attrNameLst>
                                      </p:cBhvr>
                                      <p:to>
                                        <p:strVal val="visible"/>
                                      </p:to>
                                    </p:set>
                                    <p:anim calcmode="lin" valueType="num">
                                      <p:cBhvr>
                                        <p:cTn id="21" dur="500" fill="hold"/>
                                        <p:tgtEl>
                                          <p:spTgt spid="88"/>
                                        </p:tgtEl>
                                        <p:attrNameLst>
                                          <p:attrName>ppt_w</p:attrName>
                                        </p:attrNameLst>
                                      </p:cBhvr>
                                      <p:tavLst>
                                        <p:tav tm="0">
                                          <p:val>
                                            <p:fltVal val="0"/>
                                          </p:val>
                                        </p:tav>
                                        <p:tav tm="100000">
                                          <p:val>
                                            <p:strVal val="#ppt_w"/>
                                          </p:val>
                                        </p:tav>
                                      </p:tavLst>
                                    </p:anim>
                                    <p:anim calcmode="lin" valueType="num">
                                      <p:cBhvr>
                                        <p:cTn id="22" dur="500" fill="hold"/>
                                        <p:tgtEl>
                                          <p:spTgt spid="88"/>
                                        </p:tgtEl>
                                        <p:attrNameLst>
                                          <p:attrName>ppt_h</p:attrName>
                                        </p:attrNameLst>
                                      </p:cBhvr>
                                      <p:tavLst>
                                        <p:tav tm="0">
                                          <p:val>
                                            <p:fltVal val="0"/>
                                          </p:val>
                                        </p:tav>
                                        <p:tav tm="100000">
                                          <p:val>
                                            <p:strVal val="#ppt_h"/>
                                          </p:val>
                                        </p:tav>
                                      </p:tavLst>
                                    </p:anim>
                                    <p:animEffect transition="in" filter="fade">
                                      <p:cBhvr>
                                        <p:cTn id="23" dur="500"/>
                                        <p:tgtEl>
                                          <p:spTgt spid="88"/>
                                        </p:tgtEl>
                                      </p:cBhvr>
                                    </p:animEffect>
                                  </p:childTnLst>
                                </p:cTn>
                              </p:par>
                            </p:childTnLst>
                          </p:cTn>
                        </p:par>
                        <p:par>
                          <p:cTn id="24" fill="hold">
                            <p:stCondLst>
                              <p:cond delay="2000"/>
                            </p:stCondLst>
                            <p:childTnLst>
                              <p:par>
                                <p:cTn id="25" presetID="22" presetClass="entr" presetSubtype="4" fill="hold" nodeType="afterEffect">
                                  <p:stCondLst>
                                    <p:cond delay="0"/>
                                  </p:stCondLst>
                                  <p:childTnLst>
                                    <p:set>
                                      <p:cBhvr>
                                        <p:cTn id="26" dur="1" fill="hold">
                                          <p:stCondLst>
                                            <p:cond delay="0"/>
                                          </p:stCondLst>
                                        </p:cTn>
                                        <p:tgtEl>
                                          <p:spTgt spid="85"/>
                                        </p:tgtEl>
                                        <p:attrNameLst>
                                          <p:attrName>style.visibility</p:attrName>
                                        </p:attrNameLst>
                                      </p:cBhvr>
                                      <p:to>
                                        <p:strVal val="visible"/>
                                      </p:to>
                                    </p:set>
                                    <p:animEffect transition="in" filter="wipe(down)">
                                      <p:cBhvr>
                                        <p:cTn id="27" dur="400"/>
                                        <p:tgtEl>
                                          <p:spTgt spid="85"/>
                                        </p:tgtEl>
                                      </p:cBhvr>
                                    </p:animEffect>
                                  </p:childTnLst>
                                </p:cTn>
                              </p:par>
                              <p:par>
                                <p:cTn id="28" presetID="22" presetClass="entr" presetSubtype="1" fill="hold" nodeType="withEffect">
                                  <p:stCondLst>
                                    <p:cond delay="0"/>
                                  </p:stCondLst>
                                  <p:childTnLst>
                                    <p:set>
                                      <p:cBhvr>
                                        <p:cTn id="29" dur="1" fill="hold">
                                          <p:stCondLst>
                                            <p:cond delay="0"/>
                                          </p:stCondLst>
                                        </p:cTn>
                                        <p:tgtEl>
                                          <p:spTgt spid="84"/>
                                        </p:tgtEl>
                                        <p:attrNameLst>
                                          <p:attrName>style.visibility</p:attrName>
                                        </p:attrNameLst>
                                      </p:cBhvr>
                                      <p:to>
                                        <p:strVal val="visible"/>
                                      </p:to>
                                    </p:set>
                                    <p:animEffect transition="in" filter="wipe(up)">
                                      <p:cBhvr>
                                        <p:cTn id="30" dur="400"/>
                                        <p:tgtEl>
                                          <p:spTgt spid="84"/>
                                        </p:tgtEl>
                                      </p:cBhvr>
                                    </p:animEffect>
                                  </p:childTnLst>
                                </p:cTn>
                              </p:par>
                              <p:par>
                                <p:cTn id="31" presetID="22" presetClass="entr" presetSubtype="1" fill="hold" nodeType="withEffect">
                                  <p:stCondLst>
                                    <p:cond delay="0"/>
                                  </p:stCondLst>
                                  <p:childTnLst>
                                    <p:set>
                                      <p:cBhvr>
                                        <p:cTn id="32" dur="1" fill="hold">
                                          <p:stCondLst>
                                            <p:cond delay="0"/>
                                          </p:stCondLst>
                                        </p:cTn>
                                        <p:tgtEl>
                                          <p:spTgt spid="83"/>
                                        </p:tgtEl>
                                        <p:attrNameLst>
                                          <p:attrName>style.visibility</p:attrName>
                                        </p:attrNameLst>
                                      </p:cBhvr>
                                      <p:to>
                                        <p:strVal val="visible"/>
                                      </p:to>
                                    </p:set>
                                    <p:animEffect transition="in" filter="wipe(up)">
                                      <p:cBhvr>
                                        <p:cTn id="33" dur="500"/>
                                        <p:tgtEl>
                                          <p:spTgt spid="83"/>
                                        </p:tgtEl>
                                      </p:cBhvr>
                                    </p:animEffect>
                                  </p:childTnLst>
                                </p:cTn>
                              </p:par>
                            </p:childTnLst>
                          </p:cTn>
                        </p:par>
                        <p:par>
                          <p:cTn id="34" fill="hold">
                            <p:stCondLst>
                              <p:cond delay="2500"/>
                            </p:stCondLst>
                            <p:childTnLst>
                              <p:par>
                                <p:cTn id="35" presetID="2" presetClass="entr" presetSubtype="8" fill="hold" nodeType="afterEffect">
                                  <p:stCondLst>
                                    <p:cond delay="0"/>
                                  </p:stCondLst>
                                  <p:childTnLst>
                                    <p:set>
                                      <p:cBhvr>
                                        <p:cTn id="36" dur="1" fill="hold">
                                          <p:stCondLst>
                                            <p:cond delay="0"/>
                                          </p:stCondLst>
                                        </p:cTn>
                                        <p:tgtEl>
                                          <p:spTgt spid="74"/>
                                        </p:tgtEl>
                                        <p:attrNameLst>
                                          <p:attrName>style.visibility</p:attrName>
                                        </p:attrNameLst>
                                      </p:cBhvr>
                                      <p:to>
                                        <p:strVal val="visible"/>
                                      </p:to>
                                    </p:set>
                                    <p:anim calcmode="lin" valueType="num">
                                      <p:cBhvr additive="base">
                                        <p:cTn id="37" dur="500" fill="hold"/>
                                        <p:tgtEl>
                                          <p:spTgt spid="74"/>
                                        </p:tgtEl>
                                        <p:attrNameLst>
                                          <p:attrName>ppt_x</p:attrName>
                                        </p:attrNameLst>
                                      </p:cBhvr>
                                      <p:tavLst>
                                        <p:tav tm="0">
                                          <p:val>
                                            <p:strVal val="0-#ppt_w/2"/>
                                          </p:val>
                                        </p:tav>
                                        <p:tav tm="100000">
                                          <p:val>
                                            <p:strVal val="#ppt_x"/>
                                          </p:val>
                                        </p:tav>
                                      </p:tavLst>
                                    </p:anim>
                                    <p:anim calcmode="lin" valueType="num">
                                      <p:cBhvr additive="base">
                                        <p:cTn id="38" dur="500" fill="hold"/>
                                        <p:tgtEl>
                                          <p:spTgt spid="74"/>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500"/>
                                  </p:stCondLst>
                                  <p:childTnLst>
                                    <p:set>
                                      <p:cBhvr>
                                        <p:cTn id="40" dur="1" fill="hold">
                                          <p:stCondLst>
                                            <p:cond delay="0"/>
                                          </p:stCondLst>
                                        </p:cTn>
                                        <p:tgtEl>
                                          <p:spTgt spid="77"/>
                                        </p:tgtEl>
                                        <p:attrNameLst>
                                          <p:attrName>style.visibility</p:attrName>
                                        </p:attrNameLst>
                                      </p:cBhvr>
                                      <p:to>
                                        <p:strVal val="visible"/>
                                      </p:to>
                                    </p:set>
                                    <p:anim calcmode="lin" valueType="num">
                                      <p:cBhvr additive="base">
                                        <p:cTn id="41" dur="500" fill="hold"/>
                                        <p:tgtEl>
                                          <p:spTgt spid="77"/>
                                        </p:tgtEl>
                                        <p:attrNameLst>
                                          <p:attrName>ppt_x</p:attrName>
                                        </p:attrNameLst>
                                      </p:cBhvr>
                                      <p:tavLst>
                                        <p:tav tm="0">
                                          <p:val>
                                            <p:strVal val="0-#ppt_w/2"/>
                                          </p:val>
                                        </p:tav>
                                        <p:tav tm="100000">
                                          <p:val>
                                            <p:strVal val="#ppt_x"/>
                                          </p:val>
                                        </p:tav>
                                      </p:tavLst>
                                    </p:anim>
                                    <p:anim calcmode="lin" valueType="num">
                                      <p:cBhvr additive="base">
                                        <p:cTn id="42" dur="500" fill="hold"/>
                                        <p:tgtEl>
                                          <p:spTgt spid="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animBg="1"/>
      <p:bldP spid="7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851670"/>
            <a:ext cx="3228536"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p>
        </p:txBody>
      </p:sp>
      <p:sp>
        <p:nvSpPr>
          <p:cNvPr id="3" name="文本框 2"/>
          <p:cNvSpPr txBox="1"/>
          <p:nvPr/>
        </p:nvSpPr>
        <p:spPr>
          <a:xfrm>
            <a:off x="1352697" y="2164797"/>
            <a:ext cx="1677382" cy="530915"/>
          </a:xfrm>
          <a:prstGeom prst="rect">
            <a:avLst/>
          </a:prstGeom>
          <a:noFill/>
        </p:spPr>
        <p:txBody>
          <a:bodyPr wrap="none" lIns="68580" tIns="34290" rIns="68580" bIns="34290" rtlCol="0">
            <a:spAutoFit/>
          </a:bodyPr>
          <a:lstStyle/>
          <a:p>
            <a:r>
              <a:rPr lang="zh-CN" altLang="en-US" sz="3000" b="1" dirty="0">
                <a:solidFill>
                  <a:schemeClr val="bg1"/>
                </a:solidFill>
                <a:latin typeface="DengXian" panose="02010600030101010101" pitchFamily="2" charset="-122"/>
                <a:ea typeface="DengXian" panose="02010600030101010101" pitchFamily="2" charset="-122"/>
              </a:rPr>
              <a:t>第二部分</a:t>
            </a:r>
          </a:p>
        </p:txBody>
      </p:sp>
      <p:sp>
        <p:nvSpPr>
          <p:cNvPr id="11" name="矩形 10"/>
          <p:cNvSpPr/>
          <p:nvPr/>
        </p:nvSpPr>
        <p:spPr>
          <a:xfrm>
            <a:off x="3302392" y="1851670"/>
            <a:ext cx="305972"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dirty="0"/>
          </a:p>
        </p:txBody>
      </p:sp>
      <p:sp>
        <p:nvSpPr>
          <p:cNvPr id="13" name="文本框 12"/>
          <p:cNvSpPr txBox="1"/>
          <p:nvPr/>
        </p:nvSpPr>
        <p:spPr>
          <a:xfrm>
            <a:off x="4358608" y="2087852"/>
            <a:ext cx="4755148" cy="684803"/>
          </a:xfrm>
          <a:prstGeom prst="rect">
            <a:avLst/>
          </a:prstGeom>
          <a:noFill/>
        </p:spPr>
        <p:txBody>
          <a:bodyPr wrap="none" lIns="68580" tIns="34290" rIns="68580" bIns="34290" rtlCol="0">
            <a:spAutoFit/>
          </a:bodyPr>
          <a:lstStyle/>
          <a:p>
            <a:r>
              <a:rPr lang="zh-CN" altLang="en-US" sz="4000" dirty="0">
                <a:solidFill>
                  <a:srgbClr val="112F70"/>
                </a:solidFill>
                <a:latin typeface="微软雅黑" pitchFamily="34" charset="-122"/>
                <a:ea typeface="微软雅黑" pitchFamily="34" charset="-122"/>
              </a:rPr>
              <a:t>业务目标与任务拆解</a:t>
            </a:r>
          </a:p>
        </p:txBody>
      </p:sp>
      <p:pic>
        <p:nvPicPr>
          <p:cNvPr id="4" name="图形 38">
            <a:extLst>
              <a:ext uri="{FF2B5EF4-FFF2-40B4-BE49-F238E27FC236}">
                <a16:creationId xmlns:a16="http://schemas.microsoft.com/office/drawing/2014/main" id="{2D76D2FC-3260-5514-FEB3-792503370882}"/>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t="30918" b="33627"/>
          <a:stretch>
            <a:fillRect/>
          </a:stretch>
        </p:blipFill>
        <p:spPr>
          <a:xfrm>
            <a:off x="0" y="123478"/>
            <a:ext cx="3092450" cy="822325"/>
          </a:xfrm>
          <a:prstGeom prst="rect">
            <a:avLst/>
          </a:prstGeom>
        </p:spPr>
      </p:pic>
      <p:sp>
        <p:nvSpPr>
          <p:cNvPr id="7" name="矩形 6">
            <a:extLst>
              <a:ext uri="{FF2B5EF4-FFF2-40B4-BE49-F238E27FC236}">
                <a16:creationId xmlns:a16="http://schemas.microsoft.com/office/drawing/2014/main" id="{5ABB84EB-EEE1-0E03-D93D-196D864637C7}"/>
              </a:ext>
            </a:extLst>
          </p:cNvPr>
          <p:cNvSpPr/>
          <p:nvPr/>
        </p:nvSpPr>
        <p:spPr>
          <a:xfrm>
            <a:off x="3554104" y="1851670"/>
            <a:ext cx="5589896" cy="1188000"/>
          </a:xfrm>
          <a:prstGeom prst="rect">
            <a:avLst/>
          </a:prstGeom>
          <a:solidFill>
            <a:schemeClr val="tx1">
              <a:lumMod val="50000"/>
              <a:lumOff val="50000"/>
              <a:alpha val="229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226043092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 presetClass="entr" presetSubtype="1" fill="hold" grpId="0" nodeType="withEffect">
                                  <p:stCondLst>
                                    <p:cond delay="30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400" fill="hold"/>
                                        <p:tgtEl>
                                          <p:spTgt spid="11"/>
                                        </p:tgtEl>
                                        <p:attrNameLst>
                                          <p:attrName>ppt_x</p:attrName>
                                        </p:attrNameLst>
                                      </p:cBhvr>
                                      <p:tavLst>
                                        <p:tav tm="0">
                                          <p:val>
                                            <p:strVal val="#ppt_x"/>
                                          </p:val>
                                        </p:tav>
                                        <p:tav tm="100000">
                                          <p:val>
                                            <p:strVal val="#ppt_x"/>
                                          </p:val>
                                        </p:tav>
                                      </p:tavLst>
                                    </p:anim>
                                    <p:anim calcmode="lin" valueType="num">
                                      <p:cBhvr additive="base">
                                        <p:cTn id="11" dur="4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业务目标与任务拆解</a:t>
            </a:r>
          </a:p>
        </p:txBody>
      </p:sp>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pic>
        <p:nvPicPr>
          <p:cNvPr id="25" name="图片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34" name="矩形 33">
            <a:extLst>
              <a:ext uri="{FF2B5EF4-FFF2-40B4-BE49-F238E27FC236}">
                <a16:creationId xmlns:a16="http://schemas.microsoft.com/office/drawing/2014/main" id="{0CF45DE7-32B9-5AE9-33E0-E57EAE1D160C}"/>
              </a:ext>
            </a:extLst>
          </p:cNvPr>
          <p:cNvSpPr/>
          <p:nvPr/>
        </p:nvSpPr>
        <p:spPr>
          <a:xfrm>
            <a:off x="7490" y="1527634"/>
            <a:ext cx="9129020" cy="2088232"/>
          </a:xfrm>
          <a:prstGeom prst="rect">
            <a:avLst/>
          </a:prstGeom>
          <a:solidFill>
            <a:schemeClr val="tx1">
              <a:lumMod val="50000"/>
              <a:lumOff val="50000"/>
              <a:alpha val="229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Copyright Notice">
            <a:extLst>
              <a:ext uri="{FF2B5EF4-FFF2-40B4-BE49-F238E27FC236}">
                <a16:creationId xmlns:a16="http://schemas.microsoft.com/office/drawing/2014/main" id="{004601F9-7035-920C-6B6C-03DF6DB14212}"/>
              </a:ext>
            </a:extLst>
          </p:cNvPr>
          <p:cNvSpPr>
            <a:spLocks/>
          </p:cNvSpPr>
          <p:nvPr/>
        </p:nvSpPr>
        <p:spPr bwMode="auto">
          <a:xfrm>
            <a:off x="151373" y="858118"/>
            <a:ext cx="2658915" cy="496320"/>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72000" tIns="32400" rIns="72000" bIns="32400" rtlCol="0" anchor="t">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800" cap="small" dirty="0">
                <a:solidFill>
                  <a:schemeClr val="tx2"/>
                </a:solidFill>
                <a:latin typeface="微软雅黑" panose="020B0503020204020204" pitchFamily="34" charset="-122"/>
                <a:ea typeface="微软雅黑" panose="020B0503020204020204" pitchFamily="34" charset="-122"/>
              </a:rPr>
              <a:t>项目总体目标：</a:t>
            </a:r>
            <a:endParaRPr lang="en-US" sz="2800" cap="small" dirty="0">
              <a:solidFill>
                <a:schemeClr val="tx2"/>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6A279EF6-FD78-BE88-B115-B3825A9C500B}"/>
              </a:ext>
            </a:extLst>
          </p:cNvPr>
          <p:cNvSpPr txBox="1"/>
          <p:nvPr/>
        </p:nvSpPr>
        <p:spPr>
          <a:xfrm>
            <a:off x="301120" y="1779662"/>
            <a:ext cx="8541760" cy="1289905"/>
          </a:xfrm>
          <a:prstGeom prst="rect">
            <a:avLst/>
          </a:prstGeom>
          <a:noFill/>
        </p:spPr>
        <p:txBody>
          <a:bodyPr wrap="square" rtlCol="0">
            <a:spAutoFit/>
          </a:bodyPr>
          <a:lstStyle/>
          <a:p>
            <a:pPr>
              <a:lnSpc>
                <a:spcPct val="150000"/>
              </a:lnSpc>
            </a:pPr>
            <a:r>
              <a:rPr lang="zh-CN" altLang="en-US" dirty="0">
                <a:latin typeface="Microsoft YaHei" panose="020B0503020204020204" pitchFamily="34" charset="-122"/>
                <a:ea typeface="Microsoft YaHei" panose="020B0503020204020204" pitchFamily="34" charset="-122"/>
              </a:rPr>
              <a:t>本选题旨在以环卫企业维修资料为基础，通过构建大语言模型问答系统，实现</a:t>
            </a:r>
            <a:r>
              <a:rPr lang="zh-CN" altLang="en-US" b="1" dirty="0">
                <a:latin typeface="Microsoft YaHei" panose="020B0503020204020204" pitchFamily="34" charset="-122"/>
                <a:ea typeface="Microsoft YaHei" panose="020B0503020204020204" pitchFamily="34" charset="-122"/>
              </a:rPr>
              <a:t>维修知识的结构化表达与智能化获取</a:t>
            </a:r>
            <a:r>
              <a:rPr lang="zh-CN" altLang="en-US" dirty="0">
                <a:latin typeface="Microsoft YaHei" panose="020B0503020204020204" pitchFamily="34" charset="-122"/>
                <a:ea typeface="Microsoft YaHei" panose="020B0503020204020204" pitchFamily="34" charset="-122"/>
              </a:rPr>
              <a:t>，解决传统人工经验传承难、文档利用率低、维修学习门槛高等问题，推动企业运维知识体系的数字化和智能化转型。</a:t>
            </a:r>
            <a:endParaRPr kumimoji="1"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10400924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700"/>
                            </p:stCondLst>
                            <p:childTnLst>
                              <p:par>
                                <p:cTn id="15" presetID="10"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18">
            <a:extLst>
              <a:ext uri="{FF2B5EF4-FFF2-40B4-BE49-F238E27FC236}">
                <a16:creationId xmlns:a16="http://schemas.microsoft.com/office/drawing/2014/main" id="{A03A1A1D-D779-2528-9A48-3786951E00A3}"/>
              </a:ext>
            </a:extLst>
          </p:cNvPr>
          <p:cNvSpPr>
            <a:spLocks noChangeArrowheads="1"/>
          </p:cNvSpPr>
          <p:nvPr/>
        </p:nvSpPr>
        <p:spPr bwMode="auto">
          <a:xfrm>
            <a:off x="3640625" y="1810685"/>
            <a:ext cx="973060" cy="3157196"/>
          </a:xfrm>
          <a:custGeom>
            <a:avLst/>
            <a:gdLst>
              <a:gd name="T0" fmla="*/ 1257300 w 1323975"/>
              <a:gd name="T1" fmla="*/ 352425 h 4295775"/>
              <a:gd name="T2" fmla="*/ 733425 w 1323975"/>
              <a:gd name="T3" fmla="*/ 0 h 4295775"/>
              <a:gd name="T4" fmla="*/ 352425 w 1323975"/>
              <a:gd name="T5" fmla="*/ 552450 h 4295775"/>
              <a:gd name="T6" fmla="*/ 542925 w 1323975"/>
              <a:gd name="T7" fmla="*/ 523875 h 4295775"/>
              <a:gd name="T8" fmla="*/ 1123950 w 1323975"/>
              <a:gd name="T9" fmla="*/ 2609850 h 4295775"/>
              <a:gd name="T10" fmla="*/ 0 w 1323975"/>
              <a:gd name="T11" fmla="*/ 4295775 h 4295775"/>
              <a:gd name="T12" fmla="*/ 1323975 w 1323975"/>
              <a:gd name="T13" fmla="*/ 4295775 h 4295775"/>
              <a:gd name="T14" fmla="*/ 1323975 w 1323975"/>
              <a:gd name="T15" fmla="*/ 2600325 h 4295775"/>
              <a:gd name="T16" fmla="*/ 1085850 w 1323975"/>
              <a:gd name="T17" fmla="*/ 390525 h 4295775"/>
              <a:gd name="T18" fmla="*/ 1257300 w 1323975"/>
              <a:gd name="T19" fmla="*/ 352425 h 42957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23975"/>
              <a:gd name="T31" fmla="*/ 0 h 4295775"/>
              <a:gd name="T32" fmla="*/ 1323975 w 1323975"/>
              <a:gd name="T33" fmla="*/ 4295775 h 429577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23975" h="4295775">
                <a:moveTo>
                  <a:pt x="1257300" y="352425"/>
                </a:moveTo>
                <a:lnTo>
                  <a:pt x="733425" y="0"/>
                </a:lnTo>
                <a:lnTo>
                  <a:pt x="352425" y="552450"/>
                </a:lnTo>
                <a:lnTo>
                  <a:pt x="542925" y="523875"/>
                </a:lnTo>
                <a:lnTo>
                  <a:pt x="1123950" y="2609850"/>
                </a:lnTo>
                <a:lnTo>
                  <a:pt x="0" y="4295775"/>
                </a:lnTo>
                <a:lnTo>
                  <a:pt x="1323975" y="4295775"/>
                </a:lnTo>
                <a:lnTo>
                  <a:pt x="1323975" y="2600325"/>
                </a:lnTo>
                <a:lnTo>
                  <a:pt x="1085850" y="390525"/>
                </a:lnTo>
                <a:lnTo>
                  <a:pt x="1257300" y="352425"/>
                </a:lnTo>
                <a:close/>
              </a:path>
            </a:pathLst>
          </a:custGeom>
          <a:solidFill>
            <a:srgbClr val="112F70"/>
          </a:solidFill>
          <a:ln w="12700" cap="flat" cmpd="sng">
            <a:noFill/>
            <a:bevel/>
          </a:ln>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zh-CN" sz="975" dirty="0">
              <a:solidFill>
                <a:srgbClr val="FFFFFF"/>
              </a:solidFill>
              <a:latin typeface="Calibri" panose="020F0502020204030204" pitchFamily="34" charset="0"/>
              <a:sym typeface="Calibri" panose="020F0502020204030204" pitchFamily="34" charset="0"/>
            </a:endParaRPr>
          </a:p>
        </p:txBody>
      </p:sp>
      <p:sp>
        <p:nvSpPr>
          <p:cNvPr id="31" name="文本框 30"/>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业务目标与任务拆解</a:t>
            </a:r>
          </a:p>
        </p:txBody>
      </p:sp>
      <p:sp>
        <p:nvSpPr>
          <p:cNvPr id="32" name="矩形 31"/>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33" name="矩形 32"/>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8" name="任意多边形 17"/>
          <p:cNvSpPr>
            <a:spLocks noChangeArrowheads="1"/>
          </p:cNvSpPr>
          <p:nvPr/>
        </p:nvSpPr>
        <p:spPr bwMode="auto">
          <a:xfrm>
            <a:off x="2725276" y="2277339"/>
            <a:ext cx="1778110" cy="2709168"/>
          </a:xfrm>
          <a:custGeom>
            <a:avLst/>
            <a:gdLst>
              <a:gd name="T0" fmla="*/ 1028700 w 2419350"/>
              <a:gd name="T1" fmla="*/ 542925 h 3686175"/>
              <a:gd name="T2" fmla="*/ 819150 w 2419350"/>
              <a:gd name="T3" fmla="*/ 657225 h 3686175"/>
              <a:gd name="T4" fmla="*/ 1019175 w 2419350"/>
              <a:gd name="T5" fmla="*/ 0 h 3686175"/>
              <a:gd name="T6" fmla="*/ 1647825 w 2419350"/>
              <a:gd name="T7" fmla="*/ 190500 h 3686175"/>
              <a:gd name="T8" fmla="*/ 1485900 w 2419350"/>
              <a:gd name="T9" fmla="*/ 295275 h 3686175"/>
              <a:gd name="T10" fmla="*/ 2419350 w 2419350"/>
              <a:gd name="T11" fmla="*/ 2000250 h 3686175"/>
              <a:gd name="T12" fmla="*/ 1295400 w 2419350"/>
              <a:gd name="T13" fmla="*/ 3686175 h 3686175"/>
              <a:gd name="T14" fmla="*/ 0 w 2419350"/>
              <a:gd name="T15" fmla="*/ 3686175 h 3686175"/>
              <a:gd name="T16" fmla="*/ 2209800 w 2419350"/>
              <a:gd name="T17" fmla="*/ 2000250 h 3686175"/>
              <a:gd name="T18" fmla="*/ 1028700 w 2419350"/>
              <a:gd name="T19" fmla="*/ 542925 h 3686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19350"/>
              <a:gd name="T31" fmla="*/ 0 h 3686175"/>
              <a:gd name="T32" fmla="*/ 2419350 w 2419350"/>
              <a:gd name="T33" fmla="*/ 3686175 h 368617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19350" h="3686175">
                <a:moveTo>
                  <a:pt x="1028700" y="542925"/>
                </a:moveTo>
                <a:lnTo>
                  <a:pt x="819150" y="657225"/>
                </a:lnTo>
                <a:lnTo>
                  <a:pt x="1019175" y="0"/>
                </a:lnTo>
                <a:lnTo>
                  <a:pt x="1647825" y="190500"/>
                </a:lnTo>
                <a:lnTo>
                  <a:pt x="1485900" y="295275"/>
                </a:lnTo>
                <a:lnTo>
                  <a:pt x="2419350" y="2000250"/>
                </a:lnTo>
                <a:lnTo>
                  <a:pt x="1295400" y="3686175"/>
                </a:lnTo>
                <a:lnTo>
                  <a:pt x="0" y="3686175"/>
                </a:lnTo>
                <a:lnTo>
                  <a:pt x="2209800" y="2000250"/>
                </a:lnTo>
                <a:lnTo>
                  <a:pt x="1028700" y="542925"/>
                </a:lnTo>
                <a:close/>
              </a:path>
            </a:pathLst>
          </a:custGeom>
          <a:solidFill>
            <a:srgbClr val="112F70"/>
          </a:solidFill>
          <a:ln>
            <a:noFill/>
          </a:ln>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zh-CN" sz="975" dirty="0">
              <a:solidFill>
                <a:srgbClr val="FFFFFF"/>
              </a:solidFill>
              <a:latin typeface="Calibri" panose="020F0502020204030204" pitchFamily="34" charset="0"/>
              <a:sym typeface="Calibri" panose="020F0502020204030204" pitchFamily="34" charset="0"/>
            </a:endParaRPr>
          </a:p>
        </p:txBody>
      </p:sp>
      <p:sp>
        <p:nvSpPr>
          <p:cNvPr id="10" name="任意多边形 18"/>
          <p:cNvSpPr>
            <a:spLocks noChangeArrowheads="1"/>
          </p:cNvSpPr>
          <p:nvPr/>
        </p:nvSpPr>
        <p:spPr bwMode="auto">
          <a:xfrm flipH="1">
            <a:off x="4718738" y="2277339"/>
            <a:ext cx="1778110" cy="2709168"/>
          </a:xfrm>
          <a:custGeom>
            <a:avLst/>
            <a:gdLst>
              <a:gd name="T0" fmla="*/ 1028700 w 2419350"/>
              <a:gd name="T1" fmla="*/ 542925 h 3686175"/>
              <a:gd name="T2" fmla="*/ 819150 w 2419350"/>
              <a:gd name="T3" fmla="*/ 657225 h 3686175"/>
              <a:gd name="T4" fmla="*/ 1019175 w 2419350"/>
              <a:gd name="T5" fmla="*/ 0 h 3686175"/>
              <a:gd name="T6" fmla="*/ 1647825 w 2419350"/>
              <a:gd name="T7" fmla="*/ 190500 h 3686175"/>
              <a:gd name="T8" fmla="*/ 1485900 w 2419350"/>
              <a:gd name="T9" fmla="*/ 295275 h 3686175"/>
              <a:gd name="T10" fmla="*/ 2419350 w 2419350"/>
              <a:gd name="T11" fmla="*/ 2000250 h 3686175"/>
              <a:gd name="T12" fmla="*/ 1295400 w 2419350"/>
              <a:gd name="T13" fmla="*/ 3686175 h 3686175"/>
              <a:gd name="T14" fmla="*/ 0 w 2419350"/>
              <a:gd name="T15" fmla="*/ 3686175 h 3686175"/>
              <a:gd name="T16" fmla="*/ 2209800 w 2419350"/>
              <a:gd name="T17" fmla="*/ 2000250 h 3686175"/>
              <a:gd name="T18" fmla="*/ 1028700 w 2419350"/>
              <a:gd name="T19" fmla="*/ 542925 h 3686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19350"/>
              <a:gd name="T31" fmla="*/ 0 h 3686175"/>
              <a:gd name="T32" fmla="*/ 2419350 w 2419350"/>
              <a:gd name="T33" fmla="*/ 3686175 h 368617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19350" h="3686175">
                <a:moveTo>
                  <a:pt x="1028700" y="542925"/>
                </a:moveTo>
                <a:lnTo>
                  <a:pt x="819150" y="657225"/>
                </a:lnTo>
                <a:lnTo>
                  <a:pt x="1019175" y="0"/>
                </a:lnTo>
                <a:lnTo>
                  <a:pt x="1647825" y="190500"/>
                </a:lnTo>
                <a:lnTo>
                  <a:pt x="1485900" y="295275"/>
                </a:lnTo>
                <a:lnTo>
                  <a:pt x="2419350" y="2000250"/>
                </a:lnTo>
                <a:lnTo>
                  <a:pt x="1295400" y="3686175"/>
                </a:lnTo>
                <a:lnTo>
                  <a:pt x="0" y="3686175"/>
                </a:lnTo>
                <a:lnTo>
                  <a:pt x="2209800" y="2000250"/>
                </a:lnTo>
                <a:lnTo>
                  <a:pt x="1028700" y="542925"/>
                </a:lnTo>
                <a:close/>
              </a:path>
            </a:pathLst>
          </a:custGeom>
          <a:solidFill>
            <a:srgbClr val="112F70"/>
          </a:solidFill>
          <a:ln w="12700" cap="flat" cmpd="sng">
            <a:noFill/>
            <a:bevel/>
          </a:ln>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endParaRPr lang="zh-CN" altLang="zh-CN" sz="975" dirty="0">
              <a:solidFill>
                <a:srgbClr val="FFFFFF"/>
              </a:solidFill>
              <a:latin typeface="Calibri" panose="020F0502020204030204" pitchFamily="34" charset="0"/>
              <a:sym typeface="Calibri" panose="020F0502020204030204" pitchFamily="34" charset="0"/>
            </a:endParaRPr>
          </a:p>
        </p:txBody>
      </p:sp>
      <p:sp>
        <p:nvSpPr>
          <p:cNvPr id="25" name="文本框 24"/>
          <p:cNvSpPr txBox="1"/>
          <p:nvPr/>
        </p:nvSpPr>
        <p:spPr>
          <a:xfrm>
            <a:off x="68366" y="744653"/>
            <a:ext cx="3467207" cy="1846659"/>
          </a:xfrm>
          <a:prstGeom prst="rect">
            <a:avLst/>
          </a:prstGeom>
          <a:noFill/>
          <a:effectLst/>
        </p:spPr>
        <p:txBody>
          <a:bodyPr wrap="square" rtlCol="0">
            <a:spAutoFit/>
          </a:bodyPr>
          <a:lstStyle/>
          <a:p>
            <a:r>
              <a:rPr lang="en-US" altLang="zh-CN" sz="1600" b="1" dirty="0">
                <a:solidFill>
                  <a:schemeClr val="tx2"/>
                </a:solidFill>
                <a:latin typeface="Microsoft YaHei Light" panose="020B0503020204020204" pitchFamily="34" charset="-122"/>
                <a:ea typeface="Microsoft YaHei Light" panose="020B0503020204020204" pitchFamily="34" charset="-122"/>
              </a:rPr>
              <a:t>1.</a:t>
            </a:r>
            <a:r>
              <a:rPr lang="zh-CN" altLang="en-US" sz="1600" b="1" dirty="0">
                <a:solidFill>
                  <a:schemeClr val="tx2"/>
                </a:solidFill>
                <a:latin typeface="Microsoft YaHei Light" panose="020B0503020204020204" pitchFamily="34" charset="-122"/>
                <a:ea typeface="Microsoft YaHei Light" panose="020B0503020204020204" pitchFamily="34" charset="-122"/>
              </a:rPr>
              <a:t>提炼企业维修知识，构建问答语料</a:t>
            </a:r>
            <a:endParaRPr lang="en-US" altLang="zh-CN" sz="1600" b="1" dirty="0">
              <a:solidFill>
                <a:schemeClr val="tx2"/>
              </a:solidFill>
              <a:latin typeface="Microsoft YaHei Light" panose="020B0503020204020204" pitchFamily="34" charset="-122"/>
              <a:ea typeface="Microsoft YaHei Light" panose="020B0503020204020204" pitchFamily="34" charset="-122"/>
            </a:endParaRPr>
          </a:p>
          <a:p>
            <a:pPr marL="285750" indent="-285750">
              <a:buFont typeface="Arial" panose="020B0604020202020204" pitchFamily="34" charset="0"/>
              <a:buChar char="•"/>
            </a:pPr>
            <a:r>
              <a:rPr lang="zh-CN" altLang="en-US" sz="1400" dirty="0">
                <a:latin typeface="Microsoft YaHei Light" panose="020B0503020204020204" pitchFamily="34" charset="-122"/>
                <a:ea typeface="Microsoft YaHei Light" panose="020B0503020204020204" pitchFamily="34" charset="-122"/>
              </a:rPr>
              <a:t>以企业提供的维修手册、故障处理方案为核心内容；</a:t>
            </a:r>
          </a:p>
          <a:p>
            <a:pPr marL="285750" indent="-285750">
              <a:buFont typeface="Arial" panose="020B0604020202020204" pitchFamily="34" charset="0"/>
              <a:buChar char="•"/>
            </a:pPr>
            <a:r>
              <a:rPr lang="zh-CN" altLang="en-US" sz="1400" dirty="0">
                <a:latin typeface="Microsoft YaHei Light" panose="020B0503020204020204" pitchFamily="34" charset="-122"/>
                <a:ea typeface="Microsoft YaHei Light" panose="020B0503020204020204" pitchFamily="34" charset="-122"/>
              </a:rPr>
              <a:t>提取高频、典型的维修场景，设计标准化问答语料；</a:t>
            </a:r>
          </a:p>
          <a:p>
            <a:pPr marL="285750" indent="-285750">
              <a:buFont typeface="Arial" panose="020B0604020202020204" pitchFamily="34" charset="0"/>
              <a:buChar char="•"/>
            </a:pPr>
            <a:r>
              <a:rPr lang="zh-CN" altLang="en-US" sz="1400" dirty="0">
                <a:latin typeface="Microsoft YaHei Light" panose="020B0503020204020204" pitchFamily="34" charset="-122"/>
                <a:ea typeface="Microsoft YaHei Light" panose="020B0503020204020204" pitchFamily="34" charset="-122"/>
              </a:rPr>
              <a:t>将文档中隐性经验转化为可交互的</a:t>
            </a:r>
            <a:r>
              <a:rPr lang="en" altLang="zh-CN" sz="1400" dirty="0">
                <a:latin typeface="Microsoft YaHei Light" panose="020B0503020204020204" pitchFamily="34" charset="-122"/>
                <a:ea typeface="Microsoft YaHei Light" panose="020B0503020204020204" pitchFamily="34" charset="-122"/>
              </a:rPr>
              <a:t>AI</a:t>
            </a:r>
            <a:r>
              <a:rPr lang="zh-CN" altLang="en-US" sz="1400" dirty="0">
                <a:latin typeface="Microsoft YaHei Light" panose="020B0503020204020204" pitchFamily="34" charset="-122"/>
                <a:ea typeface="Microsoft YaHei Light" panose="020B0503020204020204" pitchFamily="34" charset="-122"/>
              </a:rPr>
              <a:t>知识接口。</a:t>
            </a:r>
          </a:p>
          <a:p>
            <a:endParaRPr lang="en-US" altLang="zh-CN" sz="1400" dirty="0">
              <a:solidFill>
                <a:schemeClr val="tx1">
                  <a:lumMod val="85000"/>
                  <a:lumOff val="15000"/>
                </a:schemeClr>
              </a:solidFill>
              <a:latin typeface="微软雅黑" pitchFamily="34" charset="-122"/>
              <a:ea typeface="微软雅黑" pitchFamily="34" charset="-122"/>
            </a:endParaRPr>
          </a:p>
        </p:txBody>
      </p:sp>
      <p:sp>
        <p:nvSpPr>
          <p:cNvPr id="4" name="三角形 3">
            <a:extLst>
              <a:ext uri="{FF2B5EF4-FFF2-40B4-BE49-F238E27FC236}">
                <a16:creationId xmlns:a16="http://schemas.microsoft.com/office/drawing/2014/main" id="{385FCAC3-29F4-7B55-A71A-CE6F6FD0C391}"/>
              </a:ext>
            </a:extLst>
          </p:cNvPr>
          <p:cNvSpPr/>
          <p:nvPr/>
        </p:nvSpPr>
        <p:spPr>
          <a:xfrm>
            <a:off x="3535573" y="3605496"/>
            <a:ext cx="2272671" cy="1381011"/>
          </a:xfrm>
          <a:prstGeom prst="triangle">
            <a:avLst>
              <a:gd name="adj" fmla="val 46324"/>
            </a:avLst>
          </a:prstGeom>
          <a:solidFill>
            <a:srgbClr val="112E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a:extLst>
              <a:ext uri="{FF2B5EF4-FFF2-40B4-BE49-F238E27FC236}">
                <a16:creationId xmlns:a16="http://schemas.microsoft.com/office/drawing/2014/main" id="{64DC12C9-F094-CE59-C82A-2EE90831D3F7}"/>
              </a:ext>
            </a:extLst>
          </p:cNvPr>
          <p:cNvSpPr txBox="1"/>
          <p:nvPr/>
        </p:nvSpPr>
        <p:spPr>
          <a:xfrm>
            <a:off x="3676883" y="4355192"/>
            <a:ext cx="1723549" cy="461665"/>
          </a:xfrm>
          <a:prstGeom prst="rect">
            <a:avLst/>
          </a:prstGeom>
          <a:noFill/>
        </p:spPr>
        <p:txBody>
          <a:bodyPr wrap="none" rtlCol="0">
            <a:spAutoFit/>
          </a:bodyPr>
          <a:lstStyle/>
          <a:p>
            <a:r>
              <a:rPr kumimoji="1" lang="zh-CN" altLang="en-US" sz="2400" dirty="0">
                <a:solidFill>
                  <a:schemeClr val="bg1"/>
                </a:solidFill>
                <a:latin typeface="Microsoft YaHei" panose="020B0503020204020204" pitchFamily="34" charset="-122"/>
                <a:ea typeface="Microsoft YaHei" panose="020B0503020204020204" pitchFamily="34" charset="-122"/>
              </a:rPr>
              <a:t>所得税体系</a:t>
            </a:r>
          </a:p>
        </p:txBody>
      </p:sp>
      <p:pic>
        <p:nvPicPr>
          <p:cNvPr id="6" name="图片 5">
            <a:extLst>
              <a:ext uri="{FF2B5EF4-FFF2-40B4-BE49-F238E27FC236}">
                <a16:creationId xmlns:a16="http://schemas.microsoft.com/office/drawing/2014/main" id="{5545BE7D-30F7-18D2-58DD-ABEB98A3D5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11" name="文本框 10">
            <a:extLst>
              <a:ext uri="{FF2B5EF4-FFF2-40B4-BE49-F238E27FC236}">
                <a16:creationId xmlns:a16="http://schemas.microsoft.com/office/drawing/2014/main" id="{DE563BA7-84FC-6E76-31A5-1512B8D946A1}"/>
              </a:ext>
            </a:extLst>
          </p:cNvPr>
          <p:cNvSpPr txBox="1"/>
          <p:nvPr/>
        </p:nvSpPr>
        <p:spPr>
          <a:xfrm>
            <a:off x="49154" y="2865580"/>
            <a:ext cx="3467207" cy="2092881"/>
          </a:xfrm>
          <a:prstGeom prst="rect">
            <a:avLst/>
          </a:prstGeom>
          <a:noFill/>
          <a:effectLst/>
        </p:spPr>
        <p:txBody>
          <a:bodyPr wrap="square" rtlCol="0">
            <a:spAutoFit/>
          </a:bodyPr>
          <a:lstStyle/>
          <a:p>
            <a:r>
              <a:rPr lang="en-US" altLang="zh-CN" sz="1600" b="1" dirty="0">
                <a:solidFill>
                  <a:schemeClr val="tx2"/>
                </a:solidFill>
                <a:latin typeface="Microsoft YaHei Light" panose="020B0503020204020204" pitchFamily="34" charset="-122"/>
                <a:ea typeface="Microsoft YaHei Light" panose="020B0503020204020204" pitchFamily="34" charset="-122"/>
              </a:rPr>
              <a:t>2.</a:t>
            </a:r>
            <a:r>
              <a:rPr lang="zh-CN" altLang="en-US" sz="1600" b="1" dirty="0">
                <a:solidFill>
                  <a:schemeClr val="tx2"/>
                </a:solidFill>
                <a:latin typeface="Microsoft YaHei Light" panose="020B0503020204020204" pitchFamily="34" charset="-122"/>
                <a:ea typeface="Microsoft YaHei Light" panose="020B0503020204020204" pitchFamily="34" charset="-122"/>
              </a:rPr>
              <a:t>构建面向企业场景的大语言模型问答系统</a:t>
            </a:r>
            <a:endParaRPr lang="en-US" altLang="zh-CN" sz="1600" b="1" dirty="0">
              <a:solidFill>
                <a:schemeClr val="tx2"/>
              </a:solidFill>
              <a:latin typeface="Microsoft YaHei Light" panose="020B0503020204020204" pitchFamily="34" charset="-122"/>
              <a:ea typeface="Microsoft YaHei Light" panose="020B0503020204020204" pitchFamily="34" charset="-122"/>
            </a:endParaRPr>
          </a:p>
          <a:p>
            <a:pPr marL="285750" indent="-285750">
              <a:buFont typeface="Arial" panose="020B0604020202020204" pitchFamily="34" charset="0"/>
              <a:buChar char="•"/>
            </a:pPr>
            <a:r>
              <a:rPr lang="zh-CN" altLang="en-US" sz="1400" dirty="0">
                <a:latin typeface="Microsoft YaHei Light" panose="020B0503020204020204" pitchFamily="34" charset="-122"/>
                <a:ea typeface="Microsoft YaHei Light" panose="020B0503020204020204" pitchFamily="34" charset="-122"/>
              </a:rPr>
              <a:t>基于现有预训练语言模型（如 </a:t>
            </a:r>
            <a:r>
              <a:rPr lang="en" altLang="zh-CN" sz="1400" dirty="0" err="1">
                <a:latin typeface="Microsoft YaHei Light" panose="020B0503020204020204" pitchFamily="34" charset="-122"/>
                <a:ea typeface="Microsoft YaHei Light" panose="020B0503020204020204" pitchFamily="34" charset="-122"/>
              </a:rPr>
              <a:t>Qwen</a:t>
            </a:r>
            <a:r>
              <a:rPr lang="zh-CN" altLang="en" sz="1400" dirty="0">
                <a:latin typeface="Microsoft YaHei Light" panose="020B0503020204020204" pitchFamily="34" charset="-122"/>
                <a:ea typeface="Microsoft YaHei Light" panose="020B0503020204020204" pitchFamily="34" charset="-122"/>
              </a:rPr>
              <a:t>、</a:t>
            </a:r>
            <a:r>
              <a:rPr lang="en" altLang="zh-CN" sz="1400" dirty="0" err="1">
                <a:latin typeface="Microsoft YaHei Light" panose="020B0503020204020204" pitchFamily="34" charset="-122"/>
                <a:ea typeface="Microsoft YaHei Light" panose="020B0503020204020204" pitchFamily="34" charset="-122"/>
              </a:rPr>
              <a:t>Baichuan</a:t>
            </a:r>
            <a:r>
              <a:rPr lang="zh-CN" altLang="en" sz="1400" dirty="0">
                <a:latin typeface="Microsoft YaHei Light" panose="020B0503020204020204" pitchFamily="34" charset="-122"/>
                <a:ea typeface="Microsoft YaHei Light" panose="020B0503020204020204" pitchFamily="34" charset="-122"/>
              </a:rPr>
              <a:t>、</a:t>
            </a:r>
            <a:r>
              <a:rPr lang="en" altLang="zh-CN" sz="1400" dirty="0">
                <a:latin typeface="Microsoft YaHei Light" panose="020B0503020204020204" pitchFamily="34" charset="-122"/>
                <a:ea typeface="Microsoft YaHei Light" panose="020B0503020204020204" pitchFamily="34" charset="-122"/>
              </a:rPr>
              <a:t>Mistral </a:t>
            </a:r>
            <a:r>
              <a:rPr lang="zh-CN" altLang="en-US" sz="1400" dirty="0">
                <a:latin typeface="Microsoft YaHei Light" panose="020B0503020204020204" pitchFamily="34" charset="-122"/>
                <a:ea typeface="Microsoft YaHei Light" panose="020B0503020204020204" pitchFamily="34" charset="-122"/>
              </a:rPr>
              <a:t>等）进行微调；</a:t>
            </a:r>
          </a:p>
          <a:p>
            <a:pPr marL="285750" indent="-285750">
              <a:buFont typeface="Arial" panose="020B0604020202020204" pitchFamily="34" charset="0"/>
              <a:buChar char="•"/>
            </a:pPr>
            <a:r>
              <a:rPr lang="zh-CN" altLang="en-US" sz="1400" dirty="0">
                <a:latin typeface="Microsoft YaHei Light" panose="020B0503020204020204" pitchFamily="34" charset="-122"/>
                <a:ea typeface="Microsoft YaHei Light" panose="020B0503020204020204" pitchFamily="34" charset="-122"/>
              </a:rPr>
              <a:t>让模型具备理解和回答环卫车辆维修领域问题的能力；</a:t>
            </a:r>
          </a:p>
          <a:p>
            <a:pPr marL="285750" indent="-285750">
              <a:buFont typeface="Arial" panose="020B0604020202020204" pitchFamily="34" charset="0"/>
              <a:buChar char="•"/>
            </a:pPr>
            <a:r>
              <a:rPr lang="zh-CN" altLang="en-US" sz="1400" dirty="0">
                <a:latin typeface="Microsoft YaHei Light" panose="020B0503020204020204" pitchFamily="34" charset="-122"/>
                <a:ea typeface="Microsoft YaHei Light" panose="020B0503020204020204" pitchFamily="34" charset="-122"/>
              </a:rPr>
              <a:t>支持本地化部署，满足企业私有化、安全性要求。</a:t>
            </a:r>
          </a:p>
          <a:p>
            <a:endParaRPr lang="en-US" altLang="zh-CN" sz="1400" dirty="0">
              <a:solidFill>
                <a:schemeClr val="tx1">
                  <a:lumMod val="85000"/>
                  <a:lumOff val="15000"/>
                </a:schemeClr>
              </a:solidFill>
              <a:latin typeface="微软雅黑" pitchFamily="34" charset="-122"/>
              <a:ea typeface="微软雅黑" pitchFamily="34" charset="-122"/>
            </a:endParaRPr>
          </a:p>
        </p:txBody>
      </p:sp>
      <p:sp>
        <p:nvSpPr>
          <p:cNvPr id="12" name="文本框 11">
            <a:extLst>
              <a:ext uri="{FF2B5EF4-FFF2-40B4-BE49-F238E27FC236}">
                <a16:creationId xmlns:a16="http://schemas.microsoft.com/office/drawing/2014/main" id="{56F78AC3-2606-FFBD-F7FA-F1EBA3EC472C}"/>
              </a:ext>
            </a:extLst>
          </p:cNvPr>
          <p:cNvSpPr txBox="1"/>
          <p:nvPr/>
        </p:nvSpPr>
        <p:spPr>
          <a:xfrm>
            <a:off x="5940153" y="1275606"/>
            <a:ext cx="2952328" cy="2092881"/>
          </a:xfrm>
          <a:prstGeom prst="rect">
            <a:avLst/>
          </a:prstGeom>
          <a:noFill/>
          <a:effectLst/>
        </p:spPr>
        <p:txBody>
          <a:bodyPr wrap="square" rtlCol="0">
            <a:spAutoFit/>
          </a:bodyPr>
          <a:lstStyle/>
          <a:p>
            <a:r>
              <a:rPr lang="en-US" altLang="zh-CN" sz="1600" b="1" dirty="0">
                <a:solidFill>
                  <a:schemeClr val="tx2"/>
                </a:solidFill>
                <a:latin typeface="Microsoft YaHei Light" panose="020B0503020204020204" pitchFamily="34" charset="-122"/>
                <a:ea typeface="Microsoft YaHei Light" panose="020B0503020204020204" pitchFamily="34" charset="-122"/>
              </a:rPr>
              <a:t>3.</a:t>
            </a:r>
            <a:r>
              <a:rPr lang="zh-CN" altLang="en-US" sz="1600" b="1" dirty="0">
                <a:solidFill>
                  <a:schemeClr val="tx2"/>
                </a:solidFill>
                <a:latin typeface="Microsoft YaHei Light" panose="020B0503020204020204" pitchFamily="34" charset="-122"/>
                <a:ea typeface="Microsoft YaHei Light" panose="020B0503020204020204" pitchFamily="34" charset="-122"/>
              </a:rPr>
              <a:t>降低维修人员知识获取门槛，提升现场决策效率</a:t>
            </a:r>
            <a:endParaRPr lang="en-US" altLang="zh-CN" sz="1600" b="1" dirty="0">
              <a:solidFill>
                <a:schemeClr val="tx2"/>
              </a:solidFill>
              <a:latin typeface="Microsoft YaHei Light" panose="020B0503020204020204" pitchFamily="34" charset="-122"/>
              <a:ea typeface="Microsoft YaHei Light" panose="020B0503020204020204" pitchFamily="34" charset="-122"/>
            </a:endParaRPr>
          </a:p>
          <a:p>
            <a:pPr marL="285750" indent="-285750">
              <a:buFont typeface="Arial" panose="020B0604020202020204" pitchFamily="34" charset="0"/>
              <a:buChar char="•"/>
            </a:pPr>
            <a:r>
              <a:rPr lang="zh-CN" altLang="en-US" sz="1400" dirty="0">
                <a:latin typeface="Microsoft YaHei Light" panose="020B0503020204020204" pitchFamily="34" charset="-122"/>
                <a:ea typeface="Microsoft YaHei Light" panose="020B0503020204020204" pitchFamily="34" charset="-122"/>
              </a:rPr>
              <a:t>为一线维修人员提供“即问即答”式技术支持工具；</a:t>
            </a:r>
          </a:p>
          <a:p>
            <a:pPr marL="285750" indent="-285750">
              <a:buFont typeface="Arial" panose="020B0604020202020204" pitchFamily="34" charset="0"/>
              <a:buChar char="•"/>
            </a:pPr>
            <a:r>
              <a:rPr lang="zh-CN" altLang="en-US" sz="1400" dirty="0">
                <a:latin typeface="Microsoft YaHei Light" panose="020B0503020204020204" pitchFamily="34" charset="-122"/>
                <a:ea typeface="Microsoft YaHei Light" panose="020B0503020204020204" pitchFamily="34" charset="-122"/>
              </a:rPr>
              <a:t>通过语义级理解覆盖不同问法，提升故障诊断准确率；</a:t>
            </a:r>
          </a:p>
          <a:p>
            <a:pPr marL="285750" indent="-285750">
              <a:buFont typeface="Arial" panose="020B0604020202020204" pitchFamily="34" charset="0"/>
              <a:buChar char="•"/>
            </a:pPr>
            <a:r>
              <a:rPr lang="zh-CN" altLang="en-US" sz="1400" dirty="0">
                <a:latin typeface="Microsoft YaHei Light" panose="020B0503020204020204" pitchFamily="34" charset="-122"/>
                <a:ea typeface="Microsoft YaHei Light" panose="020B0503020204020204" pitchFamily="34" charset="-122"/>
              </a:rPr>
              <a:t>以智能问答形式替代静态手册，实现“知识即服务”。</a:t>
            </a:r>
          </a:p>
          <a:p>
            <a:endParaRPr lang="en-US" altLang="zh-CN" sz="1400" dirty="0">
              <a:solidFill>
                <a:schemeClr val="tx1">
                  <a:lumMod val="85000"/>
                  <a:lumOff val="1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52059452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200" fill="hold"/>
                                        <p:tgtEl>
                                          <p:spTgt spid="32"/>
                                        </p:tgtEl>
                                        <p:attrNameLst>
                                          <p:attrName>ppt_x</p:attrName>
                                        </p:attrNameLst>
                                      </p:cBhvr>
                                      <p:tavLst>
                                        <p:tav tm="0">
                                          <p:val>
                                            <p:strVal val="0-#ppt_w/2"/>
                                          </p:val>
                                        </p:tav>
                                        <p:tav tm="100000">
                                          <p:val>
                                            <p:strVal val="#ppt_x"/>
                                          </p:val>
                                        </p:tav>
                                      </p:tavLst>
                                    </p:anim>
                                    <p:anim calcmode="lin" valueType="num">
                                      <p:cBhvr additive="base">
                                        <p:cTn id="8" dur="200" fill="hold"/>
                                        <p:tgtEl>
                                          <p:spTgt spid="3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200" fill="hold"/>
                                        <p:tgtEl>
                                          <p:spTgt spid="33"/>
                                        </p:tgtEl>
                                        <p:attrNameLst>
                                          <p:attrName>ppt_x</p:attrName>
                                        </p:attrNameLst>
                                      </p:cBhvr>
                                      <p:tavLst>
                                        <p:tav tm="0">
                                          <p:val>
                                            <p:strVal val="0-#ppt_w/2"/>
                                          </p:val>
                                        </p:tav>
                                        <p:tav tm="100000">
                                          <p:val>
                                            <p:strVal val="#ppt_x"/>
                                          </p:val>
                                        </p:tav>
                                      </p:tavLst>
                                    </p:anim>
                                    <p:anim calcmode="lin" valueType="num">
                                      <p:cBhvr additive="base">
                                        <p:cTn id="13" dur="200" fill="hold"/>
                                        <p:tgtEl>
                                          <p:spTgt spid="33"/>
                                        </p:tgtEl>
                                        <p:attrNameLst>
                                          <p:attrName>ppt_y</p:attrName>
                                        </p:attrNameLst>
                                      </p:cBhvr>
                                      <p:tavLst>
                                        <p:tav tm="0">
                                          <p:val>
                                            <p:strVal val="#ppt_y"/>
                                          </p:val>
                                        </p:tav>
                                        <p:tav tm="100000">
                                          <p:val>
                                            <p:strVal val="#ppt_y"/>
                                          </p:val>
                                        </p:tav>
                                      </p:tavLst>
                                    </p:anim>
                                  </p:childTnLst>
                                </p:cTn>
                              </p:par>
                            </p:childTnLst>
                          </p:cTn>
                        </p:par>
                        <p:par>
                          <p:cTn id="14" fill="hold">
                            <p:stCondLst>
                              <p:cond delay="700"/>
                            </p:stCondLst>
                            <p:childTnLst>
                              <p:par>
                                <p:cTn id="15" presetID="10" presetClass="entr" presetSubtype="0" fill="hold" grpId="0" nodeType="after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par>
                                <p:cTn id="21" presetID="22" presetClass="entr" presetSubtype="4" fill="hold" grpId="0" nodeType="withEffect">
                                  <p:stCondLst>
                                    <p:cond delay="75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childTnLst>
                          </p:cTn>
                        </p:par>
                        <p:par>
                          <p:cTn id="24" fill="hold">
                            <p:stCondLst>
                              <p:cond delay="195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par>
                                <p:cTn id="28" presetID="22" presetClass="entr" presetSubtype="4" fill="hold" grpId="0" nodeType="withEffect">
                                  <p:stCondLst>
                                    <p:cond delay="25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par>
                          <p:cTn id="31" fill="hold">
                            <p:stCondLst>
                              <p:cond delay="270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3200"/>
                            </p:stCondLst>
                            <p:childTnLst>
                              <p:par>
                                <p:cTn id="36" presetID="10" presetClass="entr" presetSubtype="0"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1" grpId="0"/>
      <p:bldP spid="32" grpId="0" animBg="1"/>
      <p:bldP spid="33" grpId="0" animBg="1"/>
      <p:bldP spid="8" grpId="0" animBg="1"/>
      <p:bldP spid="10" grpId="0" animBg="1"/>
      <p:bldP spid="25"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851670"/>
            <a:ext cx="3228536"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p>
        </p:txBody>
      </p:sp>
      <p:sp>
        <p:nvSpPr>
          <p:cNvPr id="3" name="文本框 2"/>
          <p:cNvSpPr txBox="1"/>
          <p:nvPr/>
        </p:nvSpPr>
        <p:spPr>
          <a:xfrm>
            <a:off x="1352697" y="2164797"/>
            <a:ext cx="1677382" cy="530915"/>
          </a:xfrm>
          <a:prstGeom prst="rect">
            <a:avLst/>
          </a:prstGeom>
          <a:noFill/>
        </p:spPr>
        <p:txBody>
          <a:bodyPr wrap="none" lIns="68580" tIns="34290" rIns="68580" bIns="34290" rtlCol="0">
            <a:spAutoFit/>
          </a:bodyPr>
          <a:lstStyle/>
          <a:p>
            <a:r>
              <a:rPr lang="zh-CN" altLang="en-US" sz="3000" b="1" dirty="0">
                <a:solidFill>
                  <a:schemeClr val="bg1"/>
                </a:solidFill>
                <a:latin typeface="DengXian" panose="02010600030101010101" pitchFamily="2" charset="-122"/>
                <a:ea typeface="DengXian" panose="02010600030101010101" pitchFamily="2" charset="-122"/>
              </a:rPr>
              <a:t>第三部分</a:t>
            </a:r>
          </a:p>
        </p:txBody>
      </p:sp>
      <p:sp>
        <p:nvSpPr>
          <p:cNvPr id="11" name="矩形 10"/>
          <p:cNvSpPr/>
          <p:nvPr/>
        </p:nvSpPr>
        <p:spPr>
          <a:xfrm>
            <a:off x="3302392" y="1851670"/>
            <a:ext cx="305972"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dirty="0"/>
          </a:p>
        </p:txBody>
      </p:sp>
      <p:sp>
        <p:nvSpPr>
          <p:cNvPr id="13" name="文本框 12"/>
          <p:cNvSpPr txBox="1"/>
          <p:nvPr/>
        </p:nvSpPr>
        <p:spPr>
          <a:xfrm>
            <a:off x="4358608" y="2087852"/>
            <a:ext cx="4755148" cy="684803"/>
          </a:xfrm>
          <a:prstGeom prst="rect">
            <a:avLst/>
          </a:prstGeom>
          <a:noFill/>
        </p:spPr>
        <p:txBody>
          <a:bodyPr wrap="none" lIns="68580" tIns="34290" rIns="68580" bIns="34290" rtlCol="0">
            <a:spAutoFit/>
          </a:bodyPr>
          <a:lstStyle/>
          <a:p>
            <a:r>
              <a:rPr lang="zh-CN" altLang="en-US" sz="4000" dirty="0">
                <a:solidFill>
                  <a:srgbClr val="112F70"/>
                </a:solidFill>
                <a:latin typeface="微软雅黑" pitchFamily="34" charset="-122"/>
                <a:ea typeface="微软雅黑" pitchFamily="34" charset="-122"/>
              </a:rPr>
              <a:t>业务模型与模型需求</a:t>
            </a:r>
          </a:p>
        </p:txBody>
      </p:sp>
      <p:pic>
        <p:nvPicPr>
          <p:cNvPr id="4" name="图形 38">
            <a:extLst>
              <a:ext uri="{FF2B5EF4-FFF2-40B4-BE49-F238E27FC236}">
                <a16:creationId xmlns:a16="http://schemas.microsoft.com/office/drawing/2014/main" id="{2D76D2FC-3260-5514-FEB3-792503370882}"/>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t="30918" b="33627"/>
          <a:stretch>
            <a:fillRect/>
          </a:stretch>
        </p:blipFill>
        <p:spPr>
          <a:xfrm>
            <a:off x="0" y="123478"/>
            <a:ext cx="3092450" cy="822325"/>
          </a:xfrm>
          <a:prstGeom prst="rect">
            <a:avLst/>
          </a:prstGeom>
        </p:spPr>
      </p:pic>
      <p:sp>
        <p:nvSpPr>
          <p:cNvPr id="7" name="矩形 6">
            <a:extLst>
              <a:ext uri="{FF2B5EF4-FFF2-40B4-BE49-F238E27FC236}">
                <a16:creationId xmlns:a16="http://schemas.microsoft.com/office/drawing/2014/main" id="{5ABB84EB-EEE1-0E03-D93D-196D864637C7}"/>
              </a:ext>
            </a:extLst>
          </p:cNvPr>
          <p:cNvSpPr/>
          <p:nvPr/>
        </p:nvSpPr>
        <p:spPr>
          <a:xfrm>
            <a:off x="3525312" y="1851670"/>
            <a:ext cx="5589896" cy="1188000"/>
          </a:xfrm>
          <a:prstGeom prst="rect">
            <a:avLst/>
          </a:prstGeom>
          <a:solidFill>
            <a:schemeClr val="tx1">
              <a:lumMod val="50000"/>
              <a:lumOff val="50000"/>
              <a:alpha val="229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258005787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 presetClass="entr" presetSubtype="1" fill="hold" grpId="0" nodeType="withEffect">
                                  <p:stCondLst>
                                    <p:cond delay="30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400" fill="hold"/>
                                        <p:tgtEl>
                                          <p:spTgt spid="11"/>
                                        </p:tgtEl>
                                        <p:attrNameLst>
                                          <p:attrName>ppt_x</p:attrName>
                                        </p:attrNameLst>
                                      </p:cBhvr>
                                      <p:tavLst>
                                        <p:tav tm="0">
                                          <p:val>
                                            <p:strVal val="#ppt_x"/>
                                          </p:val>
                                        </p:tav>
                                        <p:tav tm="100000">
                                          <p:val>
                                            <p:strVal val="#ppt_x"/>
                                          </p:val>
                                        </p:tav>
                                      </p:tavLst>
                                    </p:anim>
                                    <p:anim calcmode="lin" valueType="num">
                                      <p:cBhvr additive="base">
                                        <p:cTn id="11" dur="4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7" name="TextBox 3"/>
          <p:cNvSpPr txBox="1"/>
          <p:nvPr/>
        </p:nvSpPr>
        <p:spPr>
          <a:xfrm>
            <a:off x="2467857" y="2492441"/>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案例</a:t>
            </a:r>
            <a:r>
              <a:rPr lang="en-US" altLang="zh-CN" sz="2000" b="1" dirty="0">
                <a:solidFill>
                  <a:schemeClr val="bg1"/>
                </a:solidFill>
                <a:latin typeface="微软雅黑" pitchFamily="34" charset="-122"/>
                <a:ea typeface="微软雅黑" pitchFamily="34" charset="-122"/>
              </a:rPr>
              <a:t>1:</a:t>
            </a:r>
            <a:r>
              <a:rPr lang="zh-CN" altLang="en-US" sz="2000" b="1" dirty="0">
                <a:solidFill>
                  <a:schemeClr val="bg1"/>
                </a:solidFill>
                <a:latin typeface="微软雅黑" pitchFamily="34" charset="-122"/>
                <a:ea typeface="微软雅黑" pitchFamily="34" charset="-122"/>
              </a:rPr>
              <a:t>高税收</a:t>
            </a:r>
          </a:p>
        </p:txBody>
      </p:sp>
      <p:sp>
        <p:nvSpPr>
          <p:cNvPr id="8" name="TextBox 4"/>
          <p:cNvSpPr txBox="1"/>
          <p:nvPr/>
        </p:nvSpPr>
        <p:spPr>
          <a:xfrm>
            <a:off x="347871" y="201708"/>
            <a:ext cx="2448272" cy="400110"/>
          </a:xfrm>
          <a:prstGeom prst="rect">
            <a:avLst/>
          </a:prstGeom>
          <a:noFill/>
        </p:spPr>
        <p:txBody>
          <a:bodyPr wrap="square" rtlCol="0">
            <a:spAutoFit/>
          </a:bodyPr>
          <a:lstStyle/>
          <a:p>
            <a:r>
              <a:rPr lang="zh-CN" altLang="en-US" sz="2000" b="1" dirty="0">
                <a:solidFill>
                  <a:srgbClr val="112E70"/>
                </a:solidFill>
                <a:latin typeface="微软雅黑" pitchFamily="34" charset="-122"/>
                <a:ea typeface="微软雅黑" pitchFamily="34" charset="-122"/>
              </a:rPr>
              <a:t>一、任务模型定义</a:t>
            </a:r>
          </a:p>
        </p:txBody>
      </p:sp>
      <p:sp>
        <p:nvSpPr>
          <p:cNvPr id="9" name="TextBox 5"/>
          <p:cNvSpPr txBox="1"/>
          <p:nvPr/>
        </p:nvSpPr>
        <p:spPr>
          <a:xfrm>
            <a:off x="347871" y="511922"/>
            <a:ext cx="4655274" cy="1023742"/>
          </a:xfrm>
          <a:prstGeom prst="rect">
            <a:avLst/>
          </a:prstGeom>
          <a:noFill/>
        </p:spPr>
        <p:txBody>
          <a:bodyPr wrap="square" rtlCol="0">
            <a:spAutoFit/>
          </a:bodyPr>
          <a:lstStyle/>
          <a:p>
            <a:pPr>
              <a:lnSpc>
                <a:spcPct val="150000"/>
              </a:lnSpc>
            </a:pPr>
            <a:r>
              <a:rPr lang="zh-CN" altLang="en-US" sz="1400" dirty="0">
                <a:solidFill>
                  <a:schemeClr val="tx1">
                    <a:lumMod val="95000"/>
                    <a:lumOff val="5000"/>
                  </a:schemeClr>
                </a:solidFill>
                <a:latin typeface="微软雅黑" pitchFamily="34" charset="-122"/>
                <a:ea typeface="微软雅黑" pitchFamily="34" charset="-122"/>
                <a:cs typeface="Arial" panose="020B0604020202020204" pitchFamily="34" charset="0"/>
              </a:rPr>
              <a:t>本项目拟构建一个 基于预训练语言模型的大规模问答系统，以实现对环卫企业维修知识的语义理解与自然语言问答能力，其核心任务可抽象为：</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5" name="文本框 24">
            <a:extLst>
              <a:ext uri="{FF2B5EF4-FFF2-40B4-BE49-F238E27FC236}">
                <a16:creationId xmlns:a16="http://schemas.microsoft.com/office/drawing/2014/main" id="{8B0212B9-85E4-CDC3-7C8D-C24348010439}"/>
              </a:ext>
            </a:extLst>
          </p:cNvPr>
          <p:cNvSpPr txBox="1"/>
          <p:nvPr/>
        </p:nvSpPr>
        <p:spPr>
          <a:xfrm>
            <a:off x="684287" y="1399718"/>
            <a:ext cx="8137041" cy="3743782"/>
          </a:xfrm>
          <a:prstGeom prst="rect">
            <a:avLst/>
          </a:prstGeom>
          <a:noFill/>
        </p:spPr>
        <p:txBody>
          <a:bodyPr wrap="square">
            <a:spAutoFit/>
          </a:bodyPr>
          <a:lstStyle/>
          <a:p>
            <a:pPr>
              <a:lnSpc>
                <a:spcPct val="150000"/>
              </a:lnSpc>
            </a:pPr>
            <a:r>
              <a:rPr lang="en-US" altLang="zh-CN" sz="1600" b="1" dirty="0">
                <a:solidFill>
                  <a:srgbClr val="112E70"/>
                </a:solidFill>
                <a:latin typeface="Microsoft YaHei Light" panose="020B0503020204020204" pitchFamily="34" charset="-122"/>
                <a:ea typeface="Microsoft YaHei Light" panose="020B0503020204020204" pitchFamily="34" charset="-122"/>
              </a:rPr>
              <a:t>1.</a:t>
            </a:r>
            <a:r>
              <a:rPr lang="zh-CN" altLang="en-US" sz="1600" b="1" dirty="0">
                <a:solidFill>
                  <a:srgbClr val="112E70"/>
                </a:solidFill>
                <a:latin typeface="Microsoft YaHei Light" panose="020B0503020204020204" pitchFamily="34" charset="-122"/>
                <a:ea typeface="Microsoft YaHei Light" panose="020B0503020204020204" pitchFamily="34" charset="-122"/>
              </a:rPr>
              <a:t>领域问答（</a:t>
            </a:r>
            <a:r>
              <a:rPr lang="en" altLang="zh-CN" sz="1600" b="1" dirty="0">
                <a:solidFill>
                  <a:srgbClr val="112E70"/>
                </a:solidFill>
                <a:latin typeface="Microsoft YaHei Light" panose="020B0503020204020204" pitchFamily="34" charset="-122"/>
                <a:ea typeface="Microsoft YaHei Light" panose="020B0503020204020204" pitchFamily="34" charset="-122"/>
              </a:rPr>
              <a:t>Domain QA</a:t>
            </a:r>
            <a:r>
              <a:rPr lang="zh-CN" altLang="en" sz="1600" b="1" dirty="0">
                <a:solidFill>
                  <a:srgbClr val="112E70"/>
                </a:solidFill>
                <a:latin typeface="Microsoft YaHei Light" panose="020B0503020204020204" pitchFamily="34" charset="-122"/>
                <a:ea typeface="Microsoft YaHei Light" panose="020B0503020204020204" pitchFamily="34" charset="-122"/>
              </a:rPr>
              <a:t>）</a:t>
            </a:r>
            <a:r>
              <a:rPr lang="zh-CN" altLang="en-US" sz="1600" b="1" dirty="0">
                <a:solidFill>
                  <a:srgbClr val="112E70"/>
                </a:solidFill>
                <a:latin typeface="Microsoft YaHei Light" panose="020B0503020204020204" pitchFamily="34" charset="-122"/>
                <a:ea typeface="Microsoft YaHei Light" panose="020B0503020204020204" pitchFamily="34" charset="-122"/>
              </a:rPr>
              <a:t>任务</a:t>
            </a:r>
          </a:p>
          <a:p>
            <a:pPr>
              <a:lnSpc>
                <a:spcPct val="150000"/>
              </a:lnSpc>
              <a:buFont typeface="Arial" panose="020B0604020202020204" pitchFamily="34" charset="0"/>
              <a:buChar char="•"/>
            </a:pPr>
            <a:r>
              <a:rPr lang="zh-CN" altLang="en-US" sz="1600" dirty="0">
                <a:latin typeface="Microsoft YaHei Light" panose="020B0503020204020204" pitchFamily="34" charset="-122"/>
                <a:ea typeface="Microsoft YaHei Light" panose="020B0503020204020204" pitchFamily="34" charset="-122"/>
              </a:rPr>
              <a:t>输入：维修人员或用户提出的自然语言问题</a:t>
            </a:r>
            <a:br>
              <a:rPr lang="zh-CN" altLang="en-US" sz="1600" dirty="0">
                <a:latin typeface="Microsoft YaHei Light" panose="020B0503020204020204" pitchFamily="34" charset="-122"/>
                <a:ea typeface="Microsoft YaHei Light" panose="020B0503020204020204" pitchFamily="34" charset="-122"/>
              </a:rPr>
            </a:br>
            <a:r>
              <a:rPr lang="zh-CN" altLang="en-US" sz="1600" dirty="0">
                <a:latin typeface="Microsoft YaHei Light" panose="020B0503020204020204" pitchFamily="34" charset="-122"/>
                <a:ea typeface="Microsoft YaHei Light" panose="020B0503020204020204" pitchFamily="34" charset="-122"/>
              </a:rPr>
              <a:t>如：“冬季车辆无法启动的原因是什么？”</a:t>
            </a:r>
          </a:p>
          <a:p>
            <a:pPr>
              <a:lnSpc>
                <a:spcPct val="150000"/>
              </a:lnSpc>
              <a:buFont typeface="Arial" panose="020B0604020202020204" pitchFamily="34" charset="0"/>
              <a:buChar char="•"/>
            </a:pPr>
            <a:r>
              <a:rPr lang="zh-CN" altLang="en-US" sz="1600" dirty="0">
                <a:latin typeface="Microsoft YaHei Light" panose="020B0503020204020204" pitchFamily="34" charset="-122"/>
                <a:ea typeface="Microsoft YaHei Light" panose="020B0503020204020204" pitchFamily="34" charset="-122"/>
              </a:rPr>
              <a:t>输出：结合企业资料、维修逻辑，给出清晰、准确、专业的自然语言答案</a:t>
            </a:r>
            <a:br>
              <a:rPr lang="zh-CN" altLang="en-US" sz="1600" dirty="0">
                <a:latin typeface="Microsoft YaHei Light" panose="020B0503020204020204" pitchFamily="34" charset="-122"/>
                <a:ea typeface="Microsoft YaHei Light" panose="020B0503020204020204" pitchFamily="34" charset="-122"/>
              </a:rPr>
            </a:br>
            <a:r>
              <a:rPr lang="zh-CN" altLang="en-US" sz="1600" dirty="0">
                <a:latin typeface="Microsoft YaHei Light" panose="020B0503020204020204" pitchFamily="34" charset="-122"/>
                <a:ea typeface="Microsoft YaHei Light" panose="020B0503020204020204" pitchFamily="34" charset="-122"/>
              </a:rPr>
              <a:t>如：“冬季温度较低，可能导致电池性能下降，建议先对电池进行预热。”</a:t>
            </a:r>
          </a:p>
          <a:p>
            <a:pPr>
              <a:lnSpc>
                <a:spcPct val="150000"/>
              </a:lnSpc>
            </a:pPr>
            <a:r>
              <a:rPr lang="en-US" altLang="zh-CN" sz="1600" b="1" dirty="0">
                <a:solidFill>
                  <a:srgbClr val="112E70"/>
                </a:solidFill>
                <a:latin typeface="Microsoft YaHei Light" panose="020B0503020204020204" pitchFamily="34" charset="-122"/>
                <a:ea typeface="Microsoft YaHei Light" panose="020B0503020204020204" pitchFamily="34" charset="-122"/>
              </a:rPr>
              <a:t>2.</a:t>
            </a:r>
            <a:r>
              <a:rPr lang="zh-CN" altLang="en-US" sz="1600" b="1" dirty="0">
                <a:solidFill>
                  <a:srgbClr val="112E70"/>
                </a:solidFill>
                <a:latin typeface="Microsoft YaHei Light" panose="020B0503020204020204" pitchFamily="34" charset="-122"/>
                <a:ea typeface="Microsoft YaHei Light" panose="020B0503020204020204" pitchFamily="34" charset="-122"/>
              </a:rPr>
              <a:t>知识注入型监督微调（</a:t>
            </a:r>
            <a:r>
              <a:rPr lang="en" altLang="zh-CN" sz="1600" b="1" dirty="0">
                <a:solidFill>
                  <a:srgbClr val="112E70"/>
                </a:solidFill>
                <a:latin typeface="Microsoft YaHei Light" panose="020B0503020204020204" pitchFamily="34" charset="-122"/>
                <a:ea typeface="Microsoft YaHei Light" panose="020B0503020204020204" pitchFamily="34" charset="-122"/>
              </a:rPr>
              <a:t>SFT</a:t>
            </a:r>
            <a:r>
              <a:rPr lang="zh-CN" altLang="en" sz="1600" b="1" dirty="0">
                <a:solidFill>
                  <a:srgbClr val="112E70"/>
                </a:solidFill>
                <a:latin typeface="Microsoft YaHei Light" panose="020B0503020204020204" pitchFamily="34" charset="-122"/>
                <a:ea typeface="Microsoft YaHei Light" panose="020B0503020204020204" pitchFamily="34" charset="-122"/>
              </a:rPr>
              <a:t>）</a:t>
            </a:r>
            <a:r>
              <a:rPr lang="zh-CN" altLang="en-US" sz="1600" b="1" dirty="0">
                <a:solidFill>
                  <a:srgbClr val="112E70"/>
                </a:solidFill>
                <a:latin typeface="Microsoft YaHei Light" panose="020B0503020204020204" pitchFamily="34" charset="-122"/>
                <a:ea typeface="Microsoft YaHei Light" panose="020B0503020204020204" pitchFamily="34" charset="-122"/>
              </a:rPr>
              <a:t>任务</a:t>
            </a:r>
          </a:p>
          <a:p>
            <a:pPr>
              <a:lnSpc>
                <a:spcPct val="150000"/>
              </a:lnSpc>
              <a:buFont typeface="Arial" panose="020B0604020202020204" pitchFamily="34" charset="0"/>
              <a:buChar char="•"/>
            </a:pPr>
            <a:r>
              <a:rPr lang="zh-CN" altLang="en-US" sz="1600" dirty="0">
                <a:latin typeface="Microsoft YaHei Light" panose="020B0503020204020204" pitchFamily="34" charset="-122"/>
                <a:ea typeface="Microsoft YaHei Light" panose="020B0503020204020204" pitchFamily="34" charset="-122"/>
              </a:rPr>
              <a:t>在已有预训练模型基础上，进行小样本微调，使模型学习环卫维修领域特有语义结构与表达方式；</a:t>
            </a:r>
          </a:p>
          <a:p>
            <a:pPr>
              <a:lnSpc>
                <a:spcPct val="150000"/>
              </a:lnSpc>
              <a:buFont typeface="Arial" panose="020B0604020202020204" pitchFamily="34" charset="0"/>
              <a:buChar char="•"/>
            </a:pPr>
            <a:r>
              <a:rPr lang="zh-CN" altLang="en-US" sz="1600" dirty="0">
                <a:latin typeface="Microsoft YaHei Light" panose="020B0503020204020204" pitchFamily="34" charset="-122"/>
                <a:ea typeface="Microsoft YaHei Light" panose="020B0503020204020204" pitchFamily="34" charset="-122"/>
              </a:rPr>
              <a:t>微调目标是让模型不仅生成语法正确的回答，更要理解专业术语、故障逻辑、步骤顺序等内容。</a:t>
            </a:r>
          </a:p>
        </p:txBody>
      </p:sp>
    </p:spTree>
    <p:extLst>
      <p:ext uri="{BB962C8B-B14F-4D97-AF65-F5344CB8AC3E}">
        <p14:creationId xmlns:p14="http://schemas.microsoft.com/office/powerpoint/2010/main" val="332441186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400"/>
                            </p:stCondLst>
                            <p:childTnLst>
                              <p:par>
                                <p:cTn id="15" presetID="14" presetClass="entr" presetSubtype="1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7" name="TextBox 3"/>
          <p:cNvSpPr txBox="1"/>
          <p:nvPr/>
        </p:nvSpPr>
        <p:spPr>
          <a:xfrm>
            <a:off x="2467857" y="2492441"/>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案例</a:t>
            </a:r>
            <a:r>
              <a:rPr lang="en-US" altLang="zh-CN" sz="2000" b="1" dirty="0">
                <a:solidFill>
                  <a:schemeClr val="bg1"/>
                </a:solidFill>
                <a:latin typeface="微软雅黑" pitchFamily="34" charset="-122"/>
                <a:ea typeface="微软雅黑" pitchFamily="34" charset="-122"/>
              </a:rPr>
              <a:t>1:</a:t>
            </a:r>
            <a:r>
              <a:rPr lang="zh-CN" altLang="en-US" sz="2000" b="1" dirty="0">
                <a:solidFill>
                  <a:schemeClr val="bg1"/>
                </a:solidFill>
                <a:latin typeface="微软雅黑" pitchFamily="34" charset="-122"/>
                <a:ea typeface="微软雅黑" pitchFamily="34" charset="-122"/>
              </a:rPr>
              <a:t>高税收</a:t>
            </a:r>
          </a:p>
        </p:txBody>
      </p:sp>
      <p:sp>
        <p:nvSpPr>
          <p:cNvPr id="8" name="TextBox 4"/>
          <p:cNvSpPr txBox="1"/>
          <p:nvPr/>
        </p:nvSpPr>
        <p:spPr>
          <a:xfrm>
            <a:off x="282981" y="183818"/>
            <a:ext cx="2448272" cy="400110"/>
          </a:xfrm>
          <a:prstGeom prst="rect">
            <a:avLst/>
          </a:prstGeom>
          <a:noFill/>
        </p:spPr>
        <p:txBody>
          <a:bodyPr wrap="square" rtlCol="0">
            <a:spAutoFit/>
          </a:bodyPr>
          <a:lstStyle/>
          <a:p>
            <a:r>
              <a:rPr lang="zh-CN" altLang="en-US" sz="2000" b="1" dirty="0">
                <a:solidFill>
                  <a:srgbClr val="112E70"/>
                </a:solidFill>
                <a:latin typeface="微软雅黑" pitchFamily="34" charset="-122"/>
                <a:ea typeface="微软雅黑" pitchFamily="34" charset="-122"/>
              </a:rPr>
              <a:t>二、模型能力需求</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graphicFrame>
        <p:nvGraphicFramePr>
          <p:cNvPr id="10" name="表格 9">
            <a:extLst>
              <a:ext uri="{FF2B5EF4-FFF2-40B4-BE49-F238E27FC236}">
                <a16:creationId xmlns:a16="http://schemas.microsoft.com/office/drawing/2014/main" id="{F795F1B7-A7C3-45CC-B75D-75C74BFE8091}"/>
              </a:ext>
            </a:extLst>
          </p:cNvPr>
          <p:cNvGraphicFramePr>
            <a:graphicFrameLocks noGrp="1"/>
          </p:cNvGraphicFramePr>
          <p:nvPr>
            <p:extLst>
              <p:ext uri="{D42A27DB-BD31-4B8C-83A1-F6EECF244321}">
                <p14:modId xmlns:p14="http://schemas.microsoft.com/office/powerpoint/2010/main" val="3107068489"/>
              </p:ext>
            </p:extLst>
          </p:nvPr>
        </p:nvGraphicFramePr>
        <p:xfrm>
          <a:off x="611560" y="1535817"/>
          <a:ext cx="8208909" cy="3262313"/>
        </p:xfrm>
        <a:graphic>
          <a:graphicData uri="http://schemas.openxmlformats.org/drawingml/2006/table">
            <a:tbl>
              <a:tblPr>
                <a:tableStyleId>{5C22544A-7EE6-4342-B048-85BDC9FD1C3A}</a:tableStyleId>
              </a:tblPr>
              <a:tblGrid>
                <a:gridCol w="2736303">
                  <a:extLst>
                    <a:ext uri="{9D8B030D-6E8A-4147-A177-3AD203B41FA5}">
                      <a16:colId xmlns:a16="http://schemas.microsoft.com/office/drawing/2014/main" val="301616821"/>
                    </a:ext>
                  </a:extLst>
                </a:gridCol>
                <a:gridCol w="2736303">
                  <a:extLst>
                    <a:ext uri="{9D8B030D-6E8A-4147-A177-3AD203B41FA5}">
                      <a16:colId xmlns:a16="http://schemas.microsoft.com/office/drawing/2014/main" val="3702335667"/>
                    </a:ext>
                  </a:extLst>
                </a:gridCol>
                <a:gridCol w="2736303">
                  <a:extLst>
                    <a:ext uri="{9D8B030D-6E8A-4147-A177-3AD203B41FA5}">
                      <a16:colId xmlns:a16="http://schemas.microsoft.com/office/drawing/2014/main" val="363769089"/>
                    </a:ext>
                  </a:extLst>
                </a:gridCol>
              </a:tblGrid>
              <a:tr h="310696">
                <a:tc>
                  <a:txBody>
                    <a:bodyPr/>
                    <a:lstStyle/>
                    <a:p>
                      <a:r>
                        <a:rPr lang="zh-CN" altLang="en-US" sz="1500" b="1"/>
                        <a:t>能力</a:t>
                      </a:r>
                    </a:p>
                  </a:txBody>
                  <a:tcPr marL="77674" marR="77674" marT="38837" marB="38837" anchor="ctr"/>
                </a:tc>
                <a:tc>
                  <a:txBody>
                    <a:bodyPr/>
                    <a:lstStyle/>
                    <a:p>
                      <a:r>
                        <a:rPr lang="zh-CN" altLang="en-US" sz="1500" b="1" dirty="0"/>
                        <a:t>具体说明</a:t>
                      </a:r>
                    </a:p>
                  </a:txBody>
                  <a:tcPr marL="77674" marR="77674" marT="38837" marB="38837" anchor="ctr"/>
                </a:tc>
                <a:tc>
                  <a:txBody>
                    <a:bodyPr/>
                    <a:lstStyle/>
                    <a:p>
                      <a:r>
                        <a:rPr lang="zh-CN" altLang="en-US" sz="1500" b="1" dirty="0"/>
                        <a:t>示例</a:t>
                      </a:r>
                    </a:p>
                  </a:txBody>
                  <a:tcPr marL="77674" marR="77674" marT="38837" marB="38837" anchor="ctr"/>
                </a:tc>
                <a:extLst>
                  <a:ext uri="{0D108BD9-81ED-4DB2-BD59-A6C34878D82A}">
                    <a16:rowId xmlns:a16="http://schemas.microsoft.com/office/drawing/2014/main" val="459972169"/>
                  </a:ext>
                </a:extLst>
              </a:tr>
              <a:tr h="776741">
                <a:tc>
                  <a:txBody>
                    <a:bodyPr/>
                    <a:lstStyle/>
                    <a:p>
                      <a:r>
                        <a:rPr lang="zh-CN" altLang="en-US" sz="1500" b="1"/>
                        <a:t>语义理解能力</a:t>
                      </a:r>
                      <a:endParaRPr lang="zh-CN" altLang="en-US" sz="1500"/>
                    </a:p>
                  </a:txBody>
                  <a:tcPr marL="77674" marR="77674" marT="38837" marB="38837" anchor="ctr">
                    <a:solidFill>
                      <a:schemeClr val="bg1">
                        <a:lumMod val="95000"/>
                      </a:schemeClr>
                    </a:solidFill>
                  </a:tcPr>
                </a:tc>
                <a:tc>
                  <a:txBody>
                    <a:bodyPr/>
                    <a:lstStyle/>
                    <a:p>
                      <a:r>
                        <a:rPr lang="zh-CN" altLang="en-US" sz="1500" dirty="0"/>
                        <a:t>能理解口语化、非标准化提问，提取故障核心语义</a:t>
                      </a:r>
                    </a:p>
                  </a:txBody>
                  <a:tcPr marL="77674" marR="77674" marT="38837" marB="38837" anchor="ctr">
                    <a:solidFill>
                      <a:schemeClr val="bg1">
                        <a:lumMod val="95000"/>
                      </a:schemeClr>
                    </a:solidFill>
                  </a:tcPr>
                </a:tc>
                <a:tc>
                  <a:txBody>
                    <a:bodyPr/>
                    <a:lstStyle/>
                    <a:p>
                      <a:r>
                        <a:rPr lang="zh-CN" altLang="en-US" sz="1500" dirty="0"/>
                        <a:t>“冬天充电好慢” → 推断是低温问题</a:t>
                      </a:r>
                    </a:p>
                  </a:txBody>
                  <a:tcPr marL="77674" marR="77674" marT="38837" marB="38837" anchor="ctr">
                    <a:solidFill>
                      <a:schemeClr val="bg1">
                        <a:lumMod val="95000"/>
                      </a:schemeClr>
                    </a:solidFill>
                  </a:tcPr>
                </a:tc>
                <a:extLst>
                  <a:ext uri="{0D108BD9-81ED-4DB2-BD59-A6C34878D82A}">
                    <a16:rowId xmlns:a16="http://schemas.microsoft.com/office/drawing/2014/main" val="565676236"/>
                  </a:ext>
                </a:extLst>
              </a:tr>
              <a:tr h="543719">
                <a:tc>
                  <a:txBody>
                    <a:bodyPr/>
                    <a:lstStyle/>
                    <a:p>
                      <a:r>
                        <a:rPr lang="zh-CN" altLang="en-US" sz="1500" b="1"/>
                        <a:t>专业知识记忆能力</a:t>
                      </a:r>
                      <a:endParaRPr lang="zh-CN" altLang="en-US" sz="1500"/>
                    </a:p>
                  </a:txBody>
                  <a:tcPr marL="77674" marR="77674" marT="38837" marB="38837" anchor="ctr"/>
                </a:tc>
                <a:tc>
                  <a:txBody>
                    <a:bodyPr/>
                    <a:lstStyle/>
                    <a:p>
                      <a:r>
                        <a:rPr lang="zh-CN" altLang="en-US" sz="1500" dirty="0"/>
                        <a:t>通过</a:t>
                      </a:r>
                      <a:r>
                        <a:rPr lang="en" sz="1500" dirty="0"/>
                        <a:t>SFT</a:t>
                      </a:r>
                      <a:r>
                        <a:rPr lang="zh-CN" altLang="en-US" sz="1500" dirty="0"/>
                        <a:t>学习维修逻辑、术语、常见步骤</a:t>
                      </a:r>
                    </a:p>
                  </a:txBody>
                  <a:tcPr marL="77674" marR="77674" marT="38837" marB="38837" anchor="ctr"/>
                </a:tc>
                <a:tc>
                  <a:txBody>
                    <a:bodyPr/>
                    <a:lstStyle/>
                    <a:p>
                      <a:r>
                        <a:rPr lang="zh-CN" altLang="en-US" sz="1500"/>
                        <a:t>识别“充电枪锁死” → 建议断电重插</a:t>
                      </a:r>
                    </a:p>
                  </a:txBody>
                  <a:tcPr marL="77674" marR="77674" marT="38837" marB="38837" anchor="ctr"/>
                </a:tc>
                <a:extLst>
                  <a:ext uri="{0D108BD9-81ED-4DB2-BD59-A6C34878D82A}">
                    <a16:rowId xmlns:a16="http://schemas.microsoft.com/office/drawing/2014/main" val="2598928481"/>
                  </a:ext>
                </a:extLst>
              </a:tr>
              <a:tr h="543719">
                <a:tc>
                  <a:txBody>
                    <a:bodyPr/>
                    <a:lstStyle/>
                    <a:p>
                      <a:r>
                        <a:rPr lang="zh-CN" altLang="en-US" sz="1500" b="1"/>
                        <a:t>指令跟随能力</a:t>
                      </a:r>
                      <a:endParaRPr lang="zh-CN" altLang="en-US" sz="1500"/>
                    </a:p>
                  </a:txBody>
                  <a:tcPr marL="77674" marR="77674" marT="38837" marB="38837" anchor="ctr"/>
                </a:tc>
                <a:tc>
                  <a:txBody>
                    <a:bodyPr/>
                    <a:lstStyle/>
                    <a:p>
                      <a:r>
                        <a:rPr lang="zh-CN" altLang="en-US" sz="1500"/>
                        <a:t>模型能遵循 </a:t>
                      </a:r>
                      <a:r>
                        <a:rPr lang="en" sz="1500"/>
                        <a:t>prompt </a:t>
                      </a:r>
                      <a:r>
                        <a:rPr lang="zh-CN" altLang="en-US" sz="1500"/>
                        <a:t>模板结构回答问题</a:t>
                      </a:r>
                    </a:p>
                  </a:txBody>
                  <a:tcPr marL="77674" marR="77674" marT="38837" marB="38837" anchor="ctr"/>
                </a:tc>
                <a:tc>
                  <a:txBody>
                    <a:bodyPr/>
                    <a:lstStyle/>
                    <a:p>
                      <a:r>
                        <a:rPr lang="zh-CN" altLang="en-US" sz="1500"/>
                        <a:t>指令格式：“请说明可能原因与建议”</a:t>
                      </a:r>
                    </a:p>
                  </a:txBody>
                  <a:tcPr marL="77674" marR="77674" marT="38837" marB="38837" anchor="ctr"/>
                </a:tc>
                <a:extLst>
                  <a:ext uri="{0D108BD9-81ED-4DB2-BD59-A6C34878D82A}">
                    <a16:rowId xmlns:a16="http://schemas.microsoft.com/office/drawing/2014/main" val="2927417707"/>
                  </a:ext>
                </a:extLst>
              </a:tr>
              <a:tr h="543719">
                <a:tc>
                  <a:txBody>
                    <a:bodyPr/>
                    <a:lstStyle/>
                    <a:p>
                      <a:r>
                        <a:rPr lang="zh-CN" altLang="en-US" sz="1500" b="1"/>
                        <a:t>本地部署能力</a:t>
                      </a:r>
                      <a:endParaRPr lang="zh-CN" altLang="en-US" sz="1500"/>
                    </a:p>
                  </a:txBody>
                  <a:tcPr marL="77674" marR="77674" marT="38837" marB="38837" anchor="ctr"/>
                </a:tc>
                <a:tc>
                  <a:txBody>
                    <a:bodyPr/>
                    <a:lstStyle/>
                    <a:p>
                      <a:r>
                        <a:rPr lang="zh-CN" altLang="en-US" sz="1500"/>
                        <a:t>支持企业内网运行，保障数据安全</a:t>
                      </a:r>
                    </a:p>
                  </a:txBody>
                  <a:tcPr marL="77674" marR="77674" marT="38837" marB="38837" anchor="ctr"/>
                </a:tc>
                <a:tc>
                  <a:txBody>
                    <a:bodyPr/>
                    <a:lstStyle/>
                    <a:p>
                      <a:r>
                        <a:rPr lang="zh-CN" altLang="en-US" sz="1500"/>
                        <a:t>选用 </a:t>
                      </a:r>
                      <a:r>
                        <a:rPr lang="en-US" altLang="zh-CN" sz="1500"/>
                        <a:t>7</a:t>
                      </a:r>
                      <a:r>
                        <a:rPr lang="en" sz="1500"/>
                        <a:t>B </a:t>
                      </a:r>
                      <a:r>
                        <a:rPr lang="zh-CN" altLang="en-US" sz="1500"/>
                        <a:t>量级模型，支持</a:t>
                      </a:r>
                      <a:r>
                        <a:rPr lang="en" sz="1500"/>
                        <a:t>GPU/CPU</a:t>
                      </a:r>
                      <a:r>
                        <a:rPr lang="zh-CN" altLang="en-US" sz="1500"/>
                        <a:t>推理</a:t>
                      </a:r>
                    </a:p>
                  </a:txBody>
                  <a:tcPr marL="77674" marR="77674" marT="38837" marB="38837" anchor="ctr"/>
                </a:tc>
                <a:extLst>
                  <a:ext uri="{0D108BD9-81ED-4DB2-BD59-A6C34878D82A}">
                    <a16:rowId xmlns:a16="http://schemas.microsoft.com/office/drawing/2014/main" val="1793354271"/>
                  </a:ext>
                </a:extLst>
              </a:tr>
              <a:tr h="543719">
                <a:tc>
                  <a:txBody>
                    <a:bodyPr/>
                    <a:lstStyle/>
                    <a:p>
                      <a:r>
                        <a:rPr lang="zh-CN" altLang="en-US" sz="1500" b="1"/>
                        <a:t>扩展性与可维护性</a:t>
                      </a:r>
                      <a:endParaRPr lang="zh-CN" altLang="en-US" sz="1500"/>
                    </a:p>
                  </a:txBody>
                  <a:tcPr marL="77674" marR="77674" marT="38837" marB="38837" anchor="ctr"/>
                </a:tc>
                <a:tc>
                  <a:txBody>
                    <a:bodyPr/>
                    <a:lstStyle/>
                    <a:p>
                      <a:r>
                        <a:rPr lang="zh-CN" altLang="en-US" sz="1500"/>
                        <a:t>模型应支持后续更新数据或接入</a:t>
                      </a:r>
                      <a:r>
                        <a:rPr lang="en" sz="1500"/>
                        <a:t>RAG</a:t>
                      </a:r>
                      <a:r>
                        <a:rPr lang="zh-CN" altLang="en-US" sz="1500"/>
                        <a:t>模块</a:t>
                      </a:r>
                    </a:p>
                  </a:txBody>
                  <a:tcPr marL="77674" marR="77674" marT="38837" marB="38837" anchor="ctr"/>
                </a:tc>
                <a:tc>
                  <a:txBody>
                    <a:bodyPr/>
                    <a:lstStyle/>
                    <a:p>
                      <a:r>
                        <a:rPr lang="zh-CN" altLang="en-US" sz="1500" dirty="0"/>
                        <a:t>结合文档检索模块增强知识覆盖面</a:t>
                      </a:r>
                    </a:p>
                  </a:txBody>
                  <a:tcPr marL="77674" marR="77674" marT="38837" marB="38837" anchor="ctr"/>
                </a:tc>
                <a:extLst>
                  <a:ext uri="{0D108BD9-81ED-4DB2-BD59-A6C34878D82A}">
                    <a16:rowId xmlns:a16="http://schemas.microsoft.com/office/drawing/2014/main" val="653333155"/>
                  </a:ext>
                </a:extLst>
              </a:tr>
            </a:tbl>
          </a:graphicData>
        </a:graphic>
      </p:graphicFrame>
    </p:spTree>
    <p:extLst>
      <p:ext uri="{BB962C8B-B14F-4D97-AF65-F5344CB8AC3E}">
        <p14:creationId xmlns:p14="http://schemas.microsoft.com/office/powerpoint/2010/main" val="178171934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851670"/>
            <a:ext cx="3228536"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p>
        </p:txBody>
      </p:sp>
      <p:sp>
        <p:nvSpPr>
          <p:cNvPr id="3" name="文本框 2"/>
          <p:cNvSpPr txBox="1"/>
          <p:nvPr/>
        </p:nvSpPr>
        <p:spPr>
          <a:xfrm>
            <a:off x="1352697" y="2164797"/>
            <a:ext cx="1677382" cy="530915"/>
          </a:xfrm>
          <a:prstGeom prst="rect">
            <a:avLst/>
          </a:prstGeom>
          <a:noFill/>
        </p:spPr>
        <p:txBody>
          <a:bodyPr wrap="none" lIns="68580" tIns="34290" rIns="68580" bIns="34290" rtlCol="0">
            <a:spAutoFit/>
          </a:bodyPr>
          <a:lstStyle/>
          <a:p>
            <a:r>
              <a:rPr lang="zh-CN" altLang="en-US" sz="3000" b="1" dirty="0">
                <a:solidFill>
                  <a:schemeClr val="bg1"/>
                </a:solidFill>
                <a:latin typeface="DengXian" panose="02010600030101010101" pitchFamily="2" charset="-122"/>
                <a:ea typeface="DengXian" panose="02010600030101010101" pitchFamily="2" charset="-122"/>
              </a:rPr>
              <a:t>第四部分</a:t>
            </a:r>
          </a:p>
        </p:txBody>
      </p:sp>
      <p:sp>
        <p:nvSpPr>
          <p:cNvPr id="11" name="矩形 10"/>
          <p:cNvSpPr/>
          <p:nvPr/>
        </p:nvSpPr>
        <p:spPr>
          <a:xfrm>
            <a:off x="3302392" y="1851670"/>
            <a:ext cx="305972"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dirty="0"/>
          </a:p>
        </p:txBody>
      </p:sp>
      <p:sp>
        <p:nvSpPr>
          <p:cNvPr id="13" name="文本框 12"/>
          <p:cNvSpPr txBox="1"/>
          <p:nvPr/>
        </p:nvSpPr>
        <p:spPr>
          <a:xfrm>
            <a:off x="4358608" y="2087852"/>
            <a:ext cx="4242187" cy="684803"/>
          </a:xfrm>
          <a:prstGeom prst="rect">
            <a:avLst/>
          </a:prstGeom>
          <a:noFill/>
        </p:spPr>
        <p:txBody>
          <a:bodyPr wrap="none" lIns="68580" tIns="34290" rIns="68580" bIns="34290" rtlCol="0">
            <a:spAutoFit/>
          </a:bodyPr>
          <a:lstStyle/>
          <a:p>
            <a:r>
              <a:rPr lang="zh-CN" altLang="en-US" sz="4000" dirty="0">
                <a:solidFill>
                  <a:srgbClr val="112F70"/>
                </a:solidFill>
                <a:latin typeface="微软雅黑" pitchFamily="34" charset="-122"/>
                <a:ea typeface="微软雅黑" pitchFamily="34" charset="-122"/>
              </a:rPr>
              <a:t>数据与数据预处理</a:t>
            </a:r>
          </a:p>
        </p:txBody>
      </p:sp>
      <p:pic>
        <p:nvPicPr>
          <p:cNvPr id="4" name="图形 38">
            <a:extLst>
              <a:ext uri="{FF2B5EF4-FFF2-40B4-BE49-F238E27FC236}">
                <a16:creationId xmlns:a16="http://schemas.microsoft.com/office/drawing/2014/main" id="{2D76D2FC-3260-5514-FEB3-792503370882}"/>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t="30918" b="33627"/>
          <a:stretch>
            <a:fillRect/>
          </a:stretch>
        </p:blipFill>
        <p:spPr>
          <a:xfrm>
            <a:off x="0" y="123478"/>
            <a:ext cx="3092450" cy="822325"/>
          </a:xfrm>
          <a:prstGeom prst="rect">
            <a:avLst/>
          </a:prstGeom>
        </p:spPr>
      </p:pic>
      <p:sp>
        <p:nvSpPr>
          <p:cNvPr id="7" name="矩形 6">
            <a:extLst>
              <a:ext uri="{FF2B5EF4-FFF2-40B4-BE49-F238E27FC236}">
                <a16:creationId xmlns:a16="http://schemas.microsoft.com/office/drawing/2014/main" id="{5ABB84EB-EEE1-0E03-D93D-196D864637C7}"/>
              </a:ext>
            </a:extLst>
          </p:cNvPr>
          <p:cNvSpPr/>
          <p:nvPr/>
        </p:nvSpPr>
        <p:spPr>
          <a:xfrm>
            <a:off x="3545466" y="1831016"/>
            <a:ext cx="5589896" cy="1188000"/>
          </a:xfrm>
          <a:prstGeom prst="rect">
            <a:avLst/>
          </a:prstGeom>
          <a:solidFill>
            <a:schemeClr val="tx1">
              <a:lumMod val="50000"/>
              <a:lumOff val="50000"/>
              <a:alpha val="229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3775701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 presetClass="entr" presetSubtype="1" fill="hold" grpId="0" nodeType="withEffect">
                                  <p:stCondLst>
                                    <p:cond delay="30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400" fill="hold"/>
                                        <p:tgtEl>
                                          <p:spTgt spid="11"/>
                                        </p:tgtEl>
                                        <p:attrNameLst>
                                          <p:attrName>ppt_x</p:attrName>
                                        </p:attrNameLst>
                                      </p:cBhvr>
                                      <p:tavLst>
                                        <p:tav tm="0">
                                          <p:val>
                                            <p:strVal val="#ppt_x"/>
                                          </p:val>
                                        </p:tav>
                                        <p:tav tm="100000">
                                          <p:val>
                                            <p:strVal val="#ppt_x"/>
                                          </p:val>
                                        </p:tav>
                                      </p:tavLst>
                                    </p:anim>
                                    <p:anim calcmode="lin" valueType="num">
                                      <p:cBhvr additive="base">
                                        <p:cTn id="11" dur="4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5" name="五边形 1"/>
          <p:cNvSpPr/>
          <p:nvPr/>
        </p:nvSpPr>
        <p:spPr>
          <a:xfrm>
            <a:off x="0" y="2019027"/>
            <a:ext cx="1872208" cy="623667"/>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微软雅黑" pitchFamily="34" charset="-122"/>
              <a:ea typeface="微软雅黑" pitchFamily="34" charset="-122"/>
            </a:endParaRPr>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数据来源</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数据与数据预处理</a:t>
            </a:r>
          </a:p>
        </p:txBody>
      </p:sp>
      <p:sp>
        <p:nvSpPr>
          <p:cNvPr id="25" name="文本框 24">
            <a:extLst>
              <a:ext uri="{FF2B5EF4-FFF2-40B4-BE49-F238E27FC236}">
                <a16:creationId xmlns:a16="http://schemas.microsoft.com/office/drawing/2014/main" id="{8B0212B9-85E4-CDC3-7C8D-C24348010439}"/>
              </a:ext>
            </a:extLst>
          </p:cNvPr>
          <p:cNvSpPr txBox="1"/>
          <p:nvPr/>
        </p:nvSpPr>
        <p:spPr>
          <a:xfrm>
            <a:off x="2631204" y="1779662"/>
            <a:ext cx="5271482" cy="2164695"/>
          </a:xfrm>
          <a:prstGeom prst="rect">
            <a:avLst/>
          </a:prstGeom>
          <a:noFill/>
        </p:spPr>
        <p:txBody>
          <a:bodyPr wrap="square">
            <a:spAutoFit/>
          </a:bodyPr>
          <a:lstStyle/>
          <a:p>
            <a:pPr indent="304800">
              <a:lnSpc>
                <a:spcPts val="2000"/>
              </a:lnSpc>
            </a:pPr>
            <a:r>
              <a:rPr lang="zh-CN" altLang="zh-CN" sz="1800" kern="100" dirty="0">
                <a:solidFill>
                  <a:srgbClr val="252B3A"/>
                </a:solidFill>
                <a:effectLst/>
                <a:highlight>
                  <a:srgbClr val="FFFFFF"/>
                </a:highlight>
                <a:latin typeface="Arial" panose="020B0604020202020204" pitchFamily="34" charset="0"/>
                <a:ea typeface="宋体" panose="02010600030101010101" pitchFamily="2" charset="-122"/>
                <a:cs typeface="Arial" panose="020B0604020202020204" pitchFamily="34" charset="0"/>
              </a:rPr>
              <a:t>新能源汽车维修数据集</a:t>
            </a:r>
            <a:r>
              <a:rPr lang="zh-CN" altLang="zh-CN" sz="1800" kern="100" dirty="0">
                <a:effectLst/>
                <a:latin typeface="Times New Roman" panose="02020603050405020304" pitchFamily="18" charset="0"/>
                <a:ea typeface="宋体" panose="02010600030101010101" pitchFamily="2" charset="-122"/>
                <a:cs typeface="Times New Roman (正文 CS 字体)"/>
              </a:rPr>
              <a:t>，该数据集旨在帮助研究人员和开发者构建汽车故障维修知识，其包含新能源汽车常见故障的详细描述、故障原因分析、维修步骤及所需工具等信息。通过使用本数据集，可以深入分析新能源汽车的常见故障及其维修方法，从而为智能维修系统、故障诊断工具等应用提供数据支持。数据集中包括</a:t>
            </a:r>
            <a:r>
              <a:rPr lang="en-US" altLang="zh-CN" sz="1800" kern="100" dirty="0">
                <a:solidFill>
                  <a:srgbClr val="252B3A"/>
                </a:solidFill>
                <a:effectLst/>
                <a:highlight>
                  <a:srgbClr val="FFFFFF"/>
                </a:highlight>
                <a:latin typeface="Arial" panose="020B0604020202020204" pitchFamily="34" charset="0"/>
                <a:ea typeface="宋体" panose="02010600030101010101" pitchFamily="2" charset="-122"/>
                <a:cs typeface="Times New Roman (正文 CS 字体)"/>
              </a:rPr>
              <a:t>82</a:t>
            </a:r>
            <a:r>
              <a:rPr lang="zh-CN" altLang="zh-CN" sz="1800" kern="100" dirty="0">
                <a:solidFill>
                  <a:srgbClr val="252B3A"/>
                </a:solidFill>
                <a:effectLst/>
                <a:highlight>
                  <a:srgbClr val="FFFFFF"/>
                </a:highlight>
                <a:latin typeface="Arial" panose="020B0604020202020204" pitchFamily="34" charset="0"/>
                <a:ea typeface="宋体" panose="02010600030101010101" pitchFamily="2" charset="-122"/>
                <a:cs typeface="Arial" panose="020B0604020202020204" pitchFamily="34" charset="0"/>
              </a:rPr>
              <a:t>个维修数据文件。</a:t>
            </a:r>
            <a:endParaRPr lang="zh-CN" altLang="zh-CN" sz="1800" kern="100" dirty="0">
              <a:effectLst/>
              <a:latin typeface="Times New Roman" panose="02020603050405020304" pitchFamily="18" charset="0"/>
              <a:ea typeface="宋体" panose="02010600030101010101" pitchFamily="2" charset="-122"/>
              <a:cs typeface="Times New Roman (正文 CS 字体)"/>
            </a:endParaRPr>
          </a:p>
          <a:p>
            <a:endParaRPr lang="zh-CN" altLang="en-US" dirty="0">
              <a:solidFill>
                <a:srgbClr val="0E0E0E"/>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2959357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700"/>
                            </p:stCondLst>
                            <p:childTnLst>
                              <p:par>
                                <p:cTn id="18" presetID="10" presetClass="entr" presetSubtype="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5" name="五边形 1"/>
          <p:cNvSpPr/>
          <p:nvPr/>
        </p:nvSpPr>
        <p:spPr>
          <a:xfrm>
            <a:off x="0" y="2019027"/>
            <a:ext cx="1872208" cy="623667"/>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微软雅黑" pitchFamily="34" charset="-122"/>
              <a:ea typeface="微软雅黑" pitchFamily="34" charset="-122"/>
            </a:endParaRPr>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数据清洗</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数据与数据预处理</a:t>
            </a:r>
          </a:p>
        </p:txBody>
      </p:sp>
      <p:sp>
        <p:nvSpPr>
          <p:cNvPr id="25" name="文本框 24">
            <a:extLst>
              <a:ext uri="{FF2B5EF4-FFF2-40B4-BE49-F238E27FC236}">
                <a16:creationId xmlns:a16="http://schemas.microsoft.com/office/drawing/2014/main" id="{8B0212B9-85E4-CDC3-7C8D-C24348010439}"/>
              </a:ext>
            </a:extLst>
          </p:cNvPr>
          <p:cNvSpPr txBox="1"/>
          <p:nvPr/>
        </p:nvSpPr>
        <p:spPr>
          <a:xfrm>
            <a:off x="1928485" y="537082"/>
            <a:ext cx="6228090" cy="4473019"/>
          </a:xfrm>
          <a:prstGeom prst="rect">
            <a:avLst/>
          </a:prstGeom>
          <a:noFill/>
        </p:spPr>
        <p:txBody>
          <a:bodyPr wrap="square">
            <a:spAutoFit/>
          </a:bodyPr>
          <a:lstStyle/>
          <a:p>
            <a:pPr indent="304800">
              <a:lnSpc>
                <a:spcPts val="2000"/>
              </a:lnSpc>
            </a:pP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首先，对原始文本进行统一编码和格式规范处理。由于部分文本来源于网页爬取或用户输入，存在编码不一致及无效字符问题，采用</a:t>
            </a:r>
            <a:r>
              <a:rPr lang="en-US"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UTF-8</a:t>
            </a: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编码统一转换，并剔除异常控制符与乱码字符，确保文本在后续处理中的稳定性。</a:t>
            </a:r>
            <a:endParaRPr lang="zh-CN" altLang="zh-CN" sz="1400" kern="100" dirty="0">
              <a:effectLst/>
              <a:latin typeface="Times New Roman" panose="02020603050405020304" pitchFamily="18" charset="0"/>
              <a:ea typeface="宋体" panose="02010600030101010101" pitchFamily="2" charset="-122"/>
              <a:cs typeface="Times New Roman (正文 CS 字体)"/>
            </a:endParaRPr>
          </a:p>
          <a:p>
            <a:pPr indent="304800">
              <a:lnSpc>
                <a:spcPts val="2000"/>
              </a:lnSpc>
            </a:pP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进行文本结构化处理。原始文本以自然语言段落为主，缺乏结构标注。为便于后续的规则抽取和问答生成，将文本按语义段落进行分句，识别其中的描述性语句、疑问句和结论性句子，并对部分明显的语义边界进行人工校验。</a:t>
            </a:r>
            <a:endParaRPr lang="zh-CN" altLang="zh-CN" sz="1400" kern="100" dirty="0">
              <a:effectLst/>
              <a:latin typeface="Times New Roman" panose="02020603050405020304" pitchFamily="18" charset="0"/>
              <a:ea typeface="宋体" panose="02010600030101010101" pitchFamily="2" charset="-122"/>
              <a:cs typeface="Times New Roman (正文 CS 字体)"/>
            </a:endParaRPr>
          </a:p>
          <a:p>
            <a:pPr indent="304800">
              <a:lnSpc>
                <a:spcPts val="2000"/>
              </a:lnSpc>
            </a:pP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完成冗余信息的清除工作。针对重复段落、用户签名、广告内容、无关链接、特殊符号等噪声文本，构建关键词过滤规则与正则表达式进行匹配清除，保留与诊断逻辑、车辆故障和操作建议直接相关的语句。</a:t>
            </a:r>
            <a:endParaRPr lang="zh-CN" altLang="zh-CN" sz="1400" kern="100" dirty="0">
              <a:effectLst/>
              <a:latin typeface="Times New Roman" panose="02020603050405020304" pitchFamily="18" charset="0"/>
              <a:ea typeface="宋体" panose="02010600030101010101" pitchFamily="2" charset="-122"/>
              <a:cs typeface="Times New Roman (正文 CS 字体)"/>
            </a:endParaRPr>
          </a:p>
          <a:p>
            <a:pPr indent="304800">
              <a:lnSpc>
                <a:spcPts val="2000"/>
              </a:lnSpc>
            </a:pP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进行基础规范化处理。主要包括统一数字表达形式（如里程、故障码等）、标准化单位（如</a:t>
            </a:r>
            <a:r>
              <a:rPr lang="en-US"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a:t>
            </a: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公里</a:t>
            </a:r>
            <a:r>
              <a:rPr lang="en-US"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a:t>
            </a: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与</a:t>
            </a:r>
            <a:r>
              <a:rPr lang="en-US"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“km”</a:t>
            </a: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统一处理）、简繁体转换（如有需要）、消歧处理（如</a:t>
            </a:r>
            <a:r>
              <a:rPr lang="en-US"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a:t>
            </a: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电瓶</a:t>
            </a:r>
            <a:r>
              <a:rPr lang="en-US"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a:t>
            </a: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与</a:t>
            </a:r>
            <a:r>
              <a:rPr lang="en-US"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a:t>
            </a: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蓄电池</a:t>
            </a:r>
            <a:r>
              <a:rPr lang="en-US"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a:t>
            </a: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归并）等，提高语义一致性。</a:t>
            </a:r>
            <a:endParaRPr lang="zh-CN" altLang="zh-CN" sz="1400" kern="100" dirty="0">
              <a:effectLst/>
              <a:latin typeface="Times New Roman" panose="02020603050405020304" pitchFamily="18" charset="0"/>
              <a:ea typeface="宋体" panose="02010600030101010101" pitchFamily="2" charset="-122"/>
              <a:cs typeface="Times New Roman (正文 CS 字体)"/>
            </a:endParaRPr>
          </a:p>
          <a:p>
            <a:pPr indent="304800">
              <a:lnSpc>
                <a:spcPts val="2000"/>
              </a:lnSpc>
            </a:pPr>
            <a:r>
              <a:rPr lang="zh-CN" altLang="zh-CN" sz="1400" kern="100" dirty="0">
                <a:solidFill>
                  <a:srgbClr val="000000"/>
                </a:solidFill>
                <a:effectLst/>
                <a:highlight>
                  <a:srgbClr val="FFFFFF"/>
                </a:highlight>
                <a:latin typeface="Times New Roman" panose="02020603050405020304" pitchFamily="18" charset="0"/>
                <a:ea typeface="宋体" panose="02010600030101010101" pitchFamily="2" charset="-122"/>
                <a:cs typeface="Times New Roman (正文 CS 字体)"/>
              </a:rPr>
              <a:t>最后，对文本进行了初步实体标注与句子筛选。在未引入模型微调之前，采用基于规则的方式对涉及故障类型、车辆部件、维修措施、症状表现等关键词进行匹配标注，初步形成诊断线索；同时，筛除篇幅过短或噪声过多的句子，仅保留具备知识价值的语段作为候选输入。</a:t>
            </a:r>
            <a:endParaRPr lang="zh-CN" altLang="zh-CN" sz="1400" kern="100" dirty="0">
              <a:effectLst/>
              <a:latin typeface="Times New Roman" panose="02020603050405020304" pitchFamily="18" charset="0"/>
              <a:ea typeface="宋体" panose="02010600030101010101" pitchFamily="2" charset="-122"/>
              <a:cs typeface="Times New Roman (正文 CS 字体)"/>
            </a:endParaRPr>
          </a:p>
          <a:p>
            <a:endParaRPr lang="zh-CN" altLang="en-US" dirty="0">
              <a:solidFill>
                <a:srgbClr val="0E0E0E"/>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6452610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700"/>
                            </p:stCondLst>
                            <p:childTnLst>
                              <p:par>
                                <p:cTn id="18" presetID="10" presetClass="entr" presetSubtype="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5" name="五边形 1"/>
          <p:cNvSpPr/>
          <p:nvPr/>
        </p:nvSpPr>
        <p:spPr>
          <a:xfrm>
            <a:off x="0" y="2019027"/>
            <a:ext cx="1872208" cy="623667"/>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微软雅黑" pitchFamily="34" charset="-122"/>
              <a:ea typeface="微软雅黑" pitchFamily="34" charset="-122"/>
            </a:endParaRPr>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数据标注</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数据与数据预处理</a:t>
            </a:r>
          </a:p>
        </p:txBody>
      </p:sp>
      <p:pic>
        <p:nvPicPr>
          <p:cNvPr id="2" name="图片 1" descr="图形用户界面, 文本, 应用程序&#10;&#10;描述已自动生成">
            <a:extLst>
              <a:ext uri="{FF2B5EF4-FFF2-40B4-BE49-F238E27FC236}">
                <a16:creationId xmlns:a16="http://schemas.microsoft.com/office/drawing/2014/main" id="{72CF8C6F-C09B-0CEA-D0C8-E8654D32FB5A}"/>
              </a:ext>
            </a:extLst>
          </p:cNvPr>
          <p:cNvPicPr>
            <a:picLocks noChangeAspect="1"/>
          </p:cNvPicPr>
          <p:nvPr/>
        </p:nvPicPr>
        <p:blipFill>
          <a:blip r:embed="rId4"/>
          <a:stretch>
            <a:fillRect/>
          </a:stretch>
        </p:blipFill>
        <p:spPr>
          <a:xfrm>
            <a:off x="2359913" y="492740"/>
            <a:ext cx="5270500" cy="2844165"/>
          </a:xfrm>
          <a:prstGeom prst="rect">
            <a:avLst/>
          </a:prstGeom>
        </p:spPr>
      </p:pic>
      <p:sp>
        <p:nvSpPr>
          <p:cNvPr id="7" name="文本框 6">
            <a:extLst>
              <a:ext uri="{FF2B5EF4-FFF2-40B4-BE49-F238E27FC236}">
                <a16:creationId xmlns:a16="http://schemas.microsoft.com/office/drawing/2014/main" id="{93C3BC3C-F0C4-71CD-B65D-E0B49306F208}"/>
              </a:ext>
            </a:extLst>
          </p:cNvPr>
          <p:cNvSpPr txBox="1"/>
          <p:nvPr/>
        </p:nvSpPr>
        <p:spPr>
          <a:xfrm>
            <a:off x="1763687" y="3533771"/>
            <a:ext cx="6462951" cy="1169551"/>
          </a:xfrm>
          <a:prstGeom prst="rect">
            <a:avLst/>
          </a:prstGeom>
          <a:noFill/>
        </p:spPr>
        <p:txBody>
          <a:bodyPr wrap="square">
            <a:spAutoFit/>
          </a:bodyPr>
          <a:lstStyle/>
          <a:p>
            <a:r>
              <a:rPr lang="zh-CN" altLang="zh-CN" sz="1400" dirty="0">
                <a:effectLst/>
                <a:latin typeface="+mn-ea"/>
                <a:cs typeface="Times New Roman" panose="02020603050405020304" pitchFamily="18" charset="0"/>
              </a:rPr>
              <a:t>在</a:t>
            </a:r>
            <a:r>
              <a:rPr lang="en-US" altLang="zh-CN" sz="1400" dirty="0" err="1">
                <a:effectLst/>
                <a:latin typeface="+mn-ea"/>
              </a:rPr>
              <a:t>Doccano</a:t>
            </a:r>
            <a:r>
              <a:rPr lang="zh-CN" altLang="zh-CN" sz="1400" dirty="0">
                <a:effectLst/>
                <a:latin typeface="+mn-ea"/>
                <a:cs typeface="Times New Roman" panose="02020603050405020304" pitchFamily="18" charset="0"/>
              </a:rPr>
              <a:t>中预设实体类型标签体系。本项目参考维修诊断语料特点，设定了九类核心标签，分别为：车辆信息（</a:t>
            </a:r>
            <a:r>
              <a:rPr lang="en-US" altLang="zh-CN" sz="1400" dirty="0">
                <a:effectLst/>
                <a:latin typeface="+mn-ea"/>
              </a:rPr>
              <a:t>Vehicle</a:t>
            </a:r>
            <a:r>
              <a:rPr lang="zh-CN" altLang="zh-CN" sz="1400" dirty="0">
                <a:effectLst/>
                <a:latin typeface="+mn-ea"/>
                <a:cs typeface="Times New Roman" panose="02020603050405020304" pitchFamily="18" charset="0"/>
              </a:rPr>
              <a:t>）、故障表现（</a:t>
            </a:r>
            <a:r>
              <a:rPr lang="en-US" altLang="zh-CN" sz="1400" dirty="0">
                <a:effectLst/>
                <a:latin typeface="+mn-ea"/>
              </a:rPr>
              <a:t>Symptom</a:t>
            </a:r>
            <a:r>
              <a:rPr lang="zh-CN" altLang="zh-CN" sz="1400" dirty="0">
                <a:effectLst/>
                <a:latin typeface="+mn-ea"/>
                <a:cs typeface="Times New Roman" panose="02020603050405020304" pitchFamily="18" charset="0"/>
              </a:rPr>
              <a:t>）、诊断结论（</a:t>
            </a:r>
            <a:r>
              <a:rPr lang="en-US" altLang="zh-CN" sz="1400" dirty="0">
                <a:effectLst/>
                <a:latin typeface="+mn-ea"/>
              </a:rPr>
              <a:t>Diagnosis</a:t>
            </a:r>
            <a:r>
              <a:rPr lang="zh-CN" altLang="zh-CN" sz="1400" dirty="0">
                <a:effectLst/>
                <a:latin typeface="+mn-ea"/>
                <a:cs typeface="Times New Roman" panose="02020603050405020304" pitchFamily="18" charset="0"/>
              </a:rPr>
              <a:t>）、操作建议（</a:t>
            </a:r>
            <a:r>
              <a:rPr lang="en-US" altLang="zh-CN" sz="1400" dirty="0">
                <a:effectLst/>
                <a:latin typeface="+mn-ea"/>
              </a:rPr>
              <a:t>Solution</a:t>
            </a:r>
            <a:r>
              <a:rPr lang="zh-CN" altLang="zh-CN" sz="1400" dirty="0">
                <a:effectLst/>
                <a:latin typeface="+mn-ea"/>
                <a:cs typeface="Times New Roman" panose="02020603050405020304" pitchFamily="18" charset="0"/>
              </a:rPr>
              <a:t>）、影响部件（</a:t>
            </a:r>
            <a:r>
              <a:rPr lang="en-US" altLang="zh-CN" sz="1400" dirty="0">
                <a:effectLst/>
                <a:latin typeface="+mn-ea"/>
              </a:rPr>
              <a:t>Component</a:t>
            </a:r>
            <a:r>
              <a:rPr lang="zh-CN" altLang="zh-CN" sz="1400" dirty="0">
                <a:effectLst/>
                <a:latin typeface="+mn-ea"/>
                <a:cs typeface="Times New Roman" panose="02020603050405020304" pitchFamily="18" charset="0"/>
              </a:rPr>
              <a:t>）、原因分析（</a:t>
            </a:r>
            <a:r>
              <a:rPr lang="en-US" altLang="zh-CN" sz="1400" dirty="0">
                <a:effectLst/>
                <a:latin typeface="+mn-ea"/>
              </a:rPr>
              <a:t>Reason</a:t>
            </a:r>
            <a:r>
              <a:rPr lang="zh-CN" altLang="zh-CN" sz="1400" dirty="0">
                <a:effectLst/>
                <a:latin typeface="+mn-ea"/>
                <a:cs typeface="Times New Roman" panose="02020603050405020304" pitchFamily="18" charset="0"/>
              </a:rPr>
              <a:t>）、安全注意事项（</a:t>
            </a:r>
            <a:r>
              <a:rPr lang="en-US" altLang="zh-CN" sz="1400" dirty="0">
                <a:effectLst/>
                <a:latin typeface="+mn-ea"/>
              </a:rPr>
              <a:t>Safety</a:t>
            </a:r>
            <a:r>
              <a:rPr lang="zh-CN" altLang="zh-CN" sz="1400" dirty="0">
                <a:effectLst/>
                <a:latin typeface="+mn-ea"/>
                <a:cs typeface="Times New Roman" panose="02020603050405020304" pitchFamily="18" charset="0"/>
              </a:rPr>
              <a:t>）、使用工具（</a:t>
            </a:r>
            <a:r>
              <a:rPr lang="en-US" altLang="zh-CN" sz="1400" dirty="0">
                <a:effectLst/>
                <a:latin typeface="+mn-ea"/>
              </a:rPr>
              <a:t>Tool</a:t>
            </a:r>
            <a:r>
              <a:rPr lang="zh-CN" altLang="zh-CN" sz="1400" dirty="0">
                <a:effectLst/>
                <a:latin typeface="+mn-ea"/>
                <a:cs typeface="Times New Roman" panose="02020603050405020304" pitchFamily="18" charset="0"/>
              </a:rPr>
              <a:t>）、故障类型（</a:t>
            </a:r>
            <a:r>
              <a:rPr lang="en-US" altLang="zh-CN" sz="1400" dirty="0" err="1">
                <a:effectLst/>
                <a:latin typeface="+mn-ea"/>
              </a:rPr>
              <a:t>Fault_type</a:t>
            </a:r>
            <a:r>
              <a:rPr lang="zh-CN" altLang="zh-CN" sz="1400" dirty="0">
                <a:effectLst/>
                <a:latin typeface="+mn-ea"/>
                <a:cs typeface="Times New Roman" panose="02020603050405020304" pitchFamily="18" charset="0"/>
              </a:rPr>
              <a:t>）</a:t>
            </a:r>
            <a:r>
              <a:rPr lang="en-US" altLang="zh-CN" sz="1400" dirty="0">
                <a:effectLst/>
                <a:latin typeface="+mn-ea"/>
              </a:rPr>
              <a:t>.</a:t>
            </a:r>
            <a:r>
              <a:rPr lang="zh-CN" altLang="zh-CN" sz="1400" dirty="0">
                <a:effectLst/>
                <a:latin typeface="+mn-ea"/>
              </a:rPr>
              <a:t> </a:t>
            </a:r>
            <a:endParaRPr lang="zh-CN" altLang="en-US" sz="1400" dirty="0">
              <a:latin typeface="+mn-ea"/>
            </a:endParaRPr>
          </a:p>
        </p:txBody>
      </p:sp>
    </p:spTree>
    <p:extLst>
      <p:ext uri="{BB962C8B-B14F-4D97-AF65-F5344CB8AC3E}">
        <p14:creationId xmlns:p14="http://schemas.microsoft.com/office/powerpoint/2010/main" val="102730706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700"/>
                            </p:stCondLst>
                            <p:childTnLst>
                              <p:par>
                                <p:cTn id="18" presetID="10" presetClass="entr" presetSubtype="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5" name="五边形 1"/>
          <p:cNvSpPr/>
          <p:nvPr/>
        </p:nvSpPr>
        <p:spPr>
          <a:xfrm>
            <a:off x="0" y="2019027"/>
            <a:ext cx="1872208" cy="623667"/>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微软雅黑" pitchFamily="34" charset="-122"/>
              <a:ea typeface="微软雅黑" pitchFamily="34" charset="-122"/>
            </a:endParaRPr>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数据标注</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数据与数据预处理</a:t>
            </a:r>
          </a:p>
        </p:txBody>
      </p:sp>
      <p:sp>
        <p:nvSpPr>
          <p:cNvPr id="7" name="文本框 6">
            <a:extLst>
              <a:ext uri="{FF2B5EF4-FFF2-40B4-BE49-F238E27FC236}">
                <a16:creationId xmlns:a16="http://schemas.microsoft.com/office/drawing/2014/main" id="{93C3BC3C-F0C4-71CD-B65D-E0B49306F208}"/>
              </a:ext>
            </a:extLst>
          </p:cNvPr>
          <p:cNvSpPr txBox="1"/>
          <p:nvPr/>
        </p:nvSpPr>
        <p:spPr>
          <a:xfrm>
            <a:off x="7504649" y="2458028"/>
            <a:ext cx="6462951" cy="369332"/>
          </a:xfrm>
          <a:prstGeom prst="rect">
            <a:avLst/>
          </a:prstGeom>
          <a:noFill/>
        </p:spPr>
        <p:txBody>
          <a:bodyPr wrap="square">
            <a:spAutoFit/>
          </a:bodyPr>
          <a:lstStyle/>
          <a:p>
            <a:r>
              <a:rPr lang="zh-CN" altLang="zh-CN" sz="1800" dirty="0">
                <a:effectLst/>
                <a:latin typeface="+mn-ea"/>
                <a:cs typeface="Times New Roman" panose="02020603050405020304" pitchFamily="18" charset="0"/>
              </a:rPr>
              <a:t>导出标注结果。</a:t>
            </a:r>
            <a:r>
              <a:rPr lang="zh-CN" altLang="zh-CN" sz="1400" dirty="0">
                <a:effectLst/>
                <a:latin typeface="+mn-ea"/>
              </a:rPr>
              <a:t> </a:t>
            </a:r>
            <a:endParaRPr lang="zh-CN" altLang="en-US" sz="1400" dirty="0">
              <a:latin typeface="+mn-ea"/>
            </a:endParaRPr>
          </a:p>
        </p:txBody>
      </p:sp>
      <p:pic>
        <p:nvPicPr>
          <p:cNvPr id="6" name="图片 5" descr="图形用户界面, 文本&#10;&#10;描述已自动生成">
            <a:extLst>
              <a:ext uri="{FF2B5EF4-FFF2-40B4-BE49-F238E27FC236}">
                <a16:creationId xmlns:a16="http://schemas.microsoft.com/office/drawing/2014/main" id="{487935F7-8A1F-0370-9EAD-92BF269007F5}"/>
              </a:ext>
            </a:extLst>
          </p:cNvPr>
          <p:cNvPicPr>
            <a:picLocks noChangeAspect="1"/>
          </p:cNvPicPr>
          <p:nvPr/>
        </p:nvPicPr>
        <p:blipFill>
          <a:blip r:embed="rId4"/>
          <a:stretch>
            <a:fillRect/>
          </a:stretch>
        </p:blipFill>
        <p:spPr>
          <a:xfrm>
            <a:off x="2234149" y="60448"/>
            <a:ext cx="5270500" cy="4940935"/>
          </a:xfrm>
          <a:prstGeom prst="rect">
            <a:avLst/>
          </a:prstGeom>
        </p:spPr>
      </p:pic>
    </p:spTree>
    <p:extLst>
      <p:ext uri="{BB962C8B-B14F-4D97-AF65-F5344CB8AC3E}">
        <p14:creationId xmlns:p14="http://schemas.microsoft.com/office/powerpoint/2010/main" val="237783275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700"/>
                            </p:stCondLst>
                            <p:childTnLst>
                              <p:par>
                                <p:cTn id="18" presetID="10" presetClass="entr" presetSubtype="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5" name="五边形 1"/>
          <p:cNvSpPr/>
          <p:nvPr/>
        </p:nvSpPr>
        <p:spPr>
          <a:xfrm>
            <a:off x="0" y="2019027"/>
            <a:ext cx="1872208" cy="623667"/>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微软雅黑" pitchFamily="34" charset="-122"/>
              <a:ea typeface="微软雅黑" pitchFamily="34" charset="-122"/>
            </a:endParaRPr>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构建问答对</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数据与数据预处理</a:t>
            </a:r>
          </a:p>
        </p:txBody>
      </p:sp>
      <p:sp>
        <p:nvSpPr>
          <p:cNvPr id="7" name="文本框 6">
            <a:extLst>
              <a:ext uri="{FF2B5EF4-FFF2-40B4-BE49-F238E27FC236}">
                <a16:creationId xmlns:a16="http://schemas.microsoft.com/office/drawing/2014/main" id="{93C3BC3C-F0C4-71CD-B65D-E0B49306F208}"/>
              </a:ext>
            </a:extLst>
          </p:cNvPr>
          <p:cNvSpPr txBox="1"/>
          <p:nvPr/>
        </p:nvSpPr>
        <p:spPr>
          <a:xfrm>
            <a:off x="7378244" y="1492786"/>
            <a:ext cx="1444108" cy="2308324"/>
          </a:xfrm>
          <a:prstGeom prst="rect">
            <a:avLst/>
          </a:prstGeom>
          <a:noFill/>
        </p:spPr>
        <p:txBody>
          <a:bodyPr wrap="square">
            <a:spAutoFit/>
          </a:bodyPr>
          <a:lstStyle/>
          <a:p>
            <a:r>
              <a:rPr lang="zh-CN" altLang="zh-CN" sz="1800" dirty="0">
                <a:effectLst/>
                <a:latin typeface="+mn-ea"/>
                <a:cs typeface="Times New Roman" panose="02020603050405020304" pitchFamily="18" charset="0"/>
              </a:rPr>
              <a:t>制定问答生成模板体系。结合语料中常见的故障场景与用户意图，预设多种问句模式</a:t>
            </a:r>
            <a:r>
              <a:rPr lang="zh-CN" altLang="zh-CN" dirty="0">
                <a:effectLst/>
                <a:latin typeface="+mn-ea"/>
              </a:rPr>
              <a:t> </a:t>
            </a:r>
            <a:endParaRPr lang="zh-CN" altLang="en-US" sz="1400" dirty="0">
              <a:latin typeface="+mn-ea"/>
            </a:endParaRPr>
          </a:p>
        </p:txBody>
      </p:sp>
      <p:pic>
        <p:nvPicPr>
          <p:cNvPr id="2" name="图片 1">
            <a:extLst>
              <a:ext uri="{FF2B5EF4-FFF2-40B4-BE49-F238E27FC236}">
                <a16:creationId xmlns:a16="http://schemas.microsoft.com/office/drawing/2014/main" id="{2528B2A5-60AC-AC9A-1EAB-98ED40C750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7067" y="1342390"/>
            <a:ext cx="5269865" cy="2458720"/>
          </a:xfrm>
          <a:prstGeom prst="rect">
            <a:avLst/>
          </a:prstGeom>
        </p:spPr>
      </p:pic>
    </p:spTree>
    <p:extLst>
      <p:ext uri="{BB962C8B-B14F-4D97-AF65-F5344CB8AC3E}">
        <p14:creationId xmlns:p14="http://schemas.microsoft.com/office/powerpoint/2010/main" val="136907636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700"/>
                            </p:stCondLst>
                            <p:childTnLst>
                              <p:par>
                                <p:cTn id="18" presetID="10" presetClass="entr" presetSubtype="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5" name="五边形 1"/>
          <p:cNvSpPr/>
          <p:nvPr/>
        </p:nvSpPr>
        <p:spPr>
          <a:xfrm>
            <a:off x="0" y="2019027"/>
            <a:ext cx="1872208" cy="623667"/>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微软雅黑" pitchFamily="34" charset="-122"/>
              <a:ea typeface="微软雅黑" pitchFamily="34" charset="-122"/>
            </a:endParaRPr>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索引构建</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数据与数据预处理</a:t>
            </a:r>
          </a:p>
        </p:txBody>
      </p:sp>
      <p:sp>
        <p:nvSpPr>
          <p:cNvPr id="7" name="文本框 6">
            <a:extLst>
              <a:ext uri="{FF2B5EF4-FFF2-40B4-BE49-F238E27FC236}">
                <a16:creationId xmlns:a16="http://schemas.microsoft.com/office/drawing/2014/main" id="{93C3BC3C-F0C4-71CD-B65D-E0B49306F208}"/>
              </a:ext>
            </a:extLst>
          </p:cNvPr>
          <p:cNvSpPr txBox="1"/>
          <p:nvPr/>
        </p:nvSpPr>
        <p:spPr>
          <a:xfrm>
            <a:off x="7378244" y="1492786"/>
            <a:ext cx="1444108" cy="2031325"/>
          </a:xfrm>
          <a:prstGeom prst="rect">
            <a:avLst/>
          </a:prstGeom>
          <a:noFill/>
        </p:spPr>
        <p:txBody>
          <a:bodyPr wrap="square">
            <a:spAutoFit/>
          </a:bodyPr>
          <a:lstStyle/>
          <a:p>
            <a:r>
              <a:rPr lang="zh-CN" altLang="zh-CN" sz="1800" dirty="0">
                <a:effectLst/>
                <a:latin typeface="+mn-ea"/>
                <a:cs typeface="Times New Roman" panose="02020603050405020304" pitchFamily="18" charset="0"/>
              </a:rPr>
              <a:t>将所有问答样本或原始语料中的上下文段落构建为可被向量检索的索引</a:t>
            </a:r>
            <a:r>
              <a:rPr lang="zh-CN" altLang="zh-CN" dirty="0">
                <a:effectLst/>
                <a:latin typeface="+mn-ea"/>
              </a:rPr>
              <a:t> </a:t>
            </a:r>
            <a:endParaRPr lang="zh-CN" altLang="en-US" sz="1400" dirty="0">
              <a:latin typeface="+mn-ea"/>
            </a:endParaRPr>
          </a:p>
        </p:txBody>
      </p:sp>
      <p:pic>
        <p:nvPicPr>
          <p:cNvPr id="2" name="图片 1">
            <a:extLst>
              <a:ext uri="{FF2B5EF4-FFF2-40B4-BE49-F238E27FC236}">
                <a16:creationId xmlns:a16="http://schemas.microsoft.com/office/drawing/2014/main" id="{2528B2A5-60AC-AC9A-1EAB-98ED40C750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7067" y="1342390"/>
            <a:ext cx="5269865" cy="2458720"/>
          </a:xfrm>
          <a:prstGeom prst="rect">
            <a:avLst/>
          </a:prstGeom>
        </p:spPr>
      </p:pic>
      <p:pic>
        <p:nvPicPr>
          <p:cNvPr id="6" name="图片 5">
            <a:extLst>
              <a:ext uri="{FF2B5EF4-FFF2-40B4-BE49-F238E27FC236}">
                <a16:creationId xmlns:a16="http://schemas.microsoft.com/office/drawing/2014/main" id="{049E8E75-6DBC-F6D5-AC66-2375F758C56E}"/>
              </a:ext>
            </a:extLst>
          </p:cNvPr>
          <p:cNvPicPr>
            <a:picLocks noChangeAspect="1"/>
          </p:cNvPicPr>
          <p:nvPr/>
        </p:nvPicPr>
        <p:blipFill>
          <a:blip r:embed="rId5"/>
          <a:stretch>
            <a:fillRect/>
          </a:stretch>
        </p:blipFill>
        <p:spPr>
          <a:xfrm>
            <a:off x="1936750" y="1082675"/>
            <a:ext cx="5270500" cy="2978150"/>
          </a:xfrm>
          <a:prstGeom prst="rect">
            <a:avLst/>
          </a:prstGeom>
        </p:spPr>
      </p:pic>
    </p:spTree>
    <p:extLst>
      <p:ext uri="{BB962C8B-B14F-4D97-AF65-F5344CB8AC3E}">
        <p14:creationId xmlns:p14="http://schemas.microsoft.com/office/powerpoint/2010/main" val="380727170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700"/>
                            </p:stCondLst>
                            <p:childTnLst>
                              <p:par>
                                <p:cTn id="18" presetID="10" presetClass="entr" presetSubtype="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851670"/>
            <a:ext cx="3228536"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p>
        </p:txBody>
      </p:sp>
      <p:sp>
        <p:nvSpPr>
          <p:cNvPr id="3" name="文本框 2"/>
          <p:cNvSpPr txBox="1"/>
          <p:nvPr/>
        </p:nvSpPr>
        <p:spPr>
          <a:xfrm>
            <a:off x="1352697" y="2164797"/>
            <a:ext cx="1677382" cy="530915"/>
          </a:xfrm>
          <a:prstGeom prst="rect">
            <a:avLst/>
          </a:prstGeom>
          <a:noFill/>
        </p:spPr>
        <p:txBody>
          <a:bodyPr wrap="none" lIns="68580" tIns="34290" rIns="68580" bIns="34290" rtlCol="0">
            <a:spAutoFit/>
          </a:bodyPr>
          <a:lstStyle/>
          <a:p>
            <a:r>
              <a:rPr lang="zh-CN" altLang="en-US" sz="3000" b="1" dirty="0">
                <a:solidFill>
                  <a:schemeClr val="bg1"/>
                </a:solidFill>
                <a:latin typeface="DengXian" panose="02010600030101010101" pitchFamily="2" charset="-122"/>
                <a:ea typeface="DengXian" panose="02010600030101010101" pitchFamily="2" charset="-122"/>
              </a:rPr>
              <a:t>第五部分</a:t>
            </a:r>
          </a:p>
        </p:txBody>
      </p:sp>
      <p:sp>
        <p:nvSpPr>
          <p:cNvPr id="11" name="矩形 10"/>
          <p:cNvSpPr/>
          <p:nvPr/>
        </p:nvSpPr>
        <p:spPr>
          <a:xfrm>
            <a:off x="3302392" y="1851670"/>
            <a:ext cx="305972"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dirty="0"/>
          </a:p>
        </p:txBody>
      </p:sp>
      <p:sp>
        <p:nvSpPr>
          <p:cNvPr id="13" name="文本框 12"/>
          <p:cNvSpPr txBox="1"/>
          <p:nvPr/>
        </p:nvSpPr>
        <p:spPr>
          <a:xfrm>
            <a:off x="4358608" y="2087852"/>
            <a:ext cx="3729226" cy="684803"/>
          </a:xfrm>
          <a:prstGeom prst="rect">
            <a:avLst/>
          </a:prstGeom>
          <a:noFill/>
        </p:spPr>
        <p:txBody>
          <a:bodyPr wrap="none" lIns="68580" tIns="34290" rIns="68580" bIns="34290" rtlCol="0">
            <a:spAutoFit/>
          </a:bodyPr>
          <a:lstStyle/>
          <a:p>
            <a:r>
              <a:rPr lang="zh-CN" altLang="en-US" sz="4000" dirty="0">
                <a:solidFill>
                  <a:srgbClr val="112F70"/>
                </a:solidFill>
                <a:latin typeface="微软雅黑" pitchFamily="34" charset="-122"/>
                <a:ea typeface="微软雅黑" pitchFamily="34" charset="-122"/>
              </a:rPr>
              <a:t>系统模块与实现</a:t>
            </a:r>
          </a:p>
        </p:txBody>
      </p:sp>
      <p:pic>
        <p:nvPicPr>
          <p:cNvPr id="4" name="图形 38">
            <a:extLst>
              <a:ext uri="{FF2B5EF4-FFF2-40B4-BE49-F238E27FC236}">
                <a16:creationId xmlns:a16="http://schemas.microsoft.com/office/drawing/2014/main" id="{2D76D2FC-3260-5514-FEB3-792503370882}"/>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t="30918" b="33627"/>
          <a:stretch>
            <a:fillRect/>
          </a:stretch>
        </p:blipFill>
        <p:spPr>
          <a:xfrm>
            <a:off x="0" y="123478"/>
            <a:ext cx="3092450" cy="822325"/>
          </a:xfrm>
          <a:prstGeom prst="rect">
            <a:avLst/>
          </a:prstGeom>
        </p:spPr>
      </p:pic>
      <p:sp>
        <p:nvSpPr>
          <p:cNvPr id="7" name="矩形 6">
            <a:extLst>
              <a:ext uri="{FF2B5EF4-FFF2-40B4-BE49-F238E27FC236}">
                <a16:creationId xmlns:a16="http://schemas.microsoft.com/office/drawing/2014/main" id="{5ABB84EB-EEE1-0E03-D93D-196D864637C7}"/>
              </a:ext>
            </a:extLst>
          </p:cNvPr>
          <p:cNvSpPr/>
          <p:nvPr/>
        </p:nvSpPr>
        <p:spPr>
          <a:xfrm>
            <a:off x="3554104" y="1851670"/>
            <a:ext cx="5589896" cy="1188000"/>
          </a:xfrm>
          <a:prstGeom prst="rect">
            <a:avLst/>
          </a:prstGeom>
          <a:solidFill>
            <a:schemeClr val="tx1">
              <a:lumMod val="50000"/>
              <a:lumOff val="50000"/>
              <a:alpha val="229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213334734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 presetClass="entr" presetSubtype="1" fill="hold" grpId="0" nodeType="withEffect">
                                  <p:stCondLst>
                                    <p:cond delay="30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400" fill="hold"/>
                                        <p:tgtEl>
                                          <p:spTgt spid="11"/>
                                        </p:tgtEl>
                                        <p:attrNameLst>
                                          <p:attrName>ppt_x</p:attrName>
                                        </p:attrNameLst>
                                      </p:cBhvr>
                                      <p:tavLst>
                                        <p:tav tm="0">
                                          <p:val>
                                            <p:strVal val="#ppt_x"/>
                                          </p:val>
                                        </p:tav>
                                        <p:tav tm="100000">
                                          <p:val>
                                            <p:strVal val="#ppt_x"/>
                                          </p:val>
                                        </p:tav>
                                      </p:tavLst>
                                    </p:anim>
                                    <p:anim calcmode="lin" valueType="num">
                                      <p:cBhvr additive="base">
                                        <p:cTn id="11" dur="4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索引构建</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系统模块与实现</a:t>
            </a:r>
          </a:p>
        </p:txBody>
      </p:sp>
      <p:sp>
        <p:nvSpPr>
          <p:cNvPr id="7" name="文本框 6">
            <a:extLst>
              <a:ext uri="{FF2B5EF4-FFF2-40B4-BE49-F238E27FC236}">
                <a16:creationId xmlns:a16="http://schemas.microsoft.com/office/drawing/2014/main" id="{93C3BC3C-F0C4-71CD-B65D-E0B49306F208}"/>
              </a:ext>
            </a:extLst>
          </p:cNvPr>
          <p:cNvSpPr txBox="1"/>
          <p:nvPr/>
        </p:nvSpPr>
        <p:spPr>
          <a:xfrm>
            <a:off x="1763688" y="3314724"/>
            <a:ext cx="4979237" cy="1374735"/>
          </a:xfrm>
          <a:prstGeom prst="rect">
            <a:avLst/>
          </a:prstGeom>
          <a:noFill/>
        </p:spPr>
        <p:txBody>
          <a:bodyPr wrap="square">
            <a:spAutoFit/>
          </a:bodyPr>
          <a:lstStyle/>
          <a:p>
            <a:pPr indent="266700">
              <a:lnSpc>
                <a:spcPts val="2000"/>
              </a:lnSpc>
            </a:pPr>
            <a:r>
              <a:rPr lang="zh-CN" altLang="zh-CN" sz="1800" kern="100" dirty="0">
                <a:effectLst/>
                <a:latin typeface="Times New Roman" panose="02020603050405020304" pitchFamily="18" charset="0"/>
                <a:ea typeface="宋体" panose="02010600030101010101" pitchFamily="2" charset="-122"/>
                <a:cs typeface="Times New Roman (正文 CS 字体)"/>
              </a:rPr>
              <a:t>检索模块</a:t>
            </a:r>
            <a:r>
              <a:rPr lang="en-US" altLang="zh-CN" sz="1800" kern="100" dirty="0" err="1">
                <a:effectLst/>
                <a:latin typeface="Times New Roman" panose="02020603050405020304" pitchFamily="18" charset="0"/>
                <a:ea typeface="宋体" panose="02010600030101010101" pitchFamily="2" charset="-122"/>
                <a:cs typeface="Times New Roman (正文 CS 字体)"/>
              </a:rPr>
              <a:t>rag_retriever</a:t>
            </a:r>
            <a:r>
              <a:rPr lang="zh-CN" altLang="zh-CN" sz="1800" kern="100" dirty="0">
                <a:effectLst/>
                <a:latin typeface="Times New Roman" panose="02020603050405020304" pitchFamily="18" charset="0"/>
                <a:ea typeface="宋体" panose="02010600030101010101" pitchFamily="2" charset="-122"/>
                <a:cs typeface="Times New Roman (正文 CS 字体)"/>
              </a:rPr>
              <a:t>是本系统中负责知识检索的核心组件。其职责是在用户提出查询问题后，从构建好的向量索引中高效地检索出与问题语义最相关的文本片段，供后续生成模块作为参考上下文使用。</a:t>
            </a:r>
          </a:p>
        </p:txBody>
      </p:sp>
      <p:pic>
        <p:nvPicPr>
          <p:cNvPr id="9" name="图片 8" descr="文本&#10;&#10;描述已自动生成">
            <a:extLst>
              <a:ext uri="{FF2B5EF4-FFF2-40B4-BE49-F238E27FC236}">
                <a16:creationId xmlns:a16="http://schemas.microsoft.com/office/drawing/2014/main" id="{243BBBEC-D7B5-1D8A-128B-4178B22863A6}"/>
              </a:ext>
            </a:extLst>
          </p:cNvPr>
          <p:cNvPicPr>
            <a:picLocks noChangeAspect="1"/>
          </p:cNvPicPr>
          <p:nvPr/>
        </p:nvPicPr>
        <p:blipFill>
          <a:blip r:embed="rId4"/>
          <a:stretch>
            <a:fillRect/>
          </a:stretch>
        </p:blipFill>
        <p:spPr>
          <a:xfrm>
            <a:off x="1618056" y="843558"/>
            <a:ext cx="5270500" cy="2328545"/>
          </a:xfrm>
          <a:prstGeom prst="rect">
            <a:avLst/>
          </a:prstGeom>
        </p:spPr>
      </p:pic>
    </p:spTree>
    <p:extLst>
      <p:ext uri="{BB962C8B-B14F-4D97-AF65-F5344CB8AC3E}">
        <p14:creationId xmlns:p14="http://schemas.microsoft.com/office/powerpoint/2010/main" val="292933249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400"/>
                            </p:stCondLst>
                            <p:childTnLst>
                              <p:par>
                                <p:cTn id="15" presetID="10" presetClass="entr" presetSubtype="0"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索引构建</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系统模块与实现</a:t>
            </a:r>
          </a:p>
        </p:txBody>
      </p:sp>
      <p:sp>
        <p:nvSpPr>
          <p:cNvPr id="7" name="文本框 6">
            <a:extLst>
              <a:ext uri="{FF2B5EF4-FFF2-40B4-BE49-F238E27FC236}">
                <a16:creationId xmlns:a16="http://schemas.microsoft.com/office/drawing/2014/main" id="{93C3BC3C-F0C4-71CD-B65D-E0B49306F208}"/>
              </a:ext>
            </a:extLst>
          </p:cNvPr>
          <p:cNvSpPr txBox="1"/>
          <p:nvPr/>
        </p:nvSpPr>
        <p:spPr>
          <a:xfrm>
            <a:off x="1763688" y="3314724"/>
            <a:ext cx="4979237" cy="1374735"/>
          </a:xfrm>
          <a:prstGeom prst="rect">
            <a:avLst/>
          </a:prstGeom>
          <a:noFill/>
        </p:spPr>
        <p:txBody>
          <a:bodyPr wrap="square">
            <a:spAutoFit/>
          </a:bodyPr>
          <a:lstStyle/>
          <a:p>
            <a:pPr indent="266700">
              <a:lnSpc>
                <a:spcPts val="2000"/>
              </a:lnSpc>
            </a:pPr>
            <a:r>
              <a:rPr lang="zh-CN" altLang="zh-CN" sz="1800" kern="100" dirty="0">
                <a:effectLst/>
                <a:latin typeface="Times New Roman" panose="02020603050405020304" pitchFamily="18" charset="0"/>
                <a:ea typeface="宋体" panose="02010600030101010101" pitchFamily="2" charset="-122"/>
                <a:cs typeface="Times New Roman (正文 CS 字体)"/>
              </a:rPr>
              <a:t>检索模块</a:t>
            </a:r>
            <a:r>
              <a:rPr lang="en-US" altLang="zh-CN" sz="1800" kern="100" dirty="0" err="1">
                <a:effectLst/>
                <a:latin typeface="Times New Roman" panose="02020603050405020304" pitchFamily="18" charset="0"/>
                <a:ea typeface="宋体" panose="02010600030101010101" pitchFamily="2" charset="-122"/>
                <a:cs typeface="Times New Roman (正文 CS 字体)"/>
              </a:rPr>
              <a:t>rag_retriever</a:t>
            </a:r>
            <a:r>
              <a:rPr lang="zh-CN" altLang="zh-CN" sz="1800" kern="100" dirty="0">
                <a:effectLst/>
                <a:latin typeface="Times New Roman" panose="02020603050405020304" pitchFamily="18" charset="0"/>
                <a:ea typeface="宋体" panose="02010600030101010101" pitchFamily="2" charset="-122"/>
                <a:cs typeface="Times New Roman (正文 CS 字体)"/>
              </a:rPr>
              <a:t>是本系统中负责知识检索的核心组件。其职责是在用户提出查询问题后，从构建好的向量索引中高效地检索出与问题语义最相关的文本片段，供后续生成模块作为参考上下文使用。</a:t>
            </a:r>
          </a:p>
        </p:txBody>
      </p:sp>
      <p:pic>
        <p:nvPicPr>
          <p:cNvPr id="9" name="图片 8" descr="文本&#10;&#10;描述已自动生成">
            <a:extLst>
              <a:ext uri="{FF2B5EF4-FFF2-40B4-BE49-F238E27FC236}">
                <a16:creationId xmlns:a16="http://schemas.microsoft.com/office/drawing/2014/main" id="{243BBBEC-D7B5-1D8A-128B-4178B22863A6}"/>
              </a:ext>
            </a:extLst>
          </p:cNvPr>
          <p:cNvPicPr>
            <a:picLocks noChangeAspect="1"/>
          </p:cNvPicPr>
          <p:nvPr/>
        </p:nvPicPr>
        <p:blipFill>
          <a:blip r:embed="rId4"/>
          <a:stretch>
            <a:fillRect/>
          </a:stretch>
        </p:blipFill>
        <p:spPr>
          <a:xfrm>
            <a:off x="1618056" y="843558"/>
            <a:ext cx="5270500" cy="2328545"/>
          </a:xfrm>
          <a:prstGeom prst="rect">
            <a:avLst/>
          </a:prstGeom>
        </p:spPr>
      </p:pic>
    </p:spTree>
    <p:extLst>
      <p:ext uri="{BB962C8B-B14F-4D97-AF65-F5344CB8AC3E}">
        <p14:creationId xmlns:p14="http://schemas.microsoft.com/office/powerpoint/2010/main" val="243671346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400"/>
                            </p:stCondLst>
                            <p:childTnLst>
                              <p:par>
                                <p:cTn id="15" presetID="10" presetClass="entr" presetSubtype="0"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索引构建</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系统模块与实现</a:t>
            </a:r>
          </a:p>
        </p:txBody>
      </p:sp>
      <p:sp>
        <p:nvSpPr>
          <p:cNvPr id="7" name="文本框 6">
            <a:extLst>
              <a:ext uri="{FF2B5EF4-FFF2-40B4-BE49-F238E27FC236}">
                <a16:creationId xmlns:a16="http://schemas.microsoft.com/office/drawing/2014/main" id="{93C3BC3C-F0C4-71CD-B65D-E0B49306F208}"/>
              </a:ext>
            </a:extLst>
          </p:cNvPr>
          <p:cNvSpPr txBox="1"/>
          <p:nvPr/>
        </p:nvSpPr>
        <p:spPr>
          <a:xfrm>
            <a:off x="611560" y="3314724"/>
            <a:ext cx="8280920" cy="1631216"/>
          </a:xfrm>
          <a:prstGeom prst="rect">
            <a:avLst/>
          </a:prstGeom>
          <a:noFill/>
        </p:spPr>
        <p:txBody>
          <a:bodyPr wrap="square">
            <a:spAutoFit/>
          </a:bodyPr>
          <a:lstStyle/>
          <a:p>
            <a:pPr indent="266700">
              <a:lnSpc>
                <a:spcPts val="2000"/>
              </a:lnSpc>
            </a:pPr>
            <a:r>
              <a:rPr lang="zh-CN" altLang="zh-CN" sz="1800" kern="100" dirty="0">
                <a:effectLst/>
                <a:latin typeface="Times New Roman" panose="02020603050405020304" pitchFamily="18" charset="0"/>
                <a:ea typeface="宋体" panose="02010600030101010101" pitchFamily="2" charset="-122"/>
                <a:cs typeface="Times New Roman (正文 CS 字体)"/>
              </a:rPr>
              <a:t>为了实现基于本地大模型的问答系统服务，本项目使用</a:t>
            </a:r>
            <a:r>
              <a:rPr lang="en-US" altLang="zh-CN" sz="1800" kern="100" dirty="0" err="1">
                <a:effectLst/>
                <a:latin typeface="Times New Roman" panose="02020603050405020304" pitchFamily="18" charset="0"/>
                <a:ea typeface="宋体" panose="02010600030101010101" pitchFamily="2" charset="-122"/>
                <a:cs typeface="Times New Roman (正文 CS 字体)"/>
              </a:rPr>
              <a:t>FastAPI</a:t>
            </a:r>
            <a:r>
              <a:rPr lang="zh-CN" altLang="zh-CN" sz="1800" kern="100" dirty="0">
                <a:effectLst/>
                <a:latin typeface="Times New Roman" panose="02020603050405020304" pitchFamily="18" charset="0"/>
                <a:ea typeface="宋体" panose="02010600030101010101" pitchFamily="2" charset="-122"/>
                <a:cs typeface="Times New Roman (正文 CS 字体)"/>
              </a:rPr>
              <a:t>框架构建后端接口，并采用</a:t>
            </a:r>
            <a:r>
              <a:rPr lang="en-US" altLang="zh-CN" sz="1800" kern="100" dirty="0" err="1">
                <a:effectLst/>
                <a:latin typeface="Times New Roman" panose="02020603050405020304" pitchFamily="18" charset="0"/>
                <a:ea typeface="宋体" panose="02010600030101010101" pitchFamily="2" charset="-122"/>
                <a:cs typeface="Times New Roman (正文 CS 字体)"/>
              </a:rPr>
              <a:t>Uvicorn</a:t>
            </a:r>
            <a:r>
              <a:rPr lang="zh-CN" altLang="zh-CN" sz="1800" kern="100" dirty="0">
                <a:effectLst/>
                <a:latin typeface="Times New Roman" panose="02020603050405020304" pitchFamily="18" charset="0"/>
                <a:ea typeface="宋体" panose="02010600030101010101" pitchFamily="2" charset="-122"/>
                <a:cs typeface="Times New Roman (正文 CS 字体)"/>
              </a:rPr>
              <a:t>作为异步服务器进行部署运行。</a:t>
            </a:r>
          </a:p>
          <a:p>
            <a:pPr indent="266700">
              <a:lnSpc>
                <a:spcPts val="2000"/>
              </a:lnSpc>
            </a:pPr>
            <a:r>
              <a:rPr lang="zh-CN" altLang="zh-CN" sz="1800" kern="100" dirty="0">
                <a:effectLst/>
                <a:latin typeface="Times New Roman" panose="02020603050405020304" pitchFamily="18" charset="0"/>
                <a:ea typeface="宋体" panose="02010600030101010101" pitchFamily="2" charset="-122"/>
                <a:cs typeface="Times New Roman (正文 CS 字体)"/>
              </a:rPr>
              <a:t>在</a:t>
            </a:r>
            <a:r>
              <a:rPr lang="en-US" altLang="zh-CN" sz="1800" kern="100" dirty="0" err="1">
                <a:effectLst/>
                <a:latin typeface="Times New Roman" panose="02020603050405020304" pitchFamily="18" charset="0"/>
                <a:ea typeface="宋体" panose="02010600030101010101" pitchFamily="2" charset="-122"/>
                <a:cs typeface="Times New Roman (正文 CS 字体)"/>
              </a:rPr>
              <a:t>app.py</a:t>
            </a:r>
            <a:r>
              <a:rPr lang="zh-CN" altLang="zh-CN" sz="1800" kern="100" dirty="0">
                <a:effectLst/>
                <a:latin typeface="Times New Roman" panose="02020603050405020304" pitchFamily="18" charset="0"/>
                <a:ea typeface="宋体" panose="02010600030101010101" pitchFamily="2" charset="-122"/>
                <a:cs typeface="Times New Roman (正文 CS 字体)"/>
              </a:rPr>
              <a:t>文件中创建一个</a:t>
            </a:r>
            <a:r>
              <a:rPr lang="en-US" altLang="zh-CN" sz="1800" kern="100" dirty="0" err="1">
                <a:effectLst/>
                <a:latin typeface="Times New Roman" panose="02020603050405020304" pitchFamily="18" charset="0"/>
                <a:ea typeface="宋体" panose="02010600030101010101" pitchFamily="2" charset="-122"/>
                <a:cs typeface="Times New Roman (正文 CS 字体)"/>
              </a:rPr>
              <a:t>FastAPI</a:t>
            </a:r>
            <a:r>
              <a:rPr lang="zh-CN" altLang="zh-CN" sz="1800" kern="100" dirty="0">
                <a:effectLst/>
                <a:latin typeface="Times New Roman" panose="02020603050405020304" pitchFamily="18" charset="0"/>
                <a:ea typeface="宋体" panose="02010600030101010101" pitchFamily="2" charset="-122"/>
                <a:cs typeface="Times New Roman (正文 CS 字体)"/>
              </a:rPr>
              <a:t>应用实例，并定义了统一的接口路径</a:t>
            </a:r>
            <a:r>
              <a:rPr lang="en-US" altLang="zh-CN" sz="1800" kern="100" dirty="0">
                <a:effectLst/>
                <a:latin typeface="Times New Roman" panose="02020603050405020304" pitchFamily="18" charset="0"/>
                <a:ea typeface="宋体" panose="02010600030101010101" pitchFamily="2" charset="-122"/>
                <a:cs typeface="Times New Roman (正文 CS 字体)"/>
              </a:rPr>
              <a:t> /rag</a:t>
            </a:r>
            <a:r>
              <a:rPr lang="zh-CN" altLang="zh-CN" sz="1800" kern="100" dirty="0">
                <a:effectLst/>
                <a:latin typeface="Times New Roman" panose="02020603050405020304" pitchFamily="18" charset="0"/>
                <a:ea typeface="宋体" panose="02010600030101010101" pitchFamily="2" charset="-122"/>
                <a:cs typeface="Times New Roman (正文 CS 字体)"/>
              </a:rPr>
              <a:t>，用于接收前端或外部传入的用户查询（</a:t>
            </a:r>
            <a:r>
              <a:rPr lang="en-US" altLang="zh-CN" sz="1800" kern="100" dirty="0">
                <a:effectLst/>
                <a:latin typeface="Times New Roman" panose="02020603050405020304" pitchFamily="18" charset="0"/>
                <a:ea typeface="宋体" panose="02010600030101010101" pitchFamily="2" charset="-122"/>
                <a:cs typeface="Times New Roman (正文 CS 字体)"/>
              </a:rPr>
              <a:t>question</a:t>
            </a:r>
            <a:r>
              <a:rPr lang="zh-CN" altLang="zh-CN" sz="1800" kern="100" dirty="0">
                <a:effectLst/>
                <a:latin typeface="Times New Roman" panose="02020603050405020304" pitchFamily="18" charset="0"/>
                <a:ea typeface="宋体" panose="02010600030101010101" pitchFamily="2" charset="-122"/>
                <a:cs typeface="Times New Roman (正文 CS 字体)"/>
              </a:rPr>
              <a:t>）。在接口内部，系统首先调用</a:t>
            </a:r>
            <a:r>
              <a:rPr lang="en-US" altLang="zh-CN" sz="1800" kern="100" dirty="0">
                <a:effectLst/>
                <a:latin typeface="Times New Roman" panose="02020603050405020304" pitchFamily="18" charset="0"/>
                <a:ea typeface="宋体" panose="02010600030101010101" pitchFamily="2" charset="-122"/>
                <a:cs typeface="Times New Roman (正文 CS 字体)"/>
              </a:rPr>
              <a:t> </a:t>
            </a:r>
            <a:r>
              <a:rPr lang="en-US" altLang="zh-CN" sz="1800" kern="100" dirty="0" err="1">
                <a:effectLst/>
                <a:latin typeface="Times New Roman" panose="02020603050405020304" pitchFamily="18" charset="0"/>
                <a:ea typeface="宋体" panose="02010600030101010101" pitchFamily="2" charset="-122"/>
                <a:cs typeface="Times New Roman (正文 CS 字体)"/>
              </a:rPr>
              <a:t>RAGRetriever</a:t>
            </a:r>
            <a:r>
              <a:rPr lang="en-US" altLang="zh-CN" sz="1800" kern="100" dirty="0">
                <a:effectLst/>
                <a:latin typeface="Times New Roman" panose="02020603050405020304" pitchFamily="18" charset="0"/>
                <a:ea typeface="宋体" panose="02010600030101010101" pitchFamily="2" charset="-122"/>
                <a:cs typeface="Times New Roman (正文 CS 字体)"/>
              </a:rPr>
              <a:t> </a:t>
            </a:r>
            <a:r>
              <a:rPr lang="zh-CN" altLang="zh-CN" sz="1800" kern="100" dirty="0">
                <a:effectLst/>
                <a:latin typeface="Times New Roman" panose="02020603050405020304" pitchFamily="18" charset="0"/>
                <a:ea typeface="宋体" panose="02010600030101010101" pitchFamily="2" charset="-122"/>
                <a:cs typeface="Times New Roman (正文 CS 字体)"/>
              </a:rPr>
              <a:t>模块对用户问题进行向量化并检索相关文本；随后，将原始问题与检索结果一并传入</a:t>
            </a:r>
            <a:r>
              <a:rPr lang="en-US" altLang="zh-CN" sz="1800" kern="100" dirty="0" err="1">
                <a:effectLst/>
                <a:latin typeface="Times New Roman" panose="02020603050405020304" pitchFamily="18" charset="0"/>
                <a:ea typeface="宋体" panose="02010600030101010101" pitchFamily="2" charset="-122"/>
                <a:cs typeface="Times New Roman (正文 CS 字体)"/>
              </a:rPr>
              <a:t>RAGGenerator</a:t>
            </a:r>
            <a:r>
              <a:rPr lang="zh-CN" altLang="zh-CN" sz="1800" kern="100" dirty="0">
                <a:effectLst/>
                <a:latin typeface="Times New Roman" panose="02020603050405020304" pitchFamily="18" charset="0"/>
                <a:ea typeface="宋体" panose="02010600030101010101" pitchFamily="2" charset="-122"/>
                <a:cs typeface="Times New Roman (正文 CS 字体)"/>
              </a:rPr>
              <a:t>模块，由本地部署的大语言模型生成最终回答。</a:t>
            </a:r>
          </a:p>
        </p:txBody>
      </p:sp>
      <p:pic>
        <p:nvPicPr>
          <p:cNvPr id="2" name="图片 1" descr="文本&#10;&#10;描述已自动生成">
            <a:extLst>
              <a:ext uri="{FF2B5EF4-FFF2-40B4-BE49-F238E27FC236}">
                <a16:creationId xmlns:a16="http://schemas.microsoft.com/office/drawing/2014/main" id="{2630DE51-F3A9-FFCD-47F0-614CCC8ED737}"/>
              </a:ext>
            </a:extLst>
          </p:cNvPr>
          <p:cNvPicPr>
            <a:picLocks noChangeAspect="1"/>
          </p:cNvPicPr>
          <p:nvPr/>
        </p:nvPicPr>
        <p:blipFill>
          <a:blip r:embed="rId4"/>
          <a:stretch>
            <a:fillRect/>
          </a:stretch>
        </p:blipFill>
        <p:spPr>
          <a:xfrm>
            <a:off x="2123728" y="195486"/>
            <a:ext cx="5270500" cy="3053080"/>
          </a:xfrm>
          <a:prstGeom prst="rect">
            <a:avLst/>
          </a:prstGeom>
        </p:spPr>
      </p:pic>
    </p:spTree>
    <p:extLst>
      <p:ext uri="{BB962C8B-B14F-4D97-AF65-F5344CB8AC3E}">
        <p14:creationId xmlns:p14="http://schemas.microsoft.com/office/powerpoint/2010/main" val="356687426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400"/>
                            </p:stCondLst>
                            <p:childTnLst>
                              <p:par>
                                <p:cTn id="15" presetID="10" presetClass="entr" presetSubtype="0"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851670"/>
            <a:ext cx="3228536"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p>
        </p:txBody>
      </p:sp>
      <p:sp>
        <p:nvSpPr>
          <p:cNvPr id="3" name="文本框 2"/>
          <p:cNvSpPr txBox="1"/>
          <p:nvPr/>
        </p:nvSpPr>
        <p:spPr>
          <a:xfrm>
            <a:off x="1352697" y="2164797"/>
            <a:ext cx="1719060" cy="530915"/>
          </a:xfrm>
          <a:prstGeom prst="rect">
            <a:avLst/>
          </a:prstGeom>
          <a:noFill/>
        </p:spPr>
        <p:txBody>
          <a:bodyPr wrap="none" lIns="68580" tIns="34290" rIns="68580" bIns="34290" rtlCol="0">
            <a:spAutoFit/>
          </a:bodyPr>
          <a:lstStyle/>
          <a:p>
            <a:r>
              <a:rPr lang="zh-CN" altLang="en-US" sz="3000" b="1" dirty="0">
                <a:solidFill>
                  <a:schemeClr val="bg1"/>
                </a:solidFill>
                <a:latin typeface="DengXian" panose="02010600030101010101" pitchFamily="2" charset="-122"/>
                <a:ea typeface="DengXian" panose="02010600030101010101" pitchFamily="2" charset="-122"/>
              </a:rPr>
              <a:t>第六部分</a:t>
            </a:r>
          </a:p>
        </p:txBody>
      </p:sp>
      <p:sp>
        <p:nvSpPr>
          <p:cNvPr id="11" name="矩形 10"/>
          <p:cNvSpPr/>
          <p:nvPr/>
        </p:nvSpPr>
        <p:spPr>
          <a:xfrm>
            <a:off x="3302392" y="1851670"/>
            <a:ext cx="305972" cy="118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dirty="0"/>
          </a:p>
        </p:txBody>
      </p:sp>
      <p:sp>
        <p:nvSpPr>
          <p:cNvPr id="13" name="文本框 12"/>
          <p:cNvSpPr txBox="1"/>
          <p:nvPr/>
        </p:nvSpPr>
        <p:spPr>
          <a:xfrm>
            <a:off x="4358608" y="2087852"/>
            <a:ext cx="2190343" cy="684803"/>
          </a:xfrm>
          <a:prstGeom prst="rect">
            <a:avLst/>
          </a:prstGeom>
          <a:noFill/>
        </p:spPr>
        <p:txBody>
          <a:bodyPr wrap="none" lIns="68580" tIns="34290" rIns="68580" bIns="34290" rtlCol="0">
            <a:spAutoFit/>
          </a:bodyPr>
          <a:lstStyle/>
          <a:p>
            <a:r>
              <a:rPr lang="zh-CN" altLang="en-US" sz="4000" dirty="0">
                <a:solidFill>
                  <a:srgbClr val="112F70"/>
                </a:solidFill>
                <a:latin typeface="微软雅黑" pitchFamily="34" charset="-122"/>
                <a:ea typeface="微软雅黑" pitchFamily="34" charset="-122"/>
              </a:rPr>
              <a:t>模型展示</a:t>
            </a:r>
          </a:p>
        </p:txBody>
      </p:sp>
      <p:pic>
        <p:nvPicPr>
          <p:cNvPr id="4" name="图形 38">
            <a:extLst>
              <a:ext uri="{FF2B5EF4-FFF2-40B4-BE49-F238E27FC236}">
                <a16:creationId xmlns:a16="http://schemas.microsoft.com/office/drawing/2014/main" id="{2D76D2FC-3260-5514-FEB3-792503370882}"/>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t="30918" b="33627"/>
          <a:stretch>
            <a:fillRect/>
          </a:stretch>
        </p:blipFill>
        <p:spPr>
          <a:xfrm>
            <a:off x="0" y="123478"/>
            <a:ext cx="3092450" cy="822325"/>
          </a:xfrm>
          <a:prstGeom prst="rect">
            <a:avLst/>
          </a:prstGeom>
        </p:spPr>
      </p:pic>
      <p:sp>
        <p:nvSpPr>
          <p:cNvPr id="7" name="矩形 6">
            <a:extLst>
              <a:ext uri="{FF2B5EF4-FFF2-40B4-BE49-F238E27FC236}">
                <a16:creationId xmlns:a16="http://schemas.microsoft.com/office/drawing/2014/main" id="{5ABB84EB-EEE1-0E03-D93D-196D864637C7}"/>
              </a:ext>
            </a:extLst>
          </p:cNvPr>
          <p:cNvSpPr/>
          <p:nvPr/>
        </p:nvSpPr>
        <p:spPr>
          <a:xfrm>
            <a:off x="3554104" y="1854462"/>
            <a:ext cx="5589896" cy="1188000"/>
          </a:xfrm>
          <a:prstGeom prst="rect">
            <a:avLst/>
          </a:prstGeom>
          <a:solidFill>
            <a:schemeClr val="tx1">
              <a:lumMod val="50000"/>
              <a:lumOff val="50000"/>
              <a:alpha val="229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88427283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 presetClass="entr" presetSubtype="1" fill="hold" grpId="0" nodeType="withEffect">
                                  <p:stCondLst>
                                    <p:cond delay="30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400" fill="hold"/>
                                        <p:tgtEl>
                                          <p:spTgt spid="11"/>
                                        </p:tgtEl>
                                        <p:attrNameLst>
                                          <p:attrName>ppt_x</p:attrName>
                                        </p:attrNameLst>
                                      </p:cBhvr>
                                      <p:tavLst>
                                        <p:tav tm="0">
                                          <p:val>
                                            <p:strVal val="#ppt_x"/>
                                          </p:val>
                                        </p:tav>
                                        <p:tav tm="100000">
                                          <p:val>
                                            <p:strVal val="#ppt_x"/>
                                          </p:val>
                                        </p:tav>
                                      </p:tavLst>
                                    </p:anim>
                                    <p:anim calcmode="lin" valueType="num">
                                      <p:cBhvr additive="base">
                                        <p:cTn id="11" dur="4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索引构建</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模型展示</a:t>
            </a:r>
          </a:p>
        </p:txBody>
      </p:sp>
      <p:pic>
        <p:nvPicPr>
          <p:cNvPr id="5" name="图片 4">
            <a:extLst>
              <a:ext uri="{FF2B5EF4-FFF2-40B4-BE49-F238E27FC236}">
                <a16:creationId xmlns:a16="http://schemas.microsoft.com/office/drawing/2014/main" id="{B1E64358-6640-F7D6-171D-63339BFFB6B9}"/>
              </a:ext>
            </a:extLst>
          </p:cNvPr>
          <p:cNvPicPr>
            <a:picLocks noChangeAspect="1"/>
          </p:cNvPicPr>
          <p:nvPr/>
        </p:nvPicPr>
        <p:blipFill>
          <a:blip r:embed="rId4"/>
          <a:stretch>
            <a:fillRect/>
          </a:stretch>
        </p:blipFill>
        <p:spPr>
          <a:xfrm>
            <a:off x="120465" y="577453"/>
            <a:ext cx="4312709" cy="2737271"/>
          </a:xfrm>
          <a:prstGeom prst="rect">
            <a:avLst/>
          </a:prstGeom>
        </p:spPr>
      </p:pic>
      <p:pic>
        <p:nvPicPr>
          <p:cNvPr id="6" name="图片 5" descr="图形用户界面, 文本, 应用程序, 电子邮件&#10;&#10;描述已自动生成">
            <a:extLst>
              <a:ext uri="{FF2B5EF4-FFF2-40B4-BE49-F238E27FC236}">
                <a16:creationId xmlns:a16="http://schemas.microsoft.com/office/drawing/2014/main" id="{8DA897D9-FE4A-3D59-04DB-F9F75787B0F9}"/>
              </a:ext>
            </a:extLst>
          </p:cNvPr>
          <p:cNvPicPr>
            <a:picLocks noChangeAspect="1"/>
          </p:cNvPicPr>
          <p:nvPr/>
        </p:nvPicPr>
        <p:blipFill>
          <a:blip r:embed="rId5"/>
          <a:stretch>
            <a:fillRect/>
          </a:stretch>
        </p:blipFill>
        <p:spPr>
          <a:xfrm>
            <a:off x="4433174" y="684319"/>
            <a:ext cx="4459306" cy="2523537"/>
          </a:xfrm>
          <a:prstGeom prst="rect">
            <a:avLst/>
          </a:prstGeom>
        </p:spPr>
      </p:pic>
      <p:sp>
        <p:nvSpPr>
          <p:cNvPr id="9" name="文本框 8">
            <a:extLst>
              <a:ext uri="{FF2B5EF4-FFF2-40B4-BE49-F238E27FC236}">
                <a16:creationId xmlns:a16="http://schemas.microsoft.com/office/drawing/2014/main" id="{D245733B-4523-02B9-D2E8-2E1411AA86C1}"/>
              </a:ext>
            </a:extLst>
          </p:cNvPr>
          <p:cNvSpPr txBox="1"/>
          <p:nvPr/>
        </p:nvSpPr>
        <p:spPr>
          <a:xfrm>
            <a:off x="467544" y="3314724"/>
            <a:ext cx="3368167" cy="1169551"/>
          </a:xfrm>
          <a:prstGeom prst="rect">
            <a:avLst/>
          </a:prstGeom>
          <a:noFill/>
        </p:spPr>
        <p:txBody>
          <a:bodyPr wrap="square" rtlCol="0">
            <a:spAutoFit/>
          </a:bodyPr>
          <a:lstStyle/>
          <a:p>
            <a:r>
              <a:rPr lang="zh-CN" altLang="en-US" sz="1400" dirty="0">
                <a:latin typeface="+mn-ea"/>
                <a:cs typeface="Times New Roman" panose="02020603050405020304" pitchFamily="18" charset="0"/>
              </a:rPr>
              <a:t>左图（未增强）</a:t>
            </a:r>
            <a:r>
              <a:rPr lang="zh-CN" altLang="zh-CN" sz="1400" dirty="0">
                <a:effectLst/>
                <a:latin typeface="+mn-ea"/>
                <a:cs typeface="Times New Roman" panose="02020603050405020304" pitchFamily="18" charset="0"/>
              </a:rPr>
              <a:t>由于缺乏专业语料支撑，模型给出的回复较为空泛，仅停留在表层推测，仅能泛泛而谈“建议检查”或“联系维修”，缺乏层次与逻辑支撑，实用性不强。</a:t>
            </a:r>
            <a:r>
              <a:rPr lang="zh-CN" altLang="zh-CN" sz="1400" dirty="0">
                <a:effectLst/>
                <a:latin typeface="+mn-ea"/>
              </a:rPr>
              <a:t> </a:t>
            </a:r>
            <a:endParaRPr kumimoji="1" lang="zh-CN" altLang="en-US" sz="1400" dirty="0">
              <a:latin typeface="+mn-ea"/>
            </a:endParaRPr>
          </a:p>
        </p:txBody>
      </p:sp>
      <p:sp>
        <p:nvSpPr>
          <p:cNvPr id="10" name="文本框 9">
            <a:extLst>
              <a:ext uri="{FF2B5EF4-FFF2-40B4-BE49-F238E27FC236}">
                <a16:creationId xmlns:a16="http://schemas.microsoft.com/office/drawing/2014/main" id="{B8A504C0-903B-2521-AFBE-4A35357FC634}"/>
              </a:ext>
            </a:extLst>
          </p:cNvPr>
          <p:cNvSpPr txBox="1"/>
          <p:nvPr/>
        </p:nvSpPr>
        <p:spPr>
          <a:xfrm>
            <a:off x="4582652" y="3314724"/>
            <a:ext cx="4309828" cy="1169551"/>
          </a:xfrm>
          <a:prstGeom prst="rect">
            <a:avLst/>
          </a:prstGeom>
          <a:noFill/>
        </p:spPr>
        <p:txBody>
          <a:bodyPr wrap="square" rtlCol="0">
            <a:spAutoFit/>
          </a:bodyPr>
          <a:lstStyle/>
          <a:p>
            <a:r>
              <a:rPr lang="zh-CN" altLang="en-US" sz="1400" dirty="0">
                <a:latin typeface="+mn-ea"/>
                <a:cs typeface="Times New Roman" panose="02020603050405020304" pitchFamily="18" charset="0"/>
              </a:rPr>
              <a:t>右图</a:t>
            </a:r>
            <a:r>
              <a:rPr lang="zh-CN" altLang="zh-CN" sz="1400" dirty="0">
                <a:effectLst/>
                <a:latin typeface="+mn-ea"/>
                <a:cs typeface="Times New Roman" panose="02020603050405020304" pitchFamily="18" charset="0"/>
              </a:rPr>
              <a:t>增强后的回复展现出更强的专业性与条理性，能够详细分析故障可能原因，包括电压异常、信号中断等多种诊断线索，并结合实操流程建议“测量供电电压”“检查信号输入通道”，逻辑清晰、针对性强，显著提升了模型实用性。</a:t>
            </a:r>
            <a:r>
              <a:rPr lang="zh-CN" altLang="zh-CN" sz="1400" dirty="0">
                <a:effectLst/>
                <a:latin typeface="+mn-ea"/>
              </a:rPr>
              <a:t> </a:t>
            </a:r>
            <a:endParaRPr kumimoji="1" lang="zh-CN" altLang="en-US" sz="1400" dirty="0">
              <a:latin typeface="+mn-ea"/>
            </a:endParaRPr>
          </a:p>
        </p:txBody>
      </p:sp>
    </p:spTree>
    <p:extLst>
      <p:ext uri="{BB962C8B-B14F-4D97-AF65-F5344CB8AC3E}">
        <p14:creationId xmlns:p14="http://schemas.microsoft.com/office/powerpoint/2010/main" val="302225251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400"/>
                            </p:stCondLst>
                            <p:childTnLst>
                              <p:par>
                                <p:cTn id="15" presetID="10" presetClass="entr" presetSubtype="0"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索引构建</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模型展示</a:t>
            </a:r>
          </a:p>
        </p:txBody>
      </p:sp>
      <p:sp>
        <p:nvSpPr>
          <p:cNvPr id="10" name="文本框 9">
            <a:extLst>
              <a:ext uri="{FF2B5EF4-FFF2-40B4-BE49-F238E27FC236}">
                <a16:creationId xmlns:a16="http://schemas.microsoft.com/office/drawing/2014/main" id="{B8A504C0-903B-2521-AFBE-4A35357FC634}"/>
              </a:ext>
            </a:extLst>
          </p:cNvPr>
          <p:cNvSpPr txBox="1"/>
          <p:nvPr/>
        </p:nvSpPr>
        <p:spPr>
          <a:xfrm>
            <a:off x="1835696" y="3867894"/>
            <a:ext cx="5616624" cy="738664"/>
          </a:xfrm>
          <a:prstGeom prst="rect">
            <a:avLst/>
          </a:prstGeom>
          <a:noFill/>
        </p:spPr>
        <p:txBody>
          <a:bodyPr wrap="square" rtlCol="0">
            <a:spAutoFit/>
          </a:bodyPr>
          <a:lstStyle/>
          <a:p>
            <a:r>
              <a:rPr lang="zh-CN" altLang="zh-CN" sz="1400" dirty="0">
                <a:effectLst/>
                <a:latin typeface="+mn-ea"/>
                <a:cs typeface="Times New Roman" panose="02020603050405020304" pitchFamily="18" charset="0"/>
              </a:rPr>
              <a:t>模型可能出现了过拟合（</a:t>
            </a:r>
            <a:r>
              <a:rPr lang="en-US" altLang="zh-CN" sz="1400" dirty="0">
                <a:effectLst/>
                <a:latin typeface="+mn-ea"/>
              </a:rPr>
              <a:t>Overfitting</a:t>
            </a:r>
            <a:r>
              <a:rPr lang="zh-CN" altLang="zh-CN" sz="1400" dirty="0">
                <a:effectLst/>
                <a:latin typeface="+mn-ea"/>
                <a:cs typeface="Times New Roman" panose="02020603050405020304" pitchFamily="18" charset="0"/>
              </a:rPr>
              <a:t>）的问题。出现了大量口语化、情绪化或冗余性较强的表达，如“这就意味着我们还需要更加细致入微的眼光来审视那些隐藏起来的小细节才行啦</a:t>
            </a:r>
            <a:r>
              <a:rPr lang="en-US" altLang="zh-CN" sz="1400" dirty="0">
                <a:effectLst/>
                <a:latin typeface="+mn-ea"/>
              </a:rPr>
              <a:t>~</a:t>
            </a:r>
            <a:r>
              <a:rPr lang="zh-CN" altLang="zh-CN" sz="1400" dirty="0">
                <a:effectLst/>
                <a:latin typeface="+mn-ea"/>
                <a:cs typeface="Times New Roman" panose="02020603050405020304" pitchFamily="18" charset="0"/>
              </a:rPr>
              <a:t>”</a:t>
            </a:r>
            <a:r>
              <a:rPr lang="zh-CN" altLang="zh-CN" sz="1400" dirty="0">
                <a:effectLst/>
                <a:latin typeface="+mn-ea"/>
              </a:rPr>
              <a:t> </a:t>
            </a:r>
            <a:endParaRPr kumimoji="1" lang="zh-CN" altLang="en-US" sz="1400" dirty="0">
              <a:latin typeface="+mn-ea"/>
            </a:endParaRPr>
          </a:p>
        </p:txBody>
      </p:sp>
      <p:pic>
        <p:nvPicPr>
          <p:cNvPr id="2" name="图片 1" descr="图形用户界面, 文本, 应用程序, 电子邮件&#10;&#10;描述已自动生成">
            <a:extLst>
              <a:ext uri="{FF2B5EF4-FFF2-40B4-BE49-F238E27FC236}">
                <a16:creationId xmlns:a16="http://schemas.microsoft.com/office/drawing/2014/main" id="{3B3BE28C-D534-0694-9DC6-0F801E9EA6F9}"/>
              </a:ext>
            </a:extLst>
          </p:cNvPr>
          <p:cNvPicPr>
            <a:picLocks noChangeAspect="1"/>
          </p:cNvPicPr>
          <p:nvPr/>
        </p:nvPicPr>
        <p:blipFill>
          <a:blip r:embed="rId4"/>
          <a:stretch>
            <a:fillRect/>
          </a:stretch>
        </p:blipFill>
        <p:spPr>
          <a:xfrm>
            <a:off x="1115616" y="639996"/>
            <a:ext cx="6487080" cy="3105201"/>
          </a:xfrm>
          <a:prstGeom prst="rect">
            <a:avLst/>
          </a:prstGeom>
        </p:spPr>
      </p:pic>
    </p:spTree>
    <p:extLst>
      <p:ext uri="{BB962C8B-B14F-4D97-AF65-F5344CB8AC3E}">
        <p14:creationId xmlns:p14="http://schemas.microsoft.com/office/powerpoint/2010/main" val="29587014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400"/>
                            </p:stCondLst>
                            <p:childTnLst>
                              <p:par>
                                <p:cTn id="15" presetID="10" presetClass="entr" presetSubtype="0"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95486"/>
            <a:ext cx="87739"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4" name="矩形 3"/>
          <p:cNvSpPr/>
          <p:nvPr/>
        </p:nvSpPr>
        <p:spPr>
          <a:xfrm>
            <a:off x="211110" y="195486"/>
            <a:ext cx="71871" cy="347688"/>
          </a:xfrm>
          <a:prstGeom prst="rect">
            <a:avLst/>
          </a:prstGeom>
          <a:solidFill>
            <a:srgbClr val="112F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
        <p:nvSpPr>
          <p:cNvPr id="8" name="TextBox 4"/>
          <p:cNvSpPr txBox="1"/>
          <p:nvPr/>
        </p:nvSpPr>
        <p:spPr>
          <a:xfrm>
            <a:off x="195243" y="2130806"/>
            <a:ext cx="2448272" cy="400110"/>
          </a:xfrm>
          <a:prstGeom prst="rect">
            <a:avLst/>
          </a:prstGeom>
          <a:noFill/>
        </p:spPr>
        <p:txBody>
          <a:bodyPr wrap="square" rtlCol="0">
            <a:spAutoFit/>
          </a:bodyPr>
          <a:lstStyle/>
          <a:p>
            <a:r>
              <a:rPr lang="zh-CN" altLang="en-US" sz="2000" b="1" dirty="0">
                <a:solidFill>
                  <a:schemeClr val="bg1"/>
                </a:solidFill>
                <a:latin typeface="微软雅黑" pitchFamily="34" charset="-122"/>
                <a:ea typeface="微软雅黑" pitchFamily="34" charset="-122"/>
              </a:rPr>
              <a:t>索引构建</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298" y="133399"/>
            <a:ext cx="1028723" cy="819549"/>
          </a:xfrm>
          <a:prstGeom prst="rect">
            <a:avLst/>
          </a:prstGeom>
        </p:spPr>
      </p:pic>
      <p:sp>
        <p:nvSpPr>
          <p:cNvPr id="24" name="文本框 23">
            <a:extLst>
              <a:ext uri="{FF2B5EF4-FFF2-40B4-BE49-F238E27FC236}">
                <a16:creationId xmlns:a16="http://schemas.microsoft.com/office/drawing/2014/main" id="{C9EA4468-242F-150E-97C6-0B79F4213AF0}"/>
              </a:ext>
            </a:extLst>
          </p:cNvPr>
          <p:cNvSpPr txBox="1"/>
          <p:nvPr/>
        </p:nvSpPr>
        <p:spPr>
          <a:xfrm>
            <a:off x="251520" y="195486"/>
            <a:ext cx="2216337" cy="363946"/>
          </a:xfrm>
          <a:prstGeom prst="rect">
            <a:avLst/>
          </a:prstGeom>
          <a:noFill/>
        </p:spPr>
        <p:txBody>
          <a:bodyPr wrap="square" rtlCol="0">
            <a:spAutoFit/>
          </a:bodyPr>
          <a:lstStyle/>
          <a:p>
            <a:r>
              <a:rPr lang="zh-CN" altLang="en-US" sz="1765" b="1" dirty="0">
                <a:solidFill>
                  <a:srgbClr val="112F70"/>
                </a:solidFill>
                <a:latin typeface="微软雅黑" charset="0"/>
                <a:ea typeface="微软雅黑" charset="0"/>
                <a:sym typeface="+mn-ea"/>
              </a:rPr>
              <a:t>模型展示</a:t>
            </a:r>
          </a:p>
        </p:txBody>
      </p:sp>
      <p:sp>
        <p:nvSpPr>
          <p:cNvPr id="9" name="文本框 8">
            <a:extLst>
              <a:ext uri="{FF2B5EF4-FFF2-40B4-BE49-F238E27FC236}">
                <a16:creationId xmlns:a16="http://schemas.microsoft.com/office/drawing/2014/main" id="{D245733B-4523-02B9-D2E8-2E1411AA86C1}"/>
              </a:ext>
            </a:extLst>
          </p:cNvPr>
          <p:cNvSpPr txBox="1"/>
          <p:nvPr/>
        </p:nvSpPr>
        <p:spPr>
          <a:xfrm>
            <a:off x="467544" y="3314724"/>
            <a:ext cx="3368167" cy="307777"/>
          </a:xfrm>
          <a:prstGeom prst="rect">
            <a:avLst/>
          </a:prstGeom>
          <a:noFill/>
        </p:spPr>
        <p:txBody>
          <a:bodyPr wrap="square" rtlCol="0">
            <a:spAutoFit/>
          </a:bodyPr>
          <a:lstStyle/>
          <a:p>
            <a:endParaRPr kumimoji="1" lang="zh-CN" altLang="en-US" sz="1400" dirty="0">
              <a:latin typeface="+mn-ea"/>
            </a:endParaRPr>
          </a:p>
        </p:txBody>
      </p:sp>
      <p:sp>
        <p:nvSpPr>
          <p:cNvPr id="10" name="文本框 9">
            <a:extLst>
              <a:ext uri="{FF2B5EF4-FFF2-40B4-BE49-F238E27FC236}">
                <a16:creationId xmlns:a16="http://schemas.microsoft.com/office/drawing/2014/main" id="{B8A504C0-903B-2521-AFBE-4A35357FC634}"/>
              </a:ext>
            </a:extLst>
          </p:cNvPr>
          <p:cNvSpPr txBox="1"/>
          <p:nvPr/>
        </p:nvSpPr>
        <p:spPr>
          <a:xfrm>
            <a:off x="1419378" y="559432"/>
            <a:ext cx="6856577" cy="3915303"/>
          </a:xfrm>
          <a:prstGeom prst="rect">
            <a:avLst/>
          </a:prstGeom>
          <a:noFill/>
        </p:spPr>
        <p:txBody>
          <a:bodyPr wrap="square" rtlCol="0">
            <a:spAutoFit/>
          </a:bodyPr>
          <a:lstStyle/>
          <a:p>
            <a:pPr indent="304800">
              <a:lnSpc>
                <a:spcPts val="2000"/>
              </a:lnSpc>
            </a:pPr>
            <a:r>
              <a:rPr lang="zh-CN" altLang="zh-CN" sz="1400" kern="100" dirty="0">
                <a:effectLst/>
                <a:latin typeface="Times New Roman" panose="02020603050405020304" pitchFamily="18" charset="0"/>
                <a:ea typeface="宋体" panose="02010600030101010101" pitchFamily="2" charset="-122"/>
                <a:cs typeface="Times New Roman (正文 CS 字体)"/>
              </a:rPr>
              <a:t>为缓解模型的过拟合风险，并进一步提升其生成质量与泛化能力，可从以下几个方面进行优化调整。</a:t>
            </a:r>
          </a:p>
          <a:p>
            <a:pPr indent="266700">
              <a:lnSpc>
                <a:spcPts val="2000"/>
              </a:lnSpc>
            </a:pPr>
            <a:r>
              <a:rPr lang="en-US" altLang="zh-CN" sz="1400" kern="100" dirty="0">
                <a:effectLst/>
                <a:latin typeface="Times New Roman" panose="02020603050405020304" pitchFamily="18" charset="0"/>
                <a:ea typeface="宋体" panose="02010600030101010101" pitchFamily="2" charset="-122"/>
                <a:cs typeface="Times New Roman (正文 CS 字体)"/>
              </a:rPr>
              <a:t>1.</a:t>
            </a:r>
            <a:r>
              <a:rPr lang="zh-CN" altLang="zh-CN" sz="1400" kern="100" dirty="0">
                <a:effectLst/>
                <a:latin typeface="Times New Roman" panose="02020603050405020304" pitchFamily="18" charset="0"/>
                <a:ea typeface="宋体" panose="02010600030101010101" pitchFamily="2" charset="-122"/>
                <a:cs typeface="Times New Roman (正文 CS 字体)"/>
              </a:rPr>
              <a:t>继续扩充语料规模，采集更多来源丰富、表达多样的维修知识问答数据，尤其要覆盖不同设备类型、常见问题描述和处理流程，以增强模型对实际业务语境的适应能力。</a:t>
            </a:r>
          </a:p>
          <a:p>
            <a:pPr indent="304800">
              <a:lnSpc>
                <a:spcPts val="2000"/>
              </a:lnSpc>
            </a:pPr>
            <a:r>
              <a:rPr lang="en-US" altLang="zh-CN" sz="1400" kern="100" dirty="0">
                <a:effectLst/>
                <a:latin typeface="Times New Roman" panose="02020603050405020304" pitchFamily="18" charset="0"/>
                <a:ea typeface="宋体" panose="02010600030101010101" pitchFamily="2" charset="-122"/>
                <a:cs typeface="Times New Roman (正文 CS 字体)"/>
              </a:rPr>
              <a:t>2.</a:t>
            </a:r>
            <a:r>
              <a:rPr lang="zh-CN" altLang="zh-CN" sz="1400" kern="100" dirty="0">
                <a:effectLst/>
                <a:latin typeface="Times New Roman" panose="02020603050405020304" pitchFamily="18" charset="0"/>
                <a:ea typeface="宋体" panose="02010600030101010101" pitchFamily="2" charset="-122"/>
                <a:cs typeface="Times New Roman (正文 CS 字体)"/>
              </a:rPr>
              <a:t>在数据清洗过程中应注意保留风格多样的表达形式。虽然适度去除口语化噪声有助于提升语言质量，但若保留语料结构过于统一，可能会强化模型对某种模板的依赖。因此，保留如步骤说明、简洁指令、术语解释等不同类型的文本表达，有助于引导模型学习更广泛的生成风格。</a:t>
            </a:r>
          </a:p>
          <a:p>
            <a:pPr indent="304800">
              <a:lnSpc>
                <a:spcPts val="2000"/>
              </a:lnSpc>
            </a:pPr>
            <a:r>
              <a:rPr lang="en-US" altLang="zh-CN" sz="1400" kern="100" dirty="0">
                <a:effectLst/>
                <a:latin typeface="Times New Roman" panose="02020603050405020304" pitchFamily="18" charset="0"/>
                <a:ea typeface="宋体" panose="02010600030101010101" pitchFamily="2" charset="-122"/>
                <a:cs typeface="Times New Roman (正文 CS 字体)"/>
              </a:rPr>
              <a:t>3.</a:t>
            </a:r>
            <a:r>
              <a:rPr lang="zh-CN" altLang="zh-CN" sz="1400" kern="100" dirty="0">
                <a:effectLst/>
                <a:latin typeface="Times New Roman" panose="02020603050405020304" pitchFamily="18" charset="0"/>
                <a:ea typeface="宋体" panose="02010600030101010101" pitchFamily="2" charset="-122"/>
                <a:cs typeface="Times New Roman (正文 CS 字体)"/>
              </a:rPr>
              <a:t>在模型训练层面，可考虑引入正则化机制，通过控制学习率、提升</a:t>
            </a:r>
            <a:r>
              <a:rPr lang="en-US" altLang="zh-CN" sz="1400" kern="100" dirty="0">
                <a:effectLst/>
                <a:latin typeface="Times New Roman" panose="02020603050405020304" pitchFamily="18" charset="0"/>
                <a:ea typeface="宋体" panose="02010600030101010101" pitchFamily="2" charset="-122"/>
                <a:cs typeface="Times New Roman (正文 CS 字体)"/>
              </a:rPr>
              <a:t>Dropout</a:t>
            </a:r>
            <a:r>
              <a:rPr lang="zh-CN" altLang="zh-CN" sz="1400" kern="100" dirty="0">
                <a:effectLst/>
                <a:latin typeface="Times New Roman" panose="02020603050405020304" pitchFamily="18" charset="0"/>
                <a:ea typeface="宋体" panose="02010600030101010101" pitchFamily="2" charset="-122"/>
                <a:cs typeface="Times New Roman (正文 CS 字体)"/>
              </a:rPr>
              <a:t>比例等方式减弱模型对特定样本的记忆能力，从而避免因样本量小而导致的过度拟合现象。</a:t>
            </a:r>
          </a:p>
          <a:p>
            <a:pPr indent="304800">
              <a:lnSpc>
                <a:spcPts val="2000"/>
              </a:lnSpc>
            </a:pPr>
            <a:r>
              <a:rPr lang="en-US" altLang="zh-CN" sz="1400" kern="100" dirty="0">
                <a:effectLst/>
                <a:latin typeface="Times New Roman" panose="02020603050405020304" pitchFamily="18" charset="0"/>
                <a:ea typeface="宋体" panose="02010600030101010101" pitchFamily="2" charset="-122"/>
                <a:cs typeface="Times New Roman (正文 CS 字体)"/>
              </a:rPr>
              <a:t>4.</a:t>
            </a:r>
            <a:r>
              <a:rPr lang="zh-CN" altLang="zh-CN" sz="1400" kern="100" dirty="0">
                <a:effectLst/>
                <a:latin typeface="Times New Roman" panose="02020603050405020304" pitchFamily="18" charset="0"/>
                <a:ea typeface="宋体" panose="02010600030101010101" pitchFamily="2" charset="-122"/>
                <a:cs typeface="Times New Roman (正文 CS 字体)"/>
              </a:rPr>
              <a:t>可以采用参数高效的微调策略，例如使用</a:t>
            </a:r>
            <a:r>
              <a:rPr lang="en-US" altLang="zh-CN" sz="1400" kern="100" dirty="0" err="1">
                <a:effectLst/>
                <a:latin typeface="Times New Roman" panose="02020603050405020304" pitchFamily="18" charset="0"/>
                <a:ea typeface="宋体" panose="02010600030101010101" pitchFamily="2" charset="-122"/>
                <a:cs typeface="Times New Roman (正文 CS 字体)"/>
              </a:rPr>
              <a:t>LoRA</a:t>
            </a:r>
            <a:r>
              <a:rPr lang="zh-CN" altLang="zh-CN" sz="1400" kern="100" dirty="0">
                <a:effectLst/>
                <a:latin typeface="Times New Roman" panose="02020603050405020304" pitchFamily="18" charset="0"/>
                <a:ea typeface="宋体" panose="02010600030101010101" pitchFamily="2" charset="-122"/>
                <a:cs typeface="Times New Roman (正文 CS 字体)"/>
              </a:rPr>
              <a:t>等方法，仅调整小部分权重，在保留预训练模型泛化能力的基础上进行任务适配，减少因全量微调带来的过拟合风险。</a:t>
            </a:r>
          </a:p>
          <a:p>
            <a:pPr indent="304800">
              <a:lnSpc>
                <a:spcPts val="2000"/>
              </a:lnSpc>
            </a:pPr>
            <a:r>
              <a:rPr lang="en-US" altLang="zh-CN" sz="1400" kern="100" dirty="0">
                <a:effectLst/>
                <a:latin typeface="Times New Roman" panose="02020603050405020304" pitchFamily="18" charset="0"/>
                <a:ea typeface="宋体" panose="02010600030101010101" pitchFamily="2" charset="-122"/>
                <a:cs typeface="Times New Roman (正文 CS 字体)"/>
              </a:rPr>
              <a:t>5.</a:t>
            </a:r>
            <a:r>
              <a:rPr lang="zh-CN" altLang="zh-CN" sz="1400" kern="100" dirty="0">
                <a:effectLst/>
                <a:latin typeface="Times New Roman" panose="02020603050405020304" pitchFamily="18" charset="0"/>
                <a:ea typeface="宋体" panose="02010600030101010101" pitchFamily="2" charset="-122"/>
                <a:cs typeface="Times New Roman (正文 CS 字体)"/>
              </a:rPr>
              <a:t>设计多轮、多样化的评估样例，用以验证模型在非训练模板下的实际表现。这种方式不仅可以判断模型是否过拟合，还能为后续语料优化提供反馈支持。</a:t>
            </a:r>
          </a:p>
        </p:txBody>
      </p:sp>
    </p:spTree>
    <p:extLst>
      <p:ext uri="{BB962C8B-B14F-4D97-AF65-F5344CB8AC3E}">
        <p14:creationId xmlns:p14="http://schemas.microsoft.com/office/powerpoint/2010/main" val="382832985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 fill="hold"/>
                                        <p:tgtEl>
                                          <p:spTgt spid="3"/>
                                        </p:tgtEl>
                                        <p:attrNameLst>
                                          <p:attrName>ppt_x</p:attrName>
                                        </p:attrNameLst>
                                      </p:cBhvr>
                                      <p:tavLst>
                                        <p:tav tm="0">
                                          <p:val>
                                            <p:strVal val="0-#ppt_w/2"/>
                                          </p:val>
                                        </p:tav>
                                        <p:tav tm="100000">
                                          <p:val>
                                            <p:strVal val="#ppt_x"/>
                                          </p:val>
                                        </p:tav>
                                      </p:tavLst>
                                    </p:anim>
                                    <p:anim calcmode="lin" valueType="num">
                                      <p:cBhvr additive="base">
                                        <p:cTn id="8" dur="2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00" fill="hold"/>
                                        <p:tgtEl>
                                          <p:spTgt spid="4"/>
                                        </p:tgtEl>
                                        <p:attrNameLst>
                                          <p:attrName>ppt_x</p:attrName>
                                        </p:attrNameLst>
                                      </p:cBhvr>
                                      <p:tavLst>
                                        <p:tav tm="0">
                                          <p:val>
                                            <p:strVal val="0-#ppt_w/2"/>
                                          </p:val>
                                        </p:tav>
                                        <p:tav tm="100000">
                                          <p:val>
                                            <p:strVal val="#ppt_x"/>
                                          </p:val>
                                        </p:tav>
                                      </p:tavLst>
                                    </p:anim>
                                    <p:anim calcmode="lin" valueType="num">
                                      <p:cBhvr additive="base">
                                        <p:cTn id="13" dur="2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400"/>
                            </p:stCondLst>
                            <p:childTnLst>
                              <p:par>
                                <p:cTn id="15" presetID="10" presetClass="entr" presetSubtype="0"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49F46C4-988A-5ABC-92DC-0CFCB8A12FCA}"/>
              </a:ext>
            </a:extLst>
          </p:cNvPr>
          <p:cNvSpPr/>
          <p:nvPr/>
        </p:nvSpPr>
        <p:spPr>
          <a:xfrm>
            <a:off x="-21906" y="1546846"/>
            <a:ext cx="6754146" cy="15289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2" name="图形 38">
            <a:extLst>
              <a:ext uri="{FF2B5EF4-FFF2-40B4-BE49-F238E27FC236}">
                <a16:creationId xmlns:a16="http://schemas.microsoft.com/office/drawing/2014/main" id="{D14196BD-033B-588C-7798-7CB07B73D9F1}"/>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t="30918" b="33627"/>
          <a:stretch>
            <a:fillRect/>
          </a:stretch>
        </p:blipFill>
        <p:spPr>
          <a:xfrm>
            <a:off x="0" y="123478"/>
            <a:ext cx="3092450" cy="822325"/>
          </a:xfrm>
          <a:prstGeom prst="rect">
            <a:avLst/>
          </a:prstGeom>
        </p:spPr>
      </p:pic>
      <p:sp>
        <p:nvSpPr>
          <p:cNvPr id="4" name="文本框 3">
            <a:extLst>
              <a:ext uri="{FF2B5EF4-FFF2-40B4-BE49-F238E27FC236}">
                <a16:creationId xmlns:a16="http://schemas.microsoft.com/office/drawing/2014/main" id="{75D785ED-581B-BB43-FD69-25674BB3F700}"/>
              </a:ext>
            </a:extLst>
          </p:cNvPr>
          <p:cNvSpPr txBox="1"/>
          <p:nvPr/>
        </p:nvSpPr>
        <p:spPr>
          <a:xfrm>
            <a:off x="4211960" y="1999702"/>
            <a:ext cx="9361040" cy="623248"/>
          </a:xfrm>
          <a:prstGeom prst="rect">
            <a:avLst/>
          </a:prstGeom>
          <a:noFill/>
        </p:spPr>
        <p:txBody>
          <a:bodyPr wrap="square" lIns="68580" tIns="34290" rIns="68580" bIns="34290" rtlCol="0">
            <a:spAutoFit/>
          </a:bodyPr>
          <a:lstStyle/>
          <a:p>
            <a:r>
              <a:rPr lang="zh-CN" altLang="en-US" sz="3600" dirty="0">
                <a:solidFill>
                  <a:schemeClr val="bg1"/>
                </a:solidFill>
                <a:latin typeface="DengXian Light" panose="02010600030101010101" pitchFamily="2" charset="-122"/>
                <a:ea typeface="DengXian Light" panose="02010600030101010101" pitchFamily="2" charset="-122"/>
              </a:rPr>
              <a:t>谢谢大家！</a:t>
            </a:r>
          </a:p>
        </p:txBody>
      </p:sp>
      <p:sp>
        <p:nvSpPr>
          <p:cNvPr id="5" name="TextBox 25">
            <a:extLst>
              <a:ext uri="{FF2B5EF4-FFF2-40B4-BE49-F238E27FC236}">
                <a16:creationId xmlns:a16="http://schemas.microsoft.com/office/drawing/2014/main" id="{40EF35CA-7B04-78A4-2C27-7963BCD84D7E}"/>
              </a:ext>
            </a:extLst>
          </p:cNvPr>
          <p:cNvSpPr>
            <a:spLocks noChangeArrowheads="1"/>
          </p:cNvSpPr>
          <p:nvPr/>
        </p:nvSpPr>
        <p:spPr bwMode="auto">
          <a:xfrm>
            <a:off x="5093804" y="3366958"/>
            <a:ext cx="446449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dirty="0">
                <a:solidFill>
                  <a:srgbClr val="112F70"/>
                </a:solidFill>
                <a:latin typeface="DengXian Light" panose="02010600030101010101" pitchFamily="2" charset="-122"/>
                <a:ea typeface="DengXian Light" panose="02010600030101010101" pitchFamily="2" charset="-122"/>
              </a:rPr>
              <a:t>汇报人：何默其</a:t>
            </a:r>
            <a:endParaRPr lang="en-US" altLang="zh-CN" dirty="0">
              <a:solidFill>
                <a:srgbClr val="112F70"/>
              </a:solidFill>
              <a:latin typeface="DengXian Light" panose="02010600030101010101" pitchFamily="2" charset="-122"/>
              <a:ea typeface="DengXian Light" panose="02010600030101010101" pitchFamily="2" charset="-122"/>
            </a:endParaRPr>
          </a:p>
          <a:p>
            <a:r>
              <a:rPr lang="zh-CN" altLang="en-US" dirty="0">
                <a:solidFill>
                  <a:srgbClr val="112F70"/>
                </a:solidFill>
                <a:latin typeface="DengXian Light" panose="02010600030101010101" pitchFamily="2" charset="-122"/>
                <a:ea typeface="DengXian Light" panose="02010600030101010101" pitchFamily="2" charset="-122"/>
              </a:rPr>
              <a:t>学    号：</a:t>
            </a:r>
            <a:r>
              <a:rPr lang="en-US" altLang="zh-CN" dirty="0">
                <a:solidFill>
                  <a:srgbClr val="112F70"/>
                </a:solidFill>
                <a:latin typeface="DengXian Light" panose="02010600030101010101" pitchFamily="2" charset="-122"/>
                <a:ea typeface="DengXian Light" panose="02010600030101010101" pitchFamily="2" charset="-122"/>
              </a:rPr>
              <a:t>24120569</a:t>
            </a:r>
            <a:endParaRPr lang="en-US" altLang="zh-CN" sz="4000" dirty="0">
              <a:solidFill>
                <a:srgbClr val="112F70"/>
              </a:solidFill>
              <a:latin typeface="DengXian Light" panose="02010600030101010101" pitchFamily="2" charset="-122"/>
              <a:ea typeface="DengXian Light" panose="02010600030101010101" pitchFamily="2" charset="-122"/>
            </a:endParaRPr>
          </a:p>
        </p:txBody>
      </p:sp>
      <p:sp>
        <p:nvSpPr>
          <p:cNvPr id="8" name="矩形 7">
            <a:extLst>
              <a:ext uri="{FF2B5EF4-FFF2-40B4-BE49-F238E27FC236}">
                <a16:creationId xmlns:a16="http://schemas.microsoft.com/office/drawing/2014/main" id="{E36DB8A2-1DDC-2B47-D547-7739A041EE10}"/>
              </a:ext>
            </a:extLst>
          </p:cNvPr>
          <p:cNvSpPr/>
          <p:nvPr/>
        </p:nvSpPr>
        <p:spPr>
          <a:xfrm>
            <a:off x="4679504" y="3338513"/>
            <a:ext cx="4464496" cy="623248"/>
          </a:xfrm>
          <a:prstGeom prst="rect">
            <a:avLst/>
          </a:prstGeom>
          <a:solidFill>
            <a:schemeClr val="tx1">
              <a:lumMod val="50000"/>
              <a:lumOff val="50000"/>
              <a:alpha val="229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67620357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
                                        </p:tgtEl>
                                      </p:cBhvr>
                                    </p:animEffect>
                                  </p:childTnLst>
                                </p:cTn>
                              </p:par>
                            </p:childTnLst>
                          </p:cTn>
                        </p:par>
                        <p:par>
                          <p:cTn id="12" fill="hold">
                            <p:stCondLst>
                              <p:cond delay="7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毕业论文答辩PPT.p"/>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2115</Words>
  <Application>Microsoft Macintosh PowerPoint</Application>
  <PresentationFormat>全屏显示(16:9)</PresentationFormat>
  <Paragraphs>160</Paragraphs>
  <Slides>26</Slides>
  <Notes>24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26</vt:i4>
      </vt:variant>
    </vt:vector>
  </HeadingPairs>
  <TitlesOfParts>
    <vt:vector size="36" baseType="lpstr">
      <vt:lpstr>DengXian</vt:lpstr>
      <vt:lpstr>DengXian Light</vt:lpstr>
      <vt:lpstr>Microsoft YaHei</vt:lpstr>
      <vt:lpstr>Microsoft YaHei</vt:lpstr>
      <vt:lpstr>Microsoft YaHei Light</vt:lpstr>
      <vt:lpstr>Arial</vt:lpstr>
      <vt:lpstr>Calibri</vt:lpstr>
      <vt:lpstr>Segoe UI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毕业论文答辩PPT.p</dc:title>
  <dc:creator/>
  <cp:lastModifiedBy>allenpandas</cp:lastModifiedBy>
  <cp:revision>5</cp:revision>
  <dcterms:created xsi:type="dcterms:W3CDTF">2022-12-17T06:45:44Z</dcterms:created>
  <dcterms:modified xsi:type="dcterms:W3CDTF">2025-06-29T04:01:48Z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71FFC675FFB736B55C659D637B726366</vt:lpwstr>
  </property>
  <property fmtid="{D5CDD505-2E9C-101B-9397-08002B2CF9AE}" pid="3" name="KSOProductBuildVer">
    <vt:lpwstr>2052-5.1.1.7676</vt:lpwstr>
  </property>
</Properties>
</file>